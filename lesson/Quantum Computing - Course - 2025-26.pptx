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8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9" r:id="rId2"/>
    <p:sldId id="264" r:id="rId3"/>
    <p:sldId id="298" r:id="rId4"/>
    <p:sldId id="299" r:id="rId5"/>
    <p:sldId id="304" r:id="rId6"/>
    <p:sldId id="308" r:id="rId7"/>
    <p:sldId id="310" r:id="rId8"/>
    <p:sldId id="301" r:id="rId9"/>
    <p:sldId id="302" r:id="rId10"/>
    <p:sldId id="318" r:id="rId11"/>
    <p:sldId id="311" r:id="rId12"/>
    <p:sldId id="359" r:id="rId13"/>
    <p:sldId id="322" r:id="rId14"/>
    <p:sldId id="325" r:id="rId15"/>
    <p:sldId id="327" r:id="rId16"/>
    <p:sldId id="328" r:id="rId17"/>
    <p:sldId id="330" r:id="rId18"/>
    <p:sldId id="331" r:id="rId19"/>
    <p:sldId id="368" r:id="rId20"/>
    <p:sldId id="329" r:id="rId21"/>
    <p:sldId id="333" r:id="rId22"/>
    <p:sldId id="332" r:id="rId23"/>
    <p:sldId id="352" r:id="rId24"/>
    <p:sldId id="334" r:id="rId25"/>
    <p:sldId id="336" r:id="rId26"/>
    <p:sldId id="339" r:id="rId27"/>
    <p:sldId id="369" r:id="rId28"/>
    <p:sldId id="379" r:id="rId29"/>
    <p:sldId id="256" r:id="rId30"/>
    <p:sldId id="377" r:id="rId31"/>
    <p:sldId id="378" r:id="rId32"/>
    <p:sldId id="372" r:id="rId33"/>
    <p:sldId id="373" r:id="rId34"/>
    <p:sldId id="266" r:id="rId35"/>
    <p:sldId id="276" r:id="rId36"/>
    <p:sldId id="287" r:id="rId37"/>
    <p:sldId id="277" r:id="rId38"/>
    <p:sldId id="357" r:id="rId39"/>
    <p:sldId id="335" r:id="rId40"/>
    <p:sldId id="362" r:id="rId41"/>
    <p:sldId id="354" r:id="rId42"/>
    <p:sldId id="319" r:id="rId43"/>
    <p:sldId id="356" r:id="rId44"/>
    <p:sldId id="342" r:id="rId45"/>
    <p:sldId id="343" r:id="rId46"/>
    <p:sldId id="341" r:id="rId47"/>
    <p:sldId id="344" r:id="rId48"/>
    <p:sldId id="347" r:id="rId49"/>
    <p:sldId id="346" r:id="rId50"/>
    <p:sldId id="345" r:id="rId51"/>
    <p:sldId id="349" r:id="rId52"/>
    <p:sldId id="350" r:id="rId53"/>
    <p:sldId id="348" r:id="rId54"/>
    <p:sldId id="361" r:id="rId55"/>
    <p:sldId id="355" r:id="rId56"/>
    <p:sldId id="312" r:id="rId57"/>
    <p:sldId id="313" r:id="rId58"/>
    <p:sldId id="317" r:id="rId59"/>
    <p:sldId id="314" r:id="rId60"/>
    <p:sldId id="353" r:id="rId61"/>
    <p:sldId id="351" r:id="rId6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C1"/>
    <a:srgbClr val="FFFFFF"/>
    <a:srgbClr val="002060"/>
    <a:srgbClr val="E127D4"/>
    <a:srgbClr val="2943DF"/>
    <a:srgbClr val="4472C4"/>
    <a:srgbClr val="000000"/>
    <a:srgbClr val="109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7707" autoAdjust="0"/>
  </p:normalViewPr>
  <p:slideViewPr>
    <p:cSldViewPr snapToGrid="0" showGuides="1">
      <p:cViewPr varScale="1">
        <p:scale>
          <a:sx n="66" d="100"/>
          <a:sy n="66" d="100"/>
        </p:scale>
        <p:origin x="1709" y="26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2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29D86-317A-4DEE-A176-7C8D4858C8A5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7D003-1A53-4382-87BB-216A7F5F8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71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2857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0089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3913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5704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3557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3755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0328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4175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1249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2882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7389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Gate a singolo </a:t>
            </a:r>
            <a:r>
              <a:rPr lang="it-IT" dirty="0" err="1"/>
              <a:t>qubit</a:t>
            </a:r>
            <a:endParaRPr lang="it-IT" dirty="0"/>
          </a:p>
          <a:p>
            <a:r>
              <a:rPr lang="it-IT" dirty="0"/>
              <a:t>Le matrici di Pauli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2927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gate di </a:t>
            </a:r>
            <a:r>
              <a:rPr lang="it-IT" dirty="0" err="1"/>
              <a:t>Hadamard</a:t>
            </a:r>
            <a:r>
              <a:rPr lang="it-IT" dirty="0"/>
              <a:t>, fondamentale per la creazione degli stati </a:t>
            </a:r>
            <a:r>
              <a:rPr lang="it-IT" dirty="0" err="1"/>
              <a:t>entangled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2589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Gate che coinvolgono due o potenzialmente più </a:t>
            </a:r>
            <a:r>
              <a:rPr lang="it-IT" dirty="0" err="1"/>
              <a:t>qubit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1163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5239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Provare a costruire uno stato </a:t>
            </a:r>
            <a:r>
              <a:rPr lang="it-IT" dirty="0" err="1"/>
              <a:t>entangled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2749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9584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Analisi del protocollo di teletrasporto quantistico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2522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EDA3-111A-2015-4C22-6C5315DD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5C26A6E-51AC-2E53-15BA-044310AF1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F81C420-CE7B-29E6-2C47-68E9795E0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dirty="0">
              <a:solidFill>
                <a:srgbClr val="3366CC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0A953FD-CBED-7C2A-72BD-2E3F02F07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36614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8704D-DB0D-FCC5-184A-EA5D8A08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61E2A5-69E7-87CA-C60B-681F69D24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615CBE6-47BF-8AFC-645D-D8341B289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AE53A4-18AC-D1A0-BC4B-FC6379939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6213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00533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dirty="0">
              <a:solidFill>
                <a:srgbClr val="3366CC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56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12528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58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05249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59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64470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7D003-1A53-4382-87BB-216A7F5F8010}" type="slidenum">
              <a:rPr lang="it-IT" smtClean="0"/>
              <a:t>61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1266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FF46BD-BCFA-415A-8B86-800B31A5F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7A4C227-57E3-4D04-8470-19EFECE8A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EF0C94-75B4-4472-BD97-1E60B975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AF20231-E372-4672-BD15-9F30DD5BD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CA2DFF-7727-4FFD-8535-46E79849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08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2FE9B3-8B5B-4AA0-98BC-97E6901E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5F5629-7F5F-433B-ACB5-09CDBE5A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0276AE-6126-4332-93F9-898F5730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A1812E-9B6A-42C6-B414-1319888B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4C7943-2341-4BCE-BC0A-69E39A62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599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8E4D8C-55F0-465E-A36D-4066AACB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BD67F9D-80E4-4793-8EE5-418C47686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D28579-0841-4B08-9822-FB232807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76B1F6-7C50-4E0D-8350-8F18ED8C7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63E5D8-B6A4-430B-B96B-6EDB6AF8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754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784C23-BD13-46C7-9E4E-AAC094BE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D295B4-0294-4F6A-ACB5-E31901F9C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F3E596C-77A9-43FF-AE6D-141DE97CC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B03E59E-DC1B-4209-B32F-5701E12F3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93548A-77EC-49DB-B97B-93B0BFC8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AD6DE9A-29C4-4CAC-9463-A18B8DEF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448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852660-29D3-4F20-86EF-85F85F49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A373D8-A7AE-489F-A051-E19A3A52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47990E-6623-47A7-8ADC-211AA41B0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D7D70BA-AC93-4BBA-A077-A377BA5ED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5D89742-E54E-4461-940B-DE7D3269D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3DDAF5C-EBEB-4D2B-A672-A6EF4513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3D18FA7-60D5-43A4-8D5C-198CDF9E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B8BA0A-C61A-4927-A31B-E25CC7500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428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9E5E56-0D2C-4565-82E8-B6B6B62A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14948D4-0552-426A-9F50-DBDCD072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7999D21-F06A-471D-90D6-300B38A6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A9D9E1F-3FFC-4506-8F10-AF93480F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425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28341DB-E813-4816-9BB1-CB5789B0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D063AEF-0E34-4A8B-9241-8F6D2C01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5EC1D92-C2EF-4404-9EEA-1E5DF357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49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2BA9F8-83FA-45DE-B564-43A501D1E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8E7862-5265-48D3-BADC-EF8ADB195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E426A2F-C0A5-4FF8-B470-F23BCAC03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9199EDF-F9AE-46D1-BC41-8CBE7B9D8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FB0608-4E77-405B-835E-F6649405C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2B1B622-CA94-4826-96DC-A5ACC442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63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3B9EF0-4CB2-46A5-8546-08C898FF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D376F27-4EC0-4526-A3DF-18EE8A5EF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C65D8C1-BC98-4D9B-9ACE-29F05A9CF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DFA0919-618C-489F-A9D7-5590F991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A24380-63C1-4076-8DA6-7A553A13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EBCF58-902F-4E7B-A343-7D0B7087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840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24F1E3-20C6-43BF-9F33-63D480E7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7B2A0C-CF04-45D8-A1D3-1A3A73172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9FDDF3-9CFB-43F8-B76B-FD968637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2158D3-9AB2-483A-B866-540D75E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35DF79-4822-4A75-9881-16ABA329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275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6860BF0-22E7-43BE-BA53-275E8FD2A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7681A66-A894-49A0-AAE5-D3B54AB1F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D34702F-A1B0-4BC3-8A43-E509A12F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1B36BC-7704-42AC-8D08-ABC666EB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F04BBF-D335-44FE-A12F-8CF755DB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60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795C8F3-EFF7-41A7-9F00-88CCCD9D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4371020-45E0-45D8-9FCE-01B89116A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4A0CA8-695F-46CE-A460-111F7D251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062CB-D4E4-4B0C-91DA-32E9ADED18FE}" type="datetimeFigureOut">
              <a:rPr lang="it-IT" smtClean="0"/>
              <a:t>06/01/2026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A58FBF-42D8-45C7-92BF-368829F5C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03ECFA-5D1B-4A2C-B5D7-1F34538A3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A8F7B-8BE7-49E4-9CFB-F9F9973826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81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quantum-computing.ibm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qt.eu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urve.mit.edu/ask-an-mit-professor-why-your-business-should-build-a-quantum-ready-workforce-now?_hsmi=247032312&amp;_hsenc=p2ANqtz-8RE1K4PIJ8zBj5agmCIGLCgv_i43VcqWlWK8iV2u2f-imnTk5KDai67VkFrzUdOKh2-5Dg8lTaVKmq9r6u5_Xwpfj2lO9iSzyck62DIpqSRONtQg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centure.com/us-en/case-studies/technology/quantum-computing-in-financial-services" TargetMode="External"/><Relationship Id="rId2" Type="http://schemas.openxmlformats.org/officeDocument/2006/relationships/hyperlink" Target="https://learn-xpro.mit.edu/quantum-computing?utm_medium=ppc&amp;utm_source=google&amp;utm_campaign=qcx&amp;utm_term=mit%20xpro%20quantum%20computing&amp;utm_content=aw-a&amp;utm_term=mit%20xpro%20quantum%20computing&amp;utm_campaign=Quantum+Computing+Program+-+xPRO+-+A+-+AW+Lead+Gen+-+Run+14+-+2T2023+NEW&amp;utm_source=adwords&amp;utm_medium=ppc&amp;hsa_acc=2285614976&amp;hsa_cam=19681427239&amp;hsa_grp=146240837659&amp;hsa_ad=647908863273&amp;hsa_src=g&amp;hsa_tgt=kwd-651076518902&amp;hsa_kw=mit%20xpro%20quantum%20computing&amp;hsa_mt=e&amp;hsa_net=adwords&amp;hsa_ver=3&amp;gclid=CjwKCAiAjPyfBhBMEiwAB2CCIq1FvgCcCNJ1KQnQR5hC_Dlm13mcYJv0zxCWeXbIU4_U5NYnpHd6lxoCzPYQAvD_Bw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roup.intesasanpaolo.com/en/newsroom/press-releases/2022/05/-intesa-sanpaolo-invests-in-quantum-computing-with-neva-sgr-and-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tags" Target="../tags/tag6.xml"/><Relationship Id="rId21" Type="http://schemas.openxmlformats.org/officeDocument/2006/relationships/image" Target="../media/image22.png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tags" Target="../tags/tag5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image" Target="../media/image25.png"/><Relationship Id="rId5" Type="http://schemas.openxmlformats.org/officeDocument/2006/relationships/tags" Target="../tags/tag8.xml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tags" Target="../tags/tag13.xml"/><Relationship Id="rId19" Type="http://schemas.openxmlformats.org/officeDocument/2006/relationships/image" Target="../media/image20.png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notesSlide" Target="../notesSlides/notesSlide12.xml"/><Relationship Id="rId22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13" Type="http://schemas.openxmlformats.org/officeDocument/2006/relationships/image" Target="../media/image32.png"/><Relationship Id="rId3" Type="http://schemas.openxmlformats.org/officeDocument/2006/relationships/tags" Target="../tags/tag1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0.png"/><Relationship Id="rId5" Type="http://schemas.openxmlformats.org/officeDocument/2006/relationships/tags" Target="../tags/tag20.xml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tags" Target="../tags/tag19.xml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" Type="http://schemas.openxmlformats.org/officeDocument/2006/relationships/tags" Target="../tags/tag24.xml"/><Relationship Id="rId21" Type="http://schemas.openxmlformats.org/officeDocument/2006/relationships/image" Target="../media/image41.png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2" Type="http://schemas.openxmlformats.org/officeDocument/2006/relationships/tags" Target="../tags/tag23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image" Target="../media/image44.png"/><Relationship Id="rId5" Type="http://schemas.openxmlformats.org/officeDocument/2006/relationships/tags" Target="../tags/tag26.xml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tags" Target="../tags/tag31.xml"/><Relationship Id="rId19" Type="http://schemas.openxmlformats.org/officeDocument/2006/relationships/image" Target="../media/image39.png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14.xml"/><Relationship Id="rId22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quantum-computing.ibm.com/composer/files/new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uantum.ibm.com/guide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4.png"/><Relationship Id="rId5" Type="http://schemas.openxmlformats.org/officeDocument/2006/relationships/image" Target="../media/image47.png"/><Relationship Id="rId4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47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hyperlink" Target="https://www.esa.int/Enabling_Support/Space_Engineering_Technology/ESA_observatory_breaks_world_quantum_teleportation_record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qiskit.org/textbook/ch-algorithms/teleportation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hyperlink" Target="https://ujjwalkarn.me/2016/08/11/intuitive-explanation-convnets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adamharley.com/nn_vis/cnn/2d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ennylane.ai/qml/demos/tutorial_quanvolution.html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pennylane.ai/qml/demos/tutorial_quanvolution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tags" Target="../tags/tag41.xml"/><Relationship Id="rId7" Type="http://schemas.openxmlformats.org/officeDocument/2006/relationships/image" Target="../media/image67.png"/><Relationship Id="rId12" Type="http://schemas.openxmlformats.org/officeDocument/2006/relationships/image" Target="../media/image72.jpe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71.png"/><Relationship Id="rId5" Type="http://schemas.openxmlformats.org/officeDocument/2006/relationships/tags" Target="../tags/tag43.xml"/><Relationship Id="rId10" Type="http://schemas.openxmlformats.org/officeDocument/2006/relationships/image" Target="../media/image70.png"/><Relationship Id="rId4" Type="http://schemas.openxmlformats.org/officeDocument/2006/relationships/tags" Target="../tags/tag42.xml"/><Relationship Id="rId9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76.png"/><Relationship Id="rId3" Type="http://schemas.openxmlformats.org/officeDocument/2006/relationships/tags" Target="../tags/tag46.xml"/><Relationship Id="rId21" Type="http://schemas.openxmlformats.org/officeDocument/2006/relationships/image" Target="../media/image79.png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image" Target="../media/image75.png"/><Relationship Id="rId25" Type="http://schemas.openxmlformats.org/officeDocument/2006/relationships/image" Target="../media/image36.png"/><Relationship Id="rId2" Type="http://schemas.openxmlformats.org/officeDocument/2006/relationships/tags" Target="../tags/tag45.xml"/><Relationship Id="rId16" Type="http://schemas.openxmlformats.org/officeDocument/2006/relationships/image" Target="../media/image37.png"/><Relationship Id="rId20" Type="http://schemas.openxmlformats.org/officeDocument/2006/relationships/image" Target="../media/image78.png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24" Type="http://schemas.openxmlformats.org/officeDocument/2006/relationships/image" Target="../media/image82.png"/><Relationship Id="rId5" Type="http://schemas.openxmlformats.org/officeDocument/2006/relationships/tags" Target="../tags/tag48.xml"/><Relationship Id="rId15" Type="http://schemas.openxmlformats.org/officeDocument/2006/relationships/image" Target="../media/image74.png"/><Relationship Id="rId23" Type="http://schemas.openxmlformats.org/officeDocument/2006/relationships/image" Target="../media/image81.png"/><Relationship Id="rId10" Type="http://schemas.openxmlformats.org/officeDocument/2006/relationships/tags" Target="../tags/tag53.xml"/><Relationship Id="rId19" Type="http://schemas.openxmlformats.org/officeDocument/2006/relationships/image" Target="../media/image77.png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image" Target="../media/image73.png"/><Relationship Id="rId22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hyperlink" Target="https://qiskit.org/textbook/ch-algorithms/deutsch-jozsa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image" Target="../media/image85.png"/><Relationship Id="rId18" Type="http://schemas.openxmlformats.org/officeDocument/2006/relationships/image" Target="../media/image90.jpeg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tags" Target="../tags/tag57.xml"/><Relationship Id="rId16" Type="http://schemas.openxmlformats.org/officeDocument/2006/relationships/image" Target="../media/image88.png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83.png"/><Relationship Id="rId5" Type="http://schemas.openxmlformats.org/officeDocument/2006/relationships/tags" Target="../tags/tag60.xml"/><Relationship Id="rId15" Type="http://schemas.openxmlformats.org/officeDocument/2006/relationships/image" Target="../media/image87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91.png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image" Target="../media/image8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tags" Target="../tags/tag67.xml"/><Relationship Id="rId7" Type="http://schemas.openxmlformats.org/officeDocument/2006/relationships/image" Target="../media/image92.png"/><Relationship Id="rId12" Type="http://schemas.openxmlformats.org/officeDocument/2006/relationships/image" Target="../media/image97.jpe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96.png"/><Relationship Id="rId5" Type="http://schemas.openxmlformats.org/officeDocument/2006/relationships/tags" Target="../tags/tag69.xml"/><Relationship Id="rId10" Type="http://schemas.openxmlformats.org/officeDocument/2006/relationships/image" Target="../media/image95.png"/><Relationship Id="rId4" Type="http://schemas.openxmlformats.org/officeDocument/2006/relationships/tags" Target="../tags/tag68.xml"/><Relationship Id="rId9" Type="http://schemas.openxmlformats.org/officeDocument/2006/relationships/image" Target="../media/image9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hyperlink" Target="https://qiskit.org/textbook/ch-algorithms/grover.html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03.wmf"/><Relationship Id="rId3" Type="http://schemas.openxmlformats.org/officeDocument/2006/relationships/image" Target="../media/image98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7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oleObject" Target="../embeddings/oleObject13.bin"/><Relationship Id="rId3" Type="http://schemas.openxmlformats.org/officeDocument/2006/relationships/image" Target="../media/image105.png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9.wmf"/><Relationship Id="rId1" Type="http://schemas.openxmlformats.org/officeDocument/2006/relationships/tags" Target="../tags/tag70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08.wmf"/><Relationship Id="rId5" Type="http://schemas.openxmlformats.org/officeDocument/2006/relationships/image" Target="../media/image103.wmf"/><Relationship Id="rId15" Type="http://schemas.openxmlformats.org/officeDocument/2006/relationships/oleObject" Target="../embeddings/oleObject14.bin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7.wmf"/><Relationship Id="rId14" Type="http://schemas.openxmlformats.org/officeDocument/2006/relationships/image" Target="../media/image104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104.wmf"/><Relationship Id="rId3" Type="http://schemas.openxmlformats.org/officeDocument/2006/relationships/image" Target="../media/image103.wmf"/><Relationship Id="rId21" Type="http://schemas.openxmlformats.org/officeDocument/2006/relationships/image" Target="../media/image114.wmf"/><Relationship Id="rId7" Type="http://schemas.openxmlformats.org/officeDocument/2006/relationships/image" Target="../media/image111.wmf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23.bin"/><Relationship Id="rId2" Type="http://schemas.openxmlformats.org/officeDocument/2006/relationships/oleObject" Target="../embeddings/oleObject15.bin"/><Relationship Id="rId16" Type="http://schemas.openxmlformats.org/officeDocument/2006/relationships/image" Target="../media/image113.wmf"/><Relationship Id="rId20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110.wmf"/><Relationship Id="rId15" Type="http://schemas.openxmlformats.org/officeDocument/2006/relationships/oleObject" Target="../embeddings/oleObject22.bin"/><Relationship Id="rId10" Type="http://schemas.openxmlformats.org/officeDocument/2006/relationships/oleObject" Target="../embeddings/oleObject19.bin"/><Relationship Id="rId19" Type="http://schemas.openxmlformats.org/officeDocument/2006/relationships/oleObject" Target="../embeddings/oleObject24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12.wmf"/><Relationship Id="rId14" Type="http://schemas.openxmlformats.org/officeDocument/2006/relationships/image" Target="../media/image109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hyperlink" Target="https://github.com/Qiskit/textbook/blob/main/notebooks/ch-algorithms/quantum-phase-estimation.ipynb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hyperlink" Target="https://arxiv.org/pdf/quant-ph/0010034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hyperlink" Target="https://github.com/Qiskit/textbook/blob/main/notebooks/ch-algorithms/shor.ipynb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SA_(cryptosystem)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5.09749.pdf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monitor.ai/author/ryanmorrison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echmonitor.ai/hardware/quantum-encryption-rsa-cryptography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-49163"/>
            <a:ext cx="12192000" cy="342900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29455" cy="2648239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Quantum Computing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 Industry Perspective</a:t>
            </a:r>
            <a:endParaRPr lang="it-IT" sz="4000" dirty="0">
              <a:solidFill>
                <a:schemeClr val="bg1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7799E9-0962-4771-8B35-3E1D57794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991" y="3794126"/>
            <a:ext cx="10952018" cy="25235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563C1"/>
                </a:solidFill>
              </a:rPr>
              <a:t>Roberto Cappuccio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563C1"/>
                </a:solidFill>
              </a:rPr>
              <a:t>Istituto</a:t>
            </a:r>
            <a:r>
              <a:rPr lang="en-US" dirty="0">
                <a:solidFill>
                  <a:srgbClr val="0563C1"/>
                </a:solidFill>
              </a:rPr>
              <a:t> Nazionale di </a:t>
            </a:r>
            <a:r>
              <a:rPr lang="en-US" dirty="0" err="1">
                <a:solidFill>
                  <a:srgbClr val="0563C1"/>
                </a:solidFill>
              </a:rPr>
              <a:t>Fisica</a:t>
            </a:r>
            <a:r>
              <a:rPr lang="en-US" dirty="0">
                <a:solidFill>
                  <a:srgbClr val="0563C1"/>
                </a:solidFill>
              </a:rPr>
              <a:t> </a:t>
            </a:r>
            <a:r>
              <a:rPr lang="en-US" dirty="0" err="1">
                <a:solidFill>
                  <a:srgbClr val="0563C1"/>
                </a:solidFill>
              </a:rPr>
              <a:t>Nucleare</a:t>
            </a:r>
            <a:r>
              <a:rPr lang="en-US" dirty="0">
                <a:solidFill>
                  <a:srgbClr val="0563C1"/>
                </a:solidFill>
              </a:rPr>
              <a:t> - Pisa</a:t>
            </a:r>
          </a:p>
          <a:p>
            <a:pPr marL="0" indent="0" algn="ctr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73454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Computer: </a:t>
            </a:r>
            <a:r>
              <a:rPr lang="it-IT" sz="3600" dirty="0" err="1">
                <a:solidFill>
                  <a:schemeClr val="bg1"/>
                </a:solidFill>
              </a:rPr>
              <a:t>what’s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that</a:t>
            </a:r>
            <a:r>
              <a:rPr lang="it-IT" sz="3600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70DDC0DF-73CF-CF4A-A8D7-AB2D5767F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324" y="1364050"/>
            <a:ext cx="9593048" cy="537632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168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Computer: </a:t>
            </a:r>
            <a:r>
              <a:rPr lang="it-IT" sz="3600" dirty="0" err="1">
                <a:solidFill>
                  <a:schemeClr val="bg1"/>
                </a:solidFill>
              </a:rPr>
              <a:t>what’s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that</a:t>
            </a:r>
            <a:r>
              <a:rPr lang="it-IT" sz="3600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4" name="Immagine 3" descr="Immagine che contiene testo, persona&#10;&#10;Descrizione generata automaticamente">
            <a:extLst>
              <a:ext uri="{FF2B5EF4-FFF2-40B4-BE49-F238E27FC236}">
                <a16:creationId xmlns:a16="http://schemas.microsoft.com/office/drawing/2014/main" id="{50390464-0813-2512-2540-ECEBDAE12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516" y="1359153"/>
            <a:ext cx="9611659" cy="537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19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Computer: </a:t>
            </a:r>
            <a:r>
              <a:rPr lang="it-IT" sz="3600" dirty="0" err="1">
                <a:solidFill>
                  <a:schemeClr val="bg1"/>
                </a:solidFill>
              </a:rPr>
              <a:t>what’s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that</a:t>
            </a:r>
            <a:r>
              <a:rPr lang="it-IT" sz="3600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4" name="Immagine 3" descr="Immagine che contiene testo, interni&#10;&#10;Descrizione generata automaticamente">
            <a:extLst>
              <a:ext uri="{FF2B5EF4-FFF2-40B4-BE49-F238E27FC236}">
                <a16:creationId xmlns:a16="http://schemas.microsoft.com/office/drawing/2014/main" id="{34961776-CFE5-D09C-EC8A-F4EFBDE7C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158" y="1428460"/>
            <a:ext cx="9609684" cy="536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65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Computer: </a:t>
            </a:r>
            <a:r>
              <a:rPr lang="it-IT" sz="3600" dirty="0" err="1">
                <a:solidFill>
                  <a:schemeClr val="bg1"/>
                </a:solidFill>
              </a:rPr>
              <a:t>what’s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that</a:t>
            </a:r>
            <a:r>
              <a:rPr lang="it-IT" sz="3600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8F158AB-F9B2-E36F-8ABC-15B67D4BD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88" y="1362512"/>
            <a:ext cx="10930269" cy="537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38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IBM Resource Dashboard	</a:t>
            </a: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A3C83B44-549D-17BC-3C91-C5B59ACBC80B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A606A33D-5BFB-C564-BF1A-634E5A75F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Dashboard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Rettangolo smussato 9">
              <a:extLst>
                <a:ext uri="{FF2B5EF4-FFF2-40B4-BE49-F238E27FC236}">
                  <a16:creationId xmlns:a16="http://schemas.microsoft.com/office/drawing/2014/main" id="{A177B386-BAE3-6AD4-ED97-2A82D1BBEC6B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420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European Quantum Flagship</a:t>
            </a:r>
            <a:endParaRPr lang="it-IT" sz="3600" dirty="0">
              <a:solidFill>
                <a:schemeClr val="bg1"/>
              </a:solidFill>
            </a:endParaRPr>
          </a:p>
        </p:txBody>
      </p:sp>
      <p:pic>
        <p:nvPicPr>
          <p:cNvPr id="8" name="Immagine 7">
            <a:hlinkClick r:id="rId3"/>
            <a:extLst>
              <a:ext uri="{FF2B5EF4-FFF2-40B4-BE49-F238E27FC236}">
                <a16:creationId xmlns:a16="http://schemas.microsoft.com/office/drawing/2014/main" id="{F8BEA218-DE66-3BAE-C08E-439ACC757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934736"/>
            <a:ext cx="10515600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56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Why</a:t>
            </a:r>
            <a:r>
              <a:rPr lang="it-IT" sz="3600" dirty="0">
                <a:solidFill>
                  <a:schemeClr val="bg1"/>
                </a:solidFill>
              </a:rPr>
              <a:t> Quantum?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76E18FC1-8EBB-3D00-77D0-6EB60B8EC521}"/>
              </a:ext>
            </a:extLst>
          </p:cNvPr>
          <p:cNvGrpSpPr/>
          <p:nvPr/>
        </p:nvGrpSpPr>
        <p:grpSpPr>
          <a:xfrm>
            <a:off x="592142" y="1375245"/>
            <a:ext cx="10983172" cy="5378252"/>
            <a:chOff x="592142" y="1375245"/>
            <a:chExt cx="10983172" cy="5378252"/>
          </a:xfrm>
        </p:grpSpPr>
        <p:pic>
          <p:nvPicPr>
            <p:cNvPr id="8" name="Immagine 7" descr="Immagine che contiene testo, persona, uomo&#10;&#10;Descrizione generata automaticamente">
              <a:extLst>
                <a:ext uri="{FF2B5EF4-FFF2-40B4-BE49-F238E27FC236}">
                  <a16:creationId xmlns:a16="http://schemas.microsoft.com/office/drawing/2014/main" id="{01EABE72-9FDF-FE4C-401D-34268A626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142" y="1375245"/>
              <a:ext cx="4361696" cy="5344532"/>
            </a:xfrm>
            <a:prstGeom prst="rect">
              <a:avLst/>
            </a:prstGeom>
          </p:spPr>
        </p:pic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A753FE6A-7688-F3D7-75FD-003D26104EB6}"/>
                </a:ext>
              </a:extLst>
            </p:cNvPr>
            <p:cNvSpPr/>
            <p:nvPr/>
          </p:nvSpPr>
          <p:spPr>
            <a:xfrm>
              <a:off x="4953837" y="1375245"/>
              <a:ext cx="6621477" cy="5378252"/>
            </a:xfrm>
            <a:prstGeom prst="rect">
              <a:avLst/>
            </a:prstGeom>
            <a:solidFill>
              <a:srgbClr val="000000"/>
            </a:solidFill>
          </p:spPr>
          <p:txBody>
            <a:bodyPr lIns="0" tIns="0" rIns="0" bIns="0">
              <a:noAutofit/>
            </a:bodyPr>
            <a:lstStyle/>
            <a:p>
              <a:pPr indent="0">
                <a:lnSpc>
                  <a:spcPct val="115000"/>
                </a:lnSpc>
              </a:pPr>
              <a:endParaRPr lang="en-US" sz="1400" dirty="0">
                <a:solidFill>
                  <a:srgbClr val="F4F4F4"/>
                </a:solidFill>
                <a:latin typeface="Arial"/>
              </a:endParaRP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0A8709C8-3897-14AE-04D5-9BBB429C9DBE}"/>
                </a:ext>
              </a:extLst>
            </p:cNvPr>
            <p:cNvSpPr txBox="1"/>
            <p:nvPr/>
          </p:nvSpPr>
          <p:spPr>
            <a:xfrm>
              <a:off x="5310961" y="1520456"/>
              <a:ext cx="5087679" cy="4604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15000"/>
                </a:lnSpc>
              </a:pPr>
              <a:r>
                <a:rPr lang="en-US" sz="2400" dirty="0">
                  <a:solidFill>
                    <a:srgbClr val="F4F4F4"/>
                  </a:solidFill>
                  <a:latin typeface="Arial"/>
                </a:rPr>
                <a:t>“I'm not happy with all the analyses that go with just the classical theory, because nature isn't</a:t>
              </a:r>
            </a:p>
            <a:p>
              <a:pPr indent="0">
                <a:lnSpc>
                  <a:spcPct val="115000"/>
                </a:lnSpc>
              </a:pPr>
              <a:r>
                <a:rPr lang="en-US" sz="2400" dirty="0">
                  <a:solidFill>
                    <a:srgbClr val="F4F4F4"/>
                  </a:solidFill>
                  <a:latin typeface="Arial"/>
                </a:rPr>
                <a:t>classical, dammit, and if you want</a:t>
              </a:r>
            </a:p>
            <a:p>
              <a:pPr indent="0">
                <a:lnSpc>
                  <a:spcPct val="115000"/>
                </a:lnSpc>
              </a:pPr>
              <a:r>
                <a:rPr lang="en-US" sz="2400" dirty="0">
                  <a:solidFill>
                    <a:srgbClr val="F4F4F4"/>
                  </a:solidFill>
                  <a:latin typeface="Arial"/>
                </a:rPr>
                <a:t>to make a simulation of nature,</a:t>
              </a:r>
            </a:p>
            <a:p>
              <a:pPr indent="0">
                <a:lnSpc>
                  <a:spcPct val="115000"/>
                </a:lnSpc>
              </a:pPr>
              <a:r>
                <a:rPr lang="en-US" sz="2400" dirty="0">
                  <a:solidFill>
                    <a:srgbClr val="F4F4F4"/>
                  </a:solidFill>
                  <a:latin typeface="Arial"/>
                </a:rPr>
                <a:t>you'd better make it quantum</a:t>
              </a:r>
            </a:p>
            <a:p>
              <a:pPr indent="0">
                <a:lnSpc>
                  <a:spcPct val="115000"/>
                </a:lnSpc>
                <a:spcAft>
                  <a:spcPts val="1120"/>
                </a:spcAft>
              </a:pPr>
              <a:r>
                <a:rPr lang="en-US" sz="2400" dirty="0">
                  <a:solidFill>
                    <a:srgbClr val="F4F4F4"/>
                  </a:solidFill>
                  <a:latin typeface="Arial"/>
                </a:rPr>
                <a:t>mechanical ...”</a:t>
              </a:r>
            </a:p>
            <a:p>
              <a:pPr indent="0"/>
              <a:r>
                <a:rPr lang="en-US" sz="1600" dirty="0">
                  <a:solidFill>
                    <a:srgbClr val="F4F4F4"/>
                  </a:solidFill>
                  <a:latin typeface="Arial"/>
                </a:rPr>
                <a:t>Richard P. Feynman</a:t>
              </a:r>
            </a:p>
            <a:p>
              <a:pPr indent="0"/>
              <a:r>
                <a:rPr lang="en-US" sz="1600" dirty="0">
                  <a:solidFill>
                    <a:srgbClr val="F4F4F4"/>
                  </a:solidFill>
                  <a:latin typeface="Arial"/>
                </a:rPr>
                <a:t>Department of Physics,</a:t>
              </a:r>
            </a:p>
            <a:p>
              <a:pPr indent="0">
                <a:spcAft>
                  <a:spcPts val="1330"/>
                </a:spcAft>
              </a:pPr>
              <a:r>
                <a:rPr lang="en-US" sz="1600" dirty="0">
                  <a:solidFill>
                    <a:srgbClr val="F4F4F4"/>
                  </a:solidFill>
                  <a:latin typeface="Arial"/>
                </a:rPr>
                <a:t>California Institute of Technology</a:t>
              </a:r>
            </a:p>
            <a:p>
              <a:pPr indent="0"/>
              <a:r>
                <a:rPr lang="en-US" sz="1600" dirty="0">
                  <a:solidFill>
                    <a:srgbClr val="F4F4F4"/>
                  </a:solidFill>
                  <a:latin typeface="Arial"/>
                </a:rPr>
                <a:t>International Journal of Theoretical Physics,</a:t>
              </a:r>
            </a:p>
            <a:p>
              <a:pPr indent="0"/>
              <a:r>
                <a:rPr lang="en-US" sz="1600" dirty="0">
                  <a:solidFill>
                    <a:srgbClr val="F4F4F4"/>
                  </a:solidFill>
                  <a:latin typeface="Arial"/>
                </a:rPr>
                <a:t>Vol 21, Nos. 6/7, 1982</a:t>
              </a:r>
              <a:endParaRPr lang="en-US" sz="1200" dirty="0">
                <a:solidFill>
                  <a:srgbClr val="F4F4F4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1395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Why</a:t>
            </a:r>
            <a:r>
              <a:rPr lang="it-IT" sz="3600" dirty="0">
                <a:solidFill>
                  <a:schemeClr val="bg1"/>
                </a:solidFill>
              </a:rPr>
              <a:t> Quantum?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EE99B3DF-F84C-4075-DE3A-9491350F09E5}"/>
              </a:ext>
            </a:extLst>
          </p:cNvPr>
          <p:cNvSpPr/>
          <p:nvPr/>
        </p:nvSpPr>
        <p:spPr>
          <a:xfrm>
            <a:off x="1823484" y="1754372"/>
            <a:ext cx="8681483" cy="4412512"/>
          </a:xfrm>
          <a:prstGeom prst="ellipse">
            <a:avLst/>
          </a:prstGeom>
          <a:solidFill>
            <a:srgbClr val="1096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6328782-6B11-C97E-43AF-DF007CF01075}"/>
              </a:ext>
            </a:extLst>
          </p:cNvPr>
          <p:cNvSpPr txBox="1"/>
          <p:nvPr/>
        </p:nvSpPr>
        <p:spPr>
          <a:xfrm>
            <a:off x="4883001" y="2018307"/>
            <a:ext cx="2791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</a:rPr>
              <a:t>Problems</a:t>
            </a:r>
            <a:r>
              <a:rPr lang="it-IT" dirty="0">
                <a:solidFill>
                  <a:schemeClr val="bg1"/>
                </a:solidFill>
              </a:rPr>
              <a:t> we </a:t>
            </a:r>
            <a:r>
              <a:rPr lang="it-IT" dirty="0" err="1">
                <a:solidFill>
                  <a:schemeClr val="bg1"/>
                </a:solidFill>
              </a:rPr>
              <a:t>cannot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adequately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address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today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44D5FF94-32A3-5444-0820-8B82659EC4E8}"/>
              </a:ext>
            </a:extLst>
          </p:cNvPr>
          <p:cNvSpPr/>
          <p:nvPr/>
        </p:nvSpPr>
        <p:spPr>
          <a:xfrm>
            <a:off x="2690037" y="2711302"/>
            <a:ext cx="7028121" cy="2753833"/>
          </a:xfrm>
          <a:prstGeom prst="ellipse">
            <a:avLst/>
          </a:prstGeom>
          <a:solidFill>
            <a:srgbClr val="2943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FCA96F73-0344-98F5-741C-699D228C26A5}"/>
              </a:ext>
            </a:extLst>
          </p:cNvPr>
          <p:cNvSpPr/>
          <p:nvPr/>
        </p:nvSpPr>
        <p:spPr>
          <a:xfrm>
            <a:off x="3657599" y="3646202"/>
            <a:ext cx="2620926" cy="135033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Problems</a:t>
            </a:r>
            <a:r>
              <a:rPr lang="it-IT" dirty="0"/>
              <a:t> we can </a:t>
            </a:r>
            <a:r>
              <a:rPr lang="it-IT" dirty="0" err="1"/>
              <a:t>address</a:t>
            </a:r>
            <a:r>
              <a:rPr lang="it-IT" dirty="0"/>
              <a:t> </a:t>
            </a:r>
            <a:r>
              <a:rPr lang="it-IT" dirty="0" err="1"/>
              <a:t>today</a:t>
            </a:r>
            <a:r>
              <a:rPr lang="it-IT" dirty="0"/>
              <a:t> </a:t>
            </a:r>
            <a:r>
              <a:rPr lang="it-IT" dirty="0" err="1"/>
              <a:t>classically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82BD2B8-500B-ED4D-EB8B-8D5767125D41}"/>
              </a:ext>
            </a:extLst>
          </p:cNvPr>
          <p:cNvSpPr txBox="1"/>
          <p:nvPr/>
        </p:nvSpPr>
        <p:spPr>
          <a:xfrm>
            <a:off x="6461936" y="3439633"/>
            <a:ext cx="2309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b="0" i="0" u="none" strike="noStrike" baseline="0" dirty="0" err="1">
                <a:solidFill>
                  <a:srgbClr val="F5F5F5"/>
                </a:solidFill>
                <a:latin typeface="IBMPlexSans"/>
              </a:rPr>
              <a:t>Problems</a:t>
            </a:r>
            <a:r>
              <a:rPr lang="it-IT" sz="1800" b="0" i="0" u="none" strike="noStrike" baseline="0" dirty="0">
                <a:solidFill>
                  <a:srgbClr val="F5F5F5"/>
                </a:solidFill>
                <a:latin typeface="IBMPlexSans"/>
              </a:rPr>
              <a:t> we </a:t>
            </a:r>
            <a:r>
              <a:rPr lang="it-IT" sz="1800" b="0" i="0" u="none" strike="noStrike" baseline="0" dirty="0" err="1">
                <a:solidFill>
                  <a:srgbClr val="F5F5F5"/>
                </a:solidFill>
                <a:latin typeface="IBMPlexSans"/>
              </a:rPr>
              <a:t>hope</a:t>
            </a:r>
            <a:r>
              <a:rPr lang="it-IT" sz="1800" b="0" i="0" u="none" strike="noStrike" baseline="0" dirty="0">
                <a:solidFill>
                  <a:srgbClr val="F5F5F5"/>
                </a:solidFill>
                <a:latin typeface="IBMPlexSans"/>
              </a:rPr>
              <a:t> to</a:t>
            </a:r>
          </a:p>
          <a:p>
            <a:pPr algn="ctr"/>
            <a:r>
              <a:rPr lang="it-IT" sz="1800" b="0" i="0" u="none" strike="noStrike" baseline="0" dirty="0" err="1">
                <a:solidFill>
                  <a:srgbClr val="F5F5F5"/>
                </a:solidFill>
                <a:latin typeface="IBMPlexSans"/>
              </a:rPr>
              <a:t>address</a:t>
            </a:r>
            <a:r>
              <a:rPr lang="it-IT" sz="1800" b="0" i="0" u="none" strike="noStrike" baseline="0" dirty="0">
                <a:solidFill>
                  <a:srgbClr val="F5F5F5"/>
                </a:solidFill>
                <a:latin typeface="IBMPlexSans"/>
              </a:rPr>
              <a:t> with quantum</a:t>
            </a:r>
          </a:p>
          <a:p>
            <a:pPr algn="ctr"/>
            <a:r>
              <a:rPr lang="it-IT" sz="1800" b="0" i="0" u="none" strike="noStrike" baseline="0" dirty="0">
                <a:solidFill>
                  <a:srgbClr val="F5F5F5"/>
                </a:solidFill>
                <a:latin typeface="IBMPlexSans"/>
              </a:rPr>
              <a:t>and </a:t>
            </a:r>
            <a:r>
              <a:rPr lang="it-IT" sz="1800" b="0" i="0" u="none" strike="noStrike" baseline="0" dirty="0" err="1">
                <a:solidFill>
                  <a:srgbClr val="F5F5F5"/>
                </a:solidFill>
                <a:latin typeface="IBMPlexSans"/>
              </a:rPr>
              <a:t>classical</a:t>
            </a:r>
            <a:endParaRPr lang="it-IT" sz="1800" b="0" i="0" u="none" strike="noStrike" baseline="0" dirty="0">
              <a:solidFill>
                <a:srgbClr val="F5F5F5"/>
              </a:solidFill>
              <a:latin typeface="IBMPlexSans"/>
            </a:endParaRPr>
          </a:p>
          <a:p>
            <a:pPr algn="ctr"/>
            <a:r>
              <a:rPr lang="it-IT" sz="1800" b="0" i="0" u="none" strike="noStrike" baseline="0" dirty="0">
                <a:solidFill>
                  <a:srgbClr val="F5F5F5"/>
                </a:solidFill>
                <a:latin typeface="IBMPlexSans"/>
              </a:rPr>
              <a:t>computing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5581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Why</a:t>
            </a:r>
            <a:r>
              <a:rPr lang="it-IT" sz="3600" dirty="0">
                <a:solidFill>
                  <a:schemeClr val="bg1"/>
                </a:solidFill>
              </a:rPr>
              <a:t> Quantum </a:t>
            </a:r>
            <a:r>
              <a:rPr lang="it-IT" sz="3600" dirty="0" err="1">
                <a:solidFill>
                  <a:schemeClr val="bg1"/>
                </a:solidFill>
              </a:rPr>
              <a:t>Now</a:t>
            </a:r>
            <a:r>
              <a:rPr lang="it-IT" sz="36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6A0BC8A-D81F-01EA-C508-5F825AAD1CF5}"/>
              </a:ext>
            </a:extLst>
          </p:cNvPr>
          <p:cNvSpPr txBox="1"/>
          <p:nvPr/>
        </p:nvSpPr>
        <p:spPr>
          <a:xfrm>
            <a:off x="1667540" y="1666884"/>
            <a:ext cx="88569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Ask an MIT Professor: Why Your Business Should Build a Quantum-Ready Workforce Now</a:t>
            </a:r>
          </a:p>
          <a:p>
            <a:pPr algn="ctr"/>
            <a:r>
              <a:rPr lang="en-US" sz="3600" dirty="0">
                <a:solidFill>
                  <a:srgbClr val="0070C0"/>
                </a:solidFill>
              </a:rPr>
              <a:t>Open Learning</a:t>
            </a:r>
          </a:p>
          <a:p>
            <a:pPr algn="ctr"/>
            <a:r>
              <a:rPr lang="en-US" sz="360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Curv</a:t>
            </a:r>
            <a:r>
              <a:rPr lang="en-US" sz="36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endParaRPr lang="en-US" sz="3600" dirty="0">
              <a:solidFill>
                <a:srgbClr val="0070C0"/>
              </a:solidFill>
            </a:endParaRPr>
          </a:p>
          <a:p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E079751-EBDF-F66B-CE66-D8AD5D1C9A7B}"/>
              </a:ext>
            </a:extLst>
          </p:cNvPr>
          <p:cNvSpPr txBox="1"/>
          <p:nvPr/>
        </p:nvSpPr>
        <p:spPr>
          <a:xfrm>
            <a:off x="1404384" y="4925942"/>
            <a:ext cx="93832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563C1"/>
                </a:solidFill>
              </a:rPr>
              <a:t>1. </a:t>
            </a:r>
            <a:r>
              <a:rPr lang="en-US" sz="2000" dirty="0">
                <a:solidFill>
                  <a:srgbClr val="0070C0"/>
                </a:solidFill>
              </a:rPr>
              <a:t>MITIGATE RISK AND PREVENT SURPRISES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2. DEVELOP QUANTUM-INSPIRED ALGORITHMS TO CREATE PERFORMANCE ADVANTAGES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3. ENSURE LONG-TERM PROTECTION OF ENCRYPTED INFORMATION</a:t>
            </a:r>
          </a:p>
          <a:p>
            <a:r>
              <a:rPr lang="en-US" sz="2000" dirty="0">
                <a:solidFill>
                  <a:srgbClr val="0070C0"/>
                </a:solidFill>
              </a:rPr>
              <a:t>4. FILTER OUT THE HYPE </a:t>
            </a:r>
          </a:p>
          <a:p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522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Why</a:t>
            </a:r>
            <a:r>
              <a:rPr lang="it-IT" sz="3600" dirty="0">
                <a:solidFill>
                  <a:schemeClr val="bg1"/>
                </a:solidFill>
              </a:rPr>
              <a:t> Quantum </a:t>
            </a:r>
            <a:r>
              <a:rPr lang="it-IT" sz="3600" dirty="0" err="1">
                <a:solidFill>
                  <a:schemeClr val="bg1"/>
                </a:solidFill>
              </a:rPr>
              <a:t>Now</a:t>
            </a:r>
            <a:r>
              <a:rPr lang="it-IT" sz="36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0D3034D-9DA8-3B0C-5FCF-44292293FF24}"/>
              </a:ext>
            </a:extLst>
          </p:cNvPr>
          <p:cNvSpPr txBox="1"/>
          <p:nvPr/>
        </p:nvSpPr>
        <p:spPr>
          <a:xfrm>
            <a:off x="1425649" y="1520455"/>
            <a:ext cx="913868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563C1"/>
                </a:solidFill>
              </a:rPr>
              <a:t>MIT </a:t>
            </a:r>
            <a:r>
              <a:rPr lang="it-IT" sz="3600" dirty="0" err="1">
                <a:solidFill>
                  <a:srgbClr val="0563C1"/>
                </a:solidFill>
              </a:rPr>
              <a:t>has</a:t>
            </a:r>
            <a:r>
              <a:rPr lang="it-IT" sz="3600" dirty="0">
                <a:solidFill>
                  <a:srgbClr val="0563C1"/>
                </a:solidFill>
              </a:rPr>
              <a:t> </a:t>
            </a:r>
            <a:r>
              <a:rPr lang="it-IT" sz="3600" dirty="0" err="1">
                <a:solidFill>
                  <a:srgbClr val="0563C1"/>
                </a:solidFill>
              </a:rPr>
              <a:t>started</a:t>
            </a:r>
            <a:r>
              <a:rPr lang="it-IT" sz="3600" dirty="0">
                <a:solidFill>
                  <a:srgbClr val="0563C1"/>
                </a:solidFill>
              </a:rPr>
              <a:t> a quantum computing </a:t>
            </a:r>
            <a:r>
              <a:rPr lang="it-IT" sz="3600" dirty="0" err="1">
                <a:solidFill>
                  <a:srgbClr val="0563C1"/>
                </a:solidFill>
              </a:rPr>
              <a:t>program</a:t>
            </a:r>
            <a:r>
              <a:rPr lang="it-IT" sz="3600" dirty="0">
                <a:solidFill>
                  <a:srgbClr val="0563C1"/>
                </a:solidFill>
              </a:rPr>
              <a:t> for </a:t>
            </a:r>
            <a:r>
              <a:rPr lang="it-IT" sz="3600" dirty="0" err="1">
                <a:solidFill>
                  <a:srgbClr val="0563C1"/>
                </a:solidFill>
              </a:rPr>
              <a:t>professionals</a:t>
            </a:r>
            <a:endParaRPr lang="it-IT" sz="3600" dirty="0">
              <a:solidFill>
                <a:srgbClr val="0563C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572400" lvl="2"/>
            <a:r>
              <a:rPr lang="it-IT" sz="2400" i="1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 </a:t>
            </a:r>
            <a:r>
              <a:rPr lang="it-IT" sz="2400" i="1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xPRO</a:t>
            </a:r>
            <a:r>
              <a:rPr lang="it-IT" sz="2400" i="1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Quantum Program</a:t>
            </a:r>
            <a:endParaRPr lang="it-IT" sz="2400" i="1" dirty="0">
              <a:solidFill>
                <a:srgbClr val="0563C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3600" dirty="0">
              <a:solidFill>
                <a:srgbClr val="0563C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563C1"/>
                </a:solidFill>
              </a:rPr>
              <a:t>Accenture </a:t>
            </a:r>
            <a:r>
              <a:rPr lang="it-IT" sz="3600" dirty="0" err="1">
                <a:solidFill>
                  <a:srgbClr val="0563C1"/>
                </a:solidFill>
              </a:rPr>
              <a:t>is</a:t>
            </a:r>
            <a:r>
              <a:rPr lang="it-IT" sz="3600" dirty="0">
                <a:solidFill>
                  <a:srgbClr val="0563C1"/>
                </a:solidFill>
              </a:rPr>
              <a:t> </a:t>
            </a:r>
            <a:r>
              <a:rPr lang="it-IT" sz="3600" dirty="0" err="1">
                <a:solidFill>
                  <a:srgbClr val="0563C1"/>
                </a:solidFill>
              </a:rPr>
              <a:t>exploring</a:t>
            </a:r>
            <a:r>
              <a:rPr lang="it-IT" sz="3600" dirty="0">
                <a:solidFill>
                  <a:srgbClr val="0563C1"/>
                </a:solidFill>
              </a:rPr>
              <a:t> quantum computing in Financial Services </a:t>
            </a:r>
            <a:endParaRPr lang="it-IT" sz="3600" dirty="0">
              <a:solidFill>
                <a:srgbClr val="0563C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572400" lvl="2"/>
            <a:r>
              <a:rPr lang="it-IT" sz="2400" i="1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Accenture Quantum </a:t>
            </a:r>
            <a:r>
              <a:rPr lang="it-IT" sz="2400" i="1" dirty="0" err="1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Initiative</a:t>
            </a:r>
            <a:endParaRPr lang="it-IT" sz="2400" i="1" dirty="0">
              <a:solidFill>
                <a:srgbClr val="0563C1"/>
              </a:solidFill>
            </a:endParaRPr>
          </a:p>
          <a:p>
            <a:pPr marL="572400" indent="-571500">
              <a:buFont typeface="Arial" panose="020B0604020202020204" pitchFamily="34" charset="0"/>
              <a:buChar char="•"/>
            </a:pPr>
            <a:endParaRPr lang="it-IT" sz="2800" dirty="0">
              <a:solidFill>
                <a:srgbClr val="0563C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563C1"/>
                </a:solidFill>
              </a:rPr>
              <a:t>Intesa </a:t>
            </a:r>
            <a:r>
              <a:rPr lang="it-IT" sz="3600" dirty="0" err="1">
                <a:solidFill>
                  <a:srgbClr val="0563C1"/>
                </a:solidFill>
              </a:rPr>
              <a:t>started</a:t>
            </a:r>
            <a:r>
              <a:rPr lang="it-IT" sz="3600">
                <a:solidFill>
                  <a:srgbClr val="0563C1"/>
                </a:solidFill>
              </a:rPr>
              <a:t> a «quantum» startup</a:t>
            </a:r>
            <a:endParaRPr lang="it-IT" sz="3600" dirty="0">
              <a:solidFill>
                <a:srgbClr val="0563C1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572400"/>
            <a:r>
              <a:rPr lang="it-IT" sz="2400" i="1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Intesa San Paolo Quantum </a:t>
            </a:r>
            <a:r>
              <a:rPr lang="it-IT" sz="2400" i="1" dirty="0" err="1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Initiative</a:t>
            </a:r>
            <a:endParaRPr lang="it-IT" sz="2400" i="1" dirty="0">
              <a:solidFill>
                <a:srgbClr val="0563C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927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What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does</a:t>
            </a:r>
            <a:r>
              <a:rPr lang="it-IT" sz="3600" dirty="0">
                <a:solidFill>
                  <a:schemeClr val="bg1"/>
                </a:solidFill>
              </a:rPr>
              <a:t> Quantum Computing </a:t>
            </a:r>
            <a:r>
              <a:rPr lang="it-IT" sz="3600" dirty="0" err="1">
                <a:solidFill>
                  <a:schemeClr val="bg1"/>
                </a:solidFill>
              </a:rPr>
              <a:t>rely</a:t>
            </a:r>
            <a:r>
              <a:rPr lang="it-IT" sz="3600" dirty="0">
                <a:solidFill>
                  <a:schemeClr val="bg1"/>
                </a:solidFill>
              </a:rPr>
              <a:t> on?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2D4889-91C0-5945-AF85-246204921A6D}"/>
              </a:ext>
            </a:extLst>
          </p:cNvPr>
          <p:cNvSpPr txBox="1"/>
          <p:nvPr/>
        </p:nvSpPr>
        <p:spPr>
          <a:xfrm>
            <a:off x="2743199" y="1665661"/>
            <a:ext cx="72673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563C1"/>
                </a:solidFill>
              </a:rPr>
              <a:t>The </a:t>
            </a:r>
            <a:r>
              <a:rPr lang="it-IT" sz="2800" dirty="0" err="1">
                <a:solidFill>
                  <a:srgbClr val="0563C1"/>
                </a:solidFill>
              </a:rPr>
              <a:t>basis</a:t>
            </a:r>
            <a:r>
              <a:rPr lang="it-IT" sz="2800" dirty="0">
                <a:solidFill>
                  <a:srgbClr val="0563C1"/>
                </a:solidFill>
              </a:rPr>
              <a:t> of Quantum </a:t>
            </a:r>
            <a:r>
              <a:rPr lang="it-IT" sz="2800" dirty="0" err="1">
                <a:solidFill>
                  <a:srgbClr val="0563C1"/>
                </a:solidFill>
              </a:rPr>
              <a:t>Computation</a:t>
            </a:r>
            <a:r>
              <a:rPr lang="it-IT" sz="2800" dirty="0">
                <a:solidFill>
                  <a:srgbClr val="0563C1"/>
                </a:solidFill>
              </a:rPr>
              <a:t> </a:t>
            </a:r>
            <a:r>
              <a:rPr lang="it-IT" sz="2800" dirty="0" err="1">
                <a:solidFill>
                  <a:srgbClr val="0563C1"/>
                </a:solidFill>
              </a:rPr>
              <a:t>is</a:t>
            </a:r>
            <a:r>
              <a:rPr lang="it-IT" sz="2800" dirty="0">
                <a:solidFill>
                  <a:srgbClr val="0563C1"/>
                </a:solidFill>
              </a:rPr>
              <a:t> the </a:t>
            </a:r>
            <a:r>
              <a:rPr lang="it-IT" sz="2800" dirty="0" err="1">
                <a:solidFill>
                  <a:srgbClr val="0563C1"/>
                </a:solidFill>
              </a:rPr>
              <a:t>Qubit</a:t>
            </a:r>
            <a:r>
              <a:rPr lang="it-IT" sz="2800" dirty="0">
                <a:solidFill>
                  <a:srgbClr val="0563C1"/>
                </a:solidFill>
              </a:rPr>
              <a:t>:</a:t>
            </a:r>
            <a:br>
              <a:rPr lang="it-IT" sz="2800" dirty="0">
                <a:solidFill>
                  <a:srgbClr val="0563C1"/>
                </a:solidFill>
              </a:rPr>
            </a:br>
            <a:r>
              <a:rPr lang="it-IT" sz="2800" dirty="0">
                <a:solidFill>
                  <a:srgbClr val="0563C1"/>
                </a:solidFill>
              </a:rPr>
              <a:t>a 2-level Quantum </a:t>
            </a:r>
            <a:r>
              <a:rPr lang="it-IT" sz="2800" dirty="0" err="1">
                <a:solidFill>
                  <a:srgbClr val="0563C1"/>
                </a:solidFill>
              </a:rPr>
              <a:t>Mechanics</a:t>
            </a:r>
            <a:r>
              <a:rPr lang="it-IT" sz="2800" dirty="0">
                <a:solidFill>
                  <a:srgbClr val="0563C1"/>
                </a:solidFill>
              </a:rPr>
              <a:t> system</a:t>
            </a:r>
          </a:p>
        </p:txBody>
      </p:sp>
      <p:pic>
        <p:nvPicPr>
          <p:cNvPr id="7" name="Immagine 6" descr="Immagine che contiene testo, orologio&#10;&#10;Descrizione generata automaticamente">
            <a:extLst>
              <a:ext uri="{FF2B5EF4-FFF2-40B4-BE49-F238E27FC236}">
                <a16:creationId xmlns:a16="http://schemas.microsoft.com/office/drawing/2014/main" id="{C8830D1E-1F2D-61D4-BB9B-40ECF0E094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6"/>
          <a:stretch/>
        </p:blipFill>
        <p:spPr>
          <a:xfrm>
            <a:off x="2070415" y="2646898"/>
            <a:ext cx="8070662" cy="344972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89DAB2E7-7F5B-6197-6520-1D9972C37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363" y="3907555"/>
            <a:ext cx="3203123" cy="89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1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F29766FB-6C13-FEB1-0CEC-4C81D0F00D92}"/>
              </a:ext>
            </a:extLst>
          </p:cNvPr>
          <p:cNvGrpSpPr/>
          <p:nvPr/>
        </p:nvGrpSpPr>
        <p:grpSpPr>
          <a:xfrm>
            <a:off x="85060" y="2130977"/>
            <a:ext cx="12067954" cy="2672425"/>
            <a:chOff x="53212" y="2330193"/>
            <a:chExt cx="12138788" cy="2672425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F8F99D5F-B8C6-D90D-9BE4-2838E63EF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12" y="2330193"/>
              <a:ext cx="5331038" cy="2672425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4ADA8A83-AF04-1B27-C268-E684700D8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2287" y="2806995"/>
              <a:ext cx="7109713" cy="2050879"/>
            </a:xfrm>
            <a:prstGeom prst="rect">
              <a:avLst/>
            </a:prstGeom>
          </p:spPr>
        </p:pic>
      </p:grpSp>
      <p:pic>
        <p:nvPicPr>
          <p:cNvPr id="17" name="Immagine 16">
            <a:extLst>
              <a:ext uri="{FF2B5EF4-FFF2-40B4-BE49-F238E27FC236}">
                <a16:creationId xmlns:a16="http://schemas.microsoft.com/office/drawing/2014/main" id="{9EB1BE50-5F5B-1579-14D4-866FA418CA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9" y="4455897"/>
            <a:ext cx="9676609" cy="1103197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What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does</a:t>
            </a:r>
            <a:r>
              <a:rPr lang="it-IT" sz="3600" dirty="0">
                <a:solidFill>
                  <a:schemeClr val="bg1"/>
                </a:solidFill>
              </a:rPr>
              <a:t> Quantum Computing </a:t>
            </a:r>
            <a:r>
              <a:rPr lang="it-IT" sz="3600" dirty="0" err="1">
                <a:solidFill>
                  <a:schemeClr val="bg1"/>
                </a:solidFill>
              </a:rPr>
              <a:t>rely</a:t>
            </a:r>
            <a:r>
              <a:rPr lang="it-IT" sz="3600" dirty="0">
                <a:solidFill>
                  <a:schemeClr val="bg1"/>
                </a:solidFill>
              </a:rPr>
              <a:t> on?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2D4889-91C0-5945-AF85-246204921A6D}"/>
              </a:ext>
            </a:extLst>
          </p:cNvPr>
          <p:cNvSpPr txBox="1"/>
          <p:nvPr/>
        </p:nvSpPr>
        <p:spPr>
          <a:xfrm>
            <a:off x="413689" y="1497219"/>
            <a:ext cx="9872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rgbClr val="0563C1"/>
                </a:solidFill>
              </a:rPr>
              <a:t>Qubits</a:t>
            </a:r>
            <a:r>
              <a:rPr lang="it-IT" sz="3200" dirty="0">
                <a:solidFill>
                  <a:srgbClr val="0563C1"/>
                </a:solidFill>
              </a:rPr>
              <a:t> can be </a:t>
            </a:r>
            <a:r>
              <a:rPr lang="it-IT" sz="3200" dirty="0" err="1">
                <a:solidFill>
                  <a:srgbClr val="0563C1"/>
                </a:solidFill>
              </a:rPr>
              <a:t>stacked</a:t>
            </a:r>
            <a:r>
              <a:rPr lang="it-IT" sz="3200" dirty="0">
                <a:solidFill>
                  <a:srgbClr val="0563C1"/>
                </a:solidFill>
              </a:rPr>
              <a:t> </a:t>
            </a:r>
            <a:r>
              <a:rPr lang="it-IT" sz="3200" dirty="0" err="1">
                <a:solidFill>
                  <a:srgbClr val="0563C1"/>
                </a:solidFill>
              </a:rPr>
              <a:t>together</a:t>
            </a:r>
            <a:r>
              <a:rPr lang="it-IT" sz="3200" dirty="0">
                <a:solidFill>
                  <a:srgbClr val="0563C1"/>
                </a:solidFill>
              </a:rPr>
              <a:t>: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512C81E5-3E48-2690-A74A-A75D9CF54D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9" y="5424588"/>
            <a:ext cx="11260860" cy="137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94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Gates and  </a:t>
            </a:r>
            <a:r>
              <a:rPr lang="it-IT" sz="3600" dirty="0" err="1">
                <a:solidFill>
                  <a:schemeClr val="bg1"/>
                </a:solidFill>
              </a:rPr>
              <a:t>Circuits</a:t>
            </a:r>
            <a:endParaRPr lang="it-IT" sz="3600" dirty="0">
              <a:solidFill>
                <a:schemeClr val="bg1"/>
              </a:solidFill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F2108CC3-D57E-C477-F6E1-169E46C63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023" y="1312504"/>
            <a:ext cx="82701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3600" dirty="0">
                <a:solidFill>
                  <a:srgbClr val="0563C1"/>
                </a:solidFill>
                <a:cs typeface="Arial" panose="020B0604020202020204" pitchFamily="34" charset="0"/>
              </a:rPr>
              <a:t>Circuit diagrams for quantum information </a:t>
            </a:r>
          </a:p>
        </p:txBody>
      </p: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584BBF41-FB1E-A632-9994-96C1A12B6352}"/>
              </a:ext>
            </a:extLst>
          </p:cNvPr>
          <p:cNvGrpSpPr/>
          <p:nvPr/>
        </p:nvGrpSpPr>
        <p:grpSpPr>
          <a:xfrm>
            <a:off x="3124200" y="1967031"/>
            <a:ext cx="5791201" cy="3621250"/>
            <a:chOff x="3505200" y="1967031"/>
            <a:chExt cx="5791201" cy="3621250"/>
          </a:xfrm>
        </p:grpSpPr>
        <p:pic>
          <p:nvPicPr>
            <p:cNvPr id="4" name="Picture 10">
              <a:extLst>
                <a:ext uri="{FF2B5EF4-FFF2-40B4-BE49-F238E27FC236}">
                  <a16:creationId xmlns:a16="http://schemas.microsoft.com/office/drawing/2014/main" id="{ACF4315B-DCE6-B4C5-A60C-8234FE79252D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326" y="2957631"/>
              <a:ext cx="1666875" cy="481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A34F8023-F404-CE10-FE7C-9A837784D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2125" y="326243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863DF614-A584-3422-2AE0-7168E12BD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6" y="4024431"/>
              <a:ext cx="2382383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>
                  <a:cs typeface="Arial" panose="020B0604020202020204" pitchFamily="34" charset="0"/>
                </a:rPr>
                <a:t>quantum wire</a:t>
              </a:r>
            </a:p>
            <a:p>
              <a:r>
                <a:rPr lang="en-US" altLang="it-IT" sz="2400">
                  <a:cs typeface="Arial" panose="020B0604020202020204" pitchFamily="34" charset="0"/>
                </a:rPr>
                <a:t>single line = qubit</a:t>
              </a:r>
            </a:p>
          </p:txBody>
        </p:sp>
        <p:pic>
          <p:nvPicPr>
            <p:cNvPr id="19" name="Picture 17">
              <a:extLst>
                <a:ext uri="{FF2B5EF4-FFF2-40B4-BE49-F238E27FC236}">
                  <a16:creationId xmlns:a16="http://schemas.microsoft.com/office/drawing/2014/main" id="{68865349-B61A-7259-C793-32DB2E420677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3455" y="3026628"/>
              <a:ext cx="385763" cy="334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4AE96819-B335-0F5A-6A41-1F70D7FDF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2657548"/>
              <a:ext cx="1229824" cy="1200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>
                  <a:cs typeface="Arial" panose="020B0604020202020204" pitchFamily="34" charset="0"/>
                </a:rPr>
                <a:t>input </a:t>
              </a:r>
            </a:p>
            <a:p>
              <a:r>
                <a:rPr lang="en-US" altLang="it-IT" sz="2400">
                  <a:cs typeface="Arial" panose="020B0604020202020204" pitchFamily="34" charset="0"/>
                </a:rPr>
                <a:t>wave </a:t>
              </a:r>
            </a:p>
            <a:p>
              <a:r>
                <a:rPr lang="en-US" altLang="it-IT" sz="2400">
                  <a:cs typeface="Arial" panose="020B0604020202020204" pitchFamily="34" charset="0"/>
                </a:rPr>
                <a:t>function</a:t>
              </a: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F8110315-0ABF-7E16-3095-1F7205A45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026" y="3194109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134DA21F-A041-04C0-CCE9-E3B284681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1967031"/>
              <a:ext cx="192995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>
                  <a:cs typeface="Arial" panose="020B0604020202020204" pitchFamily="34" charset="0"/>
                </a:rPr>
                <a:t>quantum gate</a:t>
              </a: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D352414E-8C81-6BDA-7B95-236C6A859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242423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FB590D2-A418-AC1D-45A8-62850201E334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7550" y="3079868"/>
              <a:ext cx="704850" cy="334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D562B39A-37B2-09F1-1B76-1C9721BD5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4801" y="2657548"/>
              <a:ext cx="1371600" cy="1200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it-IT" sz="2400" dirty="0">
                  <a:cs typeface="Arial" panose="020B0604020202020204" pitchFamily="34" charset="0"/>
                </a:rPr>
                <a:t>output </a:t>
              </a:r>
            </a:p>
            <a:p>
              <a:r>
                <a:rPr lang="en-US" altLang="it-IT" sz="2400" dirty="0">
                  <a:cs typeface="Arial" panose="020B0604020202020204" pitchFamily="34" charset="0"/>
                </a:rPr>
                <a:t>wave </a:t>
              </a:r>
            </a:p>
            <a:p>
              <a:r>
                <a:rPr lang="en-US" altLang="it-IT" sz="2400" dirty="0">
                  <a:cs typeface="Arial" panose="020B0604020202020204" pitchFamily="34" charset="0"/>
                </a:rPr>
                <a:t>function</a:t>
              </a:r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6C8C8B31-7088-6DE7-9DE4-C4D80A853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6000" y="4980469"/>
              <a:ext cx="342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Rectangle 29">
              <a:extLst>
                <a:ext uri="{FF2B5EF4-FFF2-40B4-BE49-F238E27FC236}">
                  <a16:creationId xmlns:a16="http://schemas.microsoft.com/office/drawing/2014/main" id="{CFE30AF7-B689-AAD4-3993-A40D6D0B4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6" y="5131081"/>
              <a:ext cx="7604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 dirty="0">
                  <a:cs typeface="Arial" panose="020B0604020202020204" pitchFamily="34" charset="0"/>
                </a:rPr>
                <a:t>time</a:t>
              </a:r>
            </a:p>
          </p:txBody>
        </p:sp>
      </p:grpSp>
      <p:sp>
        <p:nvSpPr>
          <p:cNvPr id="47" name="Rectangle 31">
            <a:extLst>
              <a:ext uri="{FF2B5EF4-FFF2-40B4-BE49-F238E27FC236}">
                <a16:creationId xmlns:a16="http://schemas.microsoft.com/office/drawing/2014/main" id="{C5A76B5A-1B9B-E194-B6DA-69F782290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023" y="5620166"/>
            <a:ext cx="91898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Quantum circuits are instructions for a series of unitary evolutions (quantum gates) to be executed on quantum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40040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563C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Important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Qubit</a:t>
            </a:r>
            <a:r>
              <a:rPr lang="it-IT" sz="3600" dirty="0">
                <a:solidFill>
                  <a:schemeClr val="bg1"/>
                </a:solidFill>
              </a:rPr>
              <a:t> Gates</a:t>
            </a:r>
          </a:p>
        </p:txBody>
      </p:sp>
      <p:pic>
        <p:nvPicPr>
          <p:cNvPr id="3" name="Picture 4" descr="txp_fig">
            <a:extLst>
              <a:ext uri="{FF2B5EF4-FFF2-40B4-BE49-F238E27FC236}">
                <a16:creationId xmlns:a16="http://schemas.microsoft.com/office/drawing/2014/main" id="{14C2853A-0EA9-E1DD-1F43-FAA57008EE40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28" y="1255967"/>
            <a:ext cx="2638425" cy="66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5" descr="txp_fig">
            <a:extLst>
              <a:ext uri="{FF2B5EF4-FFF2-40B4-BE49-F238E27FC236}">
                <a16:creationId xmlns:a16="http://schemas.microsoft.com/office/drawing/2014/main" id="{01DC544D-1C21-CB36-CD7C-9F8C128271CE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65" y="2158739"/>
            <a:ext cx="2767125" cy="66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 descr="txp_fig">
            <a:extLst>
              <a:ext uri="{FF2B5EF4-FFF2-40B4-BE49-F238E27FC236}">
                <a16:creationId xmlns:a16="http://schemas.microsoft.com/office/drawing/2014/main" id="{7BB613F0-BE0F-1447-F713-68967CF88F67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90" y="3061511"/>
            <a:ext cx="2814542" cy="66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2" descr="txp_fig">
            <a:extLst>
              <a:ext uri="{FF2B5EF4-FFF2-40B4-BE49-F238E27FC236}">
                <a16:creationId xmlns:a16="http://schemas.microsoft.com/office/drawing/2014/main" id="{557255E2-332A-1AAC-6822-173E72B3034E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74" y="5199703"/>
            <a:ext cx="7686675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3" descr="txp_fig">
            <a:extLst>
              <a:ext uri="{FF2B5EF4-FFF2-40B4-BE49-F238E27FC236}">
                <a16:creationId xmlns:a16="http://schemas.microsoft.com/office/drawing/2014/main" id="{F46A018C-B3C7-CF56-D7E4-AAA1E73617CF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62" y="6114103"/>
            <a:ext cx="7494587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14">
            <a:extLst>
              <a:ext uri="{FF2B5EF4-FFF2-40B4-BE49-F238E27FC236}">
                <a16:creationId xmlns:a16="http://schemas.microsoft.com/office/drawing/2014/main" id="{796AE07F-C141-FB68-6478-B18C7E9FE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9731" y="1356207"/>
            <a:ext cx="1242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“bit flip”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5DEB0810-B522-8B6A-9643-D51963ED3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9731" y="3147235"/>
            <a:ext cx="1693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“phase flip”</a:t>
            </a:r>
          </a:p>
        </p:txBody>
      </p:sp>
      <p:pic>
        <p:nvPicPr>
          <p:cNvPr id="16" name="Picture 16" descr="txp_fig">
            <a:extLst>
              <a:ext uri="{FF2B5EF4-FFF2-40B4-BE49-F238E27FC236}">
                <a16:creationId xmlns:a16="http://schemas.microsoft.com/office/drawing/2014/main" id="{8D403C87-AF49-2860-E01F-CE1B5059F85C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065" y="3918256"/>
            <a:ext cx="21272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7" descr="txp_fig">
            <a:extLst>
              <a:ext uri="{FF2B5EF4-FFF2-40B4-BE49-F238E27FC236}">
                <a16:creationId xmlns:a16="http://schemas.microsoft.com/office/drawing/2014/main" id="{54A80F12-CD98-F383-6A36-590F4A75EF0C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065" y="4437196"/>
            <a:ext cx="21272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ctangle 18">
            <a:extLst>
              <a:ext uri="{FF2B5EF4-FFF2-40B4-BE49-F238E27FC236}">
                <a16:creationId xmlns:a16="http://schemas.microsoft.com/office/drawing/2014/main" id="{1860D61E-1E5A-A66B-B94D-3A408B9E8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9731" y="4088591"/>
            <a:ext cx="46871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“bit flip” is just the classical not gate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583A7EB-2C94-E419-1987-B970BCF92738}"/>
              </a:ext>
            </a:extLst>
          </p:cNvPr>
          <p:cNvSpPr txBox="1"/>
          <p:nvPr/>
        </p:nvSpPr>
        <p:spPr>
          <a:xfrm rot="16200000">
            <a:off x="-583242" y="5682399"/>
            <a:ext cx="2010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0563C1"/>
                </a:solidFill>
              </a:rPr>
              <a:t>Gate </a:t>
            </a:r>
            <a:r>
              <a:rPr lang="it-IT" sz="2000" dirty="0" err="1">
                <a:solidFill>
                  <a:srgbClr val="0563C1"/>
                </a:solidFill>
              </a:rPr>
              <a:t>composition</a:t>
            </a:r>
            <a:endParaRPr lang="it-IT" sz="2000" dirty="0">
              <a:solidFill>
                <a:srgbClr val="0563C1"/>
              </a:solidFill>
            </a:endParaRPr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F6784755-6820-18CC-A5AC-5CC58809B243}"/>
              </a:ext>
            </a:extLst>
          </p:cNvPr>
          <p:cNvCxnSpPr/>
          <p:nvPr/>
        </p:nvCxnSpPr>
        <p:spPr>
          <a:xfrm>
            <a:off x="-1" y="1985374"/>
            <a:ext cx="801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8B8DE71C-303E-2D37-A929-783137C6E2A2}"/>
              </a:ext>
            </a:extLst>
          </p:cNvPr>
          <p:cNvCxnSpPr/>
          <p:nvPr/>
        </p:nvCxnSpPr>
        <p:spPr>
          <a:xfrm>
            <a:off x="0" y="2904935"/>
            <a:ext cx="80169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7D1AA286-4A63-04F7-49E8-6334B5F85D16}"/>
              </a:ext>
            </a:extLst>
          </p:cNvPr>
          <p:cNvCxnSpPr/>
          <p:nvPr/>
        </p:nvCxnSpPr>
        <p:spPr>
          <a:xfrm>
            <a:off x="0" y="3824496"/>
            <a:ext cx="80169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AEC9D4C1-9D88-44F3-D199-1328ACD7FE41}"/>
              </a:ext>
            </a:extLst>
          </p:cNvPr>
          <p:cNvCxnSpPr>
            <a:cxnSpLocks/>
          </p:cNvCxnSpPr>
          <p:nvPr/>
        </p:nvCxnSpPr>
        <p:spPr>
          <a:xfrm>
            <a:off x="-30126" y="4877105"/>
            <a:ext cx="10440000" cy="10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316DDF1F-2414-43B9-F0CB-85E06FDAC9AE}"/>
              </a:ext>
            </a:extLst>
          </p:cNvPr>
          <p:cNvGrpSpPr/>
          <p:nvPr/>
        </p:nvGrpSpPr>
        <p:grpSpPr>
          <a:xfrm>
            <a:off x="8819704" y="1538412"/>
            <a:ext cx="3030279" cy="2426963"/>
            <a:chOff x="8681484" y="1261974"/>
            <a:chExt cx="3030279" cy="2426963"/>
          </a:xfrm>
        </p:grpSpPr>
        <p:grpSp>
          <p:nvGrpSpPr>
            <p:cNvPr id="30" name="Gruppo 29">
              <a:extLst>
                <a:ext uri="{FF2B5EF4-FFF2-40B4-BE49-F238E27FC236}">
                  <a16:creationId xmlns:a16="http://schemas.microsoft.com/office/drawing/2014/main" id="{F7D1A19D-D1C9-415B-BB8F-EFC1722E4E38}"/>
                </a:ext>
              </a:extLst>
            </p:cNvPr>
            <p:cNvGrpSpPr/>
            <p:nvPr/>
          </p:nvGrpSpPr>
          <p:grpSpPr>
            <a:xfrm>
              <a:off x="8991876" y="1470106"/>
              <a:ext cx="2409494" cy="2010698"/>
              <a:chOff x="9041772" y="1384903"/>
              <a:chExt cx="2409494" cy="2010698"/>
            </a:xfrm>
          </p:grpSpPr>
          <p:grpSp>
            <p:nvGrpSpPr>
              <p:cNvPr id="19" name="Gruppo 18">
                <a:extLst>
                  <a:ext uri="{FF2B5EF4-FFF2-40B4-BE49-F238E27FC236}">
                    <a16:creationId xmlns:a16="http://schemas.microsoft.com/office/drawing/2014/main" id="{EB7D32C4-73DC-3CD6-D695-8560002062FF}"/>
                  </a:ext>
                </a:extLst>
              </p:cNvPr>
              <p:cNvGrpSpPr/>
              <p:nvPr/>
            </p:nvGrpSpPr>
            <p:grpSpPr>
              <a:xfrm>
                <a:off x="9447213" y="1704453"/>
                <a:ext cx="2004053" cy="1614488"/>
                <a:chOff x="7389814" y="1524001"/>
                <a:chExt cx="2004053" cy="1614488"/>
              </a:xfrm>
            </p:grpSpPr>
            <p:pic>
              <p:nvPicPr>
                <p:cNvPr id="7" name="Picture 7" descr="txp_fig">
                  <a:extLst>
                    <a:ext uri="{FF2B5EF4-FFF2-40B4-BE49-F238E27FC236}">
                      <a16:creationId xmlns:a16="http://schemas.microsoft.com/office/drawing/2014/main" id="{0E65146C-31F2-0214-EEA3-2D8F9CB7269E}"/>
                    </a:ext>
                  </a:extLst>
                </p:cNvPr>
                <p:cNvPicPr>
                  <a:picLocks noChangeAspect="1" noChangeArrowheads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389814" y="1982788"/>
                  <a:ext cx="860425" cy="2270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8" name="Picture 8" descr="txp_fig">
                  <a:extLst>
                    <a:ext uri="{FF2B5EF4-FFF2-40B4-BE49-F238E27FC236}">
                      <a16:creationId xmlns:a16="http://schemas.microsoft.com/office/drawing/2014/main" id="{F2CB7207-E9B6-6F5D-E6A7-EA405B2A01C6}"/>
                    </a:ext>
                  </a:extLst>
                </p:cNvPr>
                <p:cNvPicPr>
                  <a:picLocks noChangeAspect="1" noChangeArrowheads="1"/>
                </p:cNvPicPr>
                <p:nvPr>
                  <p:custDataLst>
                    <p:tags r:id="rId9"/>
                  </p:custDataLst>
                </p:nvPr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10450" y="1524001"/>
                  <a:ext cx="763588" cy="2270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9" name="Picture 9" descr="txp_fig">
                  <a:extLst>
                    <a:ext uri="{FF2B5EF4-FFF2-40B4-BE49-F238E27FC236}">
                      <a16:creationId xmlns:a16="http://schemas.microsoft.com/office/drawing/2014/main" id="{F957F61B-E568-2C72-6141-EC0574AC167E}"/>
                    </a:ext>
                  </a:extLst>
                </p:cNvPr>
                <p:cNvPicPr>
                  <a:picLocks noChangeAspect="1" noChangeArrowheads="1"/>
                </p:cNvPicPr>
                <p:nvPr>
                  <p:custDataLst>
                    <p:tags r:id="rId10"/>
                  </p:custDataLst>
                </p:nvPr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389814" y="2439988"/>
                  <a:ext cx="835025" cy="2270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0" name="Picture 10" descr="txp_fig">
                  <a:extLst>
                    <a:ext uri="{FF2B5EF4-FFF2-40B4-BE49-F238E27FC236}">
                      <a16:creationId xmlns:a16="http://schemas.microsoft.com/office/drawing/2014/main" id="{82CFE2FF-0227-C3C9-5151-D2231BCBD00A}"/>
                    </a:ext>
                  </a:extLst>
                </p:cNvPr>
                <p:cNvPicPr>
                  <a:picLocks noChangeAspect="1" noChangeArrowheads="1"/>
                </p:cNvPicPr>
                <p:nvPr>
                  <p:custDataLst>
                    <p:tags r:id="rId11"/>
                  </p:custDataLst>
                </p:nvPr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389814" y="2911476"/>
                  <a:ext cx="822325" cy="2270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1" name="Picture 11" descr="txp_fig">
                  <a:extLst>
                    <a:ext uri="{FF2B5EF4-FFF2-40B4-BE49-F238E27FC236}">
                      <a16:creationId xmlns:a16="http://schemas.microsoft.com/office/drawing/2014/main" id="{2FCC7EFC-1ED9-DC73-A95D-E4AF22A6B9AE}"/>
                    </a:ext>
                  </a:extLst>
                </p:cNvPr>
                <p:cNvPicPr>
                  <a:picLocks noChangeAspect="1" noChangeArrowheads="1"/>
                </p:cNvPicPr>
                <p:nvPr>
                  <p:custDataLst>
                    <p:tags r:id="rId12"/>
                  </p:custDataLst>
                </p:nvPr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0280" y="2113240"/>
                  <a:ext cx="763587" cy="3429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2721BD59-3596-4E2F-930D-FA7F1024BB0A}"/>
                  </a:ext>
                </a:extLst>
              </p:cNvPr>
              <p:cNvSpPr txBox="1"/>
              <p:nvPr/>
            </p:nvSpPr>
            <p:spPr>
              <a:xfrm rot="16200000">
                <a:off x="8236478" y="2190197"/>
                <a:ext cx="20106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 err="1">
                    <a:solidFill>
                      <a:srgbClr val="0563C1"/>
                    </a:solidFill>
                  </a:rPr>
                  <a:t>Pauli’s</a:t>
                </a:r>
                <a:r>
                  <a:rPr lang="it-IT" sz="2000" dirty="0">
                    <a:solidFill>
                      <a:srgbClr val="0563C1"/>
                    </a:solidFill>
                  </a:rPr>
                  <a:t> </a:t>
                </a:r>
                <a:r>
                  <a:rPr lang="it-IT" sz="2000" dirty="0" err="1">
                    <a:solidFill>
                      <a:srgbClr val="0563C1"/>
                    </a:solidFill>
                  </a:rPr>
                  <a:t>matrices</a:t>
                </a:r>
                <a:endParaRPr lang="it-IT" sz="2000" dirty="0">
                  <a:solidFill>
                    <a:srgbClr val="0563C1"/>
                  </a:solidFill>
                </a:endParaRPr>
              </a:p>
            </p:txBody>
          </p:sp>
        </p:grpSp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BDBF0CC5-60A6-E002-C5E2-DED81215E7A9}"/>
                </a:ext>
              </a:extLst>
            </p:cNvPr>
            <p:cNvSpPr/>
            <p:nvPr/>
          </p:nvSpPr>
          <p:spPr>
            <a:xfrm>
              <a:off x="8681484" y="1261974"/>
              <a:ext cx="3030279" cy="2426963"/>
            </a:xfrm>
            <a:prstGeom prst="rect">
              <a:avLst/>
            </a:prstGeom>
            <a:noFill/>
            <a:ln w="6350">
              <a:solidFill>
                <a:srgbClr val="056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264D9887-6B37-8E98-92E1-3DAB6C56D299}"/>
              </a:ext>
            </a:extLst>
          </p:cNvPr>
          <p:cNvSpPr txBox="1"/>
          <p:nvPr/>
        </p:nvSpPr>
        <p:spPr>
          <a:xfrm>
            <a:off x="3639731" y="2181061"/>
            <a:ext cx="6113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not a straightforward meaning</a:t>
            </a:r>
          </a:p>
        </p:txBody>
      </p:sp>
    </p:spTree>
    <p:extLst>
      <p:ext uri="{BB962C8B-B14F-4D97-AF65-F5344CB8AC3E}">
        <p14:creationId xmlns:p14="http://schemas.microsoft.com/office/powerpoint/2010/main" val="1698202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563C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Important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Qubit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Unitaries</a:t>
            </a:r>
            <a:endParaRPr lang="it-IT" sz="3600" dirty="0">
              <a:solidFill>
                <a:schemeClr val="bg1"/>
              </a:solidFill>
            </a:endParaRPr>
          </a:p>
        </p:txBody>
      </p:sp>
      <p:pic>
        <p:nvPicPr>
          <p:cNvPr id="7" name="Picture 6" descr="txp_fig">
            <a:extLst>
              <a:ext uri="{FF2B5EF4-FFF2-40B4-BE49-F238E27FC236}">
                <a16:creationId xmlns:a16="http://schemas.microsoft.com/office/drawing/2014/main" id="{3E2622FC-8833-12D9-C08B-E5E348ED92E8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780" y="1753098"/>
            <a:ext cx="3059113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7F2258B-42F0-2994-2DC6-01B9C91C3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764" y="1884601"/>
            <a:ext cx="21786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Hadamard gate:</a:t>
            </a:r>
          </a:p>
        </p:txBody>
      </p:sp>
      <p:pic>
        <p:nvPicPr>
          <p:cNvPr id="9" name="Picture 8" descr="txp_fig">
            <a:extLst>
              <a:ext uri="{FF2B5EF4-FFF2-40B4-BE49-F238E27FC236}">
                <a16:creationId xmlns:a16="http://schemas.microsoft.com/office/drawing/2014/main" id="{65269A96-23FA-93ED-E9C6-DAC548050895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361" y="2793466"/>
            <a:ext cx="846138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 descr="txp_fig">
            <a:extLst>
              <a:ext uri="{FF2B5EF4-FFF2-40B4-BE49-F238E27FC236}">
                <a16:creationId xmlns:a16="http://schemas.microsoft.com/office/drawing/2014/main" id="{CF3A0001-1385-63C8-61D6-EE4C7F0970B3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3694586"/>
            <a:ext cx="7351713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0" descr="txp_fig">
            <a:extLst>
              <a:ext uri="{FF2B5EF4-FFF2-40B4-BE49-F238E27FC236}">
                <a16:creationId xmlns:a16="http://schemas.microsoft.com/office/drawing/2014/main" id="{0F63109B-DAC5-8463-1283-BC0F7B9C10B7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550" y="5045149"/>
            <a:ext cx="3084513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 descr="txp_fig">
            <a:extLst>
              <a:ext uri="{FF2B5EF4-FFF2-40B4-BE49-F238E27FC236}">
                <a16:creationId xmlns:a16="http://schemas.microsoft.com/office/drawing/2014/main" id="{4B1BF644-8863-F6A3-CA4F-11B78FC01603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150" y="5121350"/>
            <a:ext cx="2822575" cy="62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490DBF-326C-59BC-EDE4-9AA5372D8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391" y="1344477"/>
            <a:ext cx="1669312" cy="1814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F44E2F8-C955-F650-090A-2FC8F7C9C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914" y="3133011"/>
            <a:ext cx="30383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it-IT" dirty="0">
                <a:solidFill>
                  <a:srgbClr val="0563C1"/>
                </a:solidFill>
              </a:rPr>
              <a:t>Jacques Hadamard 1865-1963</a:t>
            </a:r>
          </a:p>
        </p:txBody>
      </p:sp>
      <p:pic>
        <p:nvPicPr>
          <p:cNvPr id="15" name="Picture 14" descr="txp_fig">
            <a:extLst>
              <a:ext uri="{FF2B5EF4-FFF2-40B4-BE49-F238E27FC236}">
                <a16:creationId xmlns:a16="http://schemas.microsoft.com/office/drawing/2014/main" id="{C6C9EC04-D290-846A-FCBD-B4D45A14CF32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219" y="6170993"/>
            <a:ext cx="44465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6435C17A-29E0-3282-3EB9-33DD72CC696D}"/>
              </a:ext>
            </a:extLst>
          </p:cNvPr>
          <p:cNvCxnSpPr>
            <a:cxnSpLocks/>
          </p:cNvCxnSpPr>
          <p:nvPr/>
        </p:nvCxnSpPr>
        <p:spPr>
          <a:xfrm>
            <a:off x="0" y="3521002"/>
            <a:ext cx="12222126" cy="10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111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563C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Circuit </a:t>
            </a:r>
            <a:r>
              <a:rPr lang="it-IT" sz="3600" dirty="0" err="1">
                <a:solidFill>
                  <a:schemeClr val="bg1"/>
                </a:solidFill>
              </a:rPr>
              <a:t>Elements</a:t>
            </a:r>
            <a:endParaRPr lang="it-IT" sz="3600" dirty="0">
              <a:solidFill>
                <a:schemeClr val="bg1"/>
              </a:solidFill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B7CA7ABE-BB3B-BD2D-F24E-791FFEEC34BB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429" y="1290052"/>
            <a:ext cx="14478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B26BE814-B24A-D7B6-9506-80D0DF4F3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120" y="1245533"/>
            <a:ext cx="28276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single qubit rotations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E8810386-E9EA-B841-36A7-00D9CFB2EAF9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966" y="2004999"/>
            <a:ext cx="1338263" cy="84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3">
            <a:extLst>
              <a:ext uri="{FF2B5EF4-FFF2-40B4-BE49-F238E27FC236}">
                <a16:creationId xmlns:a16="http://schemas.microsoft.com/office/drawing/2014/main" id="{CA86C2BB-23E9-1BE1-6882-2B85659FE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120" y="2155117"/>
            <a:ext cx="2659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two qubit rotations</a:t>
            </a:r>
          </a:p>
        </p:txBody>
      </p:sp>
      <p:pic>
        <p:nvPicPr>
          <p:cNvPr id="9" name="Picture 15">
            <a:extLst>
              <a:ext uri="{FF2B5EF4-FFF2-40B4-BE49-F238E27FC236}">
                <a16:creationId xmlns:a16="http://schemas.microsoft.com/office/drawing/2014/main" id="{56BA8387-4D6E-DB1B-6812-AEE478A453BF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904" y="3214574"/>
            <a:ext cx="1076325" cy="62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7">
            <a:extLst>
              <a:ext uri="{FF2B5EF4-FFF2-40B4-BE49-F238E27FC236}">
                <a16:creationId xmlns:a16="http://schemas.microsoft.com/office/drawing/2014/main" id="{A3E75A1F-8B92-45BA-0C07-462718E55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324" y="3292957"/>
            <a:ext cx="20960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controlled-NOT</a:t>
            </a:r>
          </a:p>
        </p:txBody>
      </p:sp>
      <p:pic>
        <p:nvPicPr>
          <p:cNvPr id="13" name="Picture 19">
            <a:extLst>
              <a:ext uri="{FF2B5EF4-FFF2-40B4-BE49-F238E27FC236}">
                <a16:creationId xmlns:a16="http://schemas.microsoft.com/office/drawing/2014/main" id="{D5232526-6B0A-664D-B5C9-6E0E2A5F61DA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397" y="2985975"/>
            <a:ext cx="17526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21">
            <a:extLst>
              <a:ext uri="{FF2B5EF4-FFF2-40B4-BE49-F238E27FC236}">
                <a16:creationId xmlns:a16="http://schemas.microsoft.com/office/drawing/2014/main" id="{B29D1F5D-A701-A743-789D-C023E6984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903" y="2985973"/>
            <a:ext cx="1100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75047E4D-3EC2-9605-7EDD-88A8F3CE3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891" y="3519373"/>
            <a:ext cx="963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target</a:t>
            </a:r>
          </a:p>
        </p:txBody>
      </p:sp>
      <p:pic>
        <p:nvPicPr>
          <p:cNvPr id="16" name="Picture 24">
            <a:extLst>
              <a:ext uri="{FF2B5EF4-FFF2-40B4-BE49-F238E27FC236}">
                <a16:creationId xmlns:a16="http://schemas.microsoft.com/office/drawing/2014/main" id="{844D38B1-CA4E-E28E-23B8-297525E109EF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785" y="2836749"/>
            <a:ext cx="1198562" cy="23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6">
            <a:extLst>
              <a:ext uri="{FF2B5EF4-FFF2-40B4-BE49-F238E27FC236}">
                <a16:creationId xmlns:a16="http://schemas.microsoft.com/office/drawing/2014/main" id="{A25F4BBE-0A08-E3EF-578B-B0A6D6282D28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198" y="3214574"/>
            <a:ext cx="1198563" cy="23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8">
            <a:extLst>
              <a:ext uri="{FF2B5EF4-FFF2-40B4-BE49-F238E27FC236}">
                <a16:creationId xmlns:a16="http://schemas.microsoft.com/office/drawing/2014/main" id="{62A5AF97-86A1-6FDF-AA7C-101D5332CECD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785" y="3598749"/>
            <a:ext cx="1198562" cy="23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30">
            <a:extLst>
              <a:ext uri="{FF2B5EF4-FFF2-40B4-BE49-F238E27FC236}">
                <a16:creationId xmlns:a16="http://schemas.microsoft.com/office/drawing/2014/main" id="{B46B107F-DB9C-6B78-720A-858F7933F9A5}"/>
              </a:ext>
            </a:extLst>
          </p:cNvPr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198" y="3968638"/>
            <a:ext cx="1198563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33">
            <a:extLst>
              <a:ext uri="{FF2B5EF4-FFF2-40B4-BE49-F238E27FC236}">
                <a16:creationId xmlns:a16="http://schemas.microsoft.com/office/drawing/2014/main" id="{D8FF6C64-3AF9-B388-8AF1-34BC1DC16E16}"/>
              </a:ext>
            </a:extLst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029" y="4621015"/>
            <a:ext cx="1219200" cy="72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Rectangle 34">
            <a:extLst>
              <a:ext uri="{FF2B5EF4-FFF2-40B4-BE49-F238E27FC236}">
                <a16:creationId xmlns:a16="http://schemas.microsoft.com/office/drawing/2014/main" id="{CFDC19E2-9E75-B16C-7837-4DEC7FE4C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991" y="4379714"/>
            <a:ext cx="1100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30" name="Rectangle 35">
            <a:extLst>
              <a:ext uri="{FF2B5EF4-FFF2-40B4-BE49-F238E27FC236}">
                <a16:creationId xmlns:a16="http://schemas.microsoft.com/office/drawing/2014/main" id="{C53D1317-E0B2-F3AF-C11F-39C619386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979" y="4913114"/>
            <a:ext cx="963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target</a:t>
            </a:r>
          </a:p>
        </p:txBody>
      </p:sp>
      <p:sp>
        <p:nvSpPr>
          <p:cNvPr id="31" name="Rectangle 37">
            <a:extLst>
              <a:ext uri="{FF2B5EF4-FFF2-40B4-BE49-F238E27FC236}">
                <a16:creationId xmlns:a16="http://schemas.microsoft.com/office/drawing/2014/main" id="{912A68AE-714B-4363-E8B4-3C55FF137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269" y="4661084"/>
            <a:ext cx="1748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controlled-U</a:t>
            </a:r>
          </a:p>
        </p:txBody>
      </p:sp>
      <p:pic>
        <p:nvPicPr>
          <p:cNvPr id="32" name="Picture 39">
            <a:extLst>
              <a:ext uri="{FF2B5EF4-FFF2-40B4-BE49-F238E27FC236}">
                <a16:creationId xmlns:a16="http://schemas.microsoft.com/office/drawing/2014/main" id="{C0122CA4-677C-EE12-1DFC-B271400DBB67}"/>
              </a:ext>
            </a:extLst>
          </p:cNvPr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735" y="4434568"/>
            <a:ext cx="22860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41">
            <a:extLst>
              <a:ext uri="{FF2B5EF4-FFF2-40B4-BE49-F238E27FC236}">
                <a16:creationId xmlns:a16="http://schemas.microsoft.com/office/drawing/2014/main" id="{EDECE2D7-7EA7-39C3-B26E-DF1DEF9E23AF}"/>
              </a:ext>
            </a:extLst>
          </p:cNvPr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028" y="5944150"/>
            <a:ext cx="1133475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Rectangle 43">
            <a:extLst>
              <a:ext uri="{FF2B5EF4-FFF2-40B4-BE49-F238E27FC236}">
                <a16:creationId xmlns:a16="http://schemas.microsoft.com/office/drawing/2014/main" id="{8D10870A-CA19-3773-935A-107581356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324" y="6029211"/>
            <a:ext cx="4687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measurement in the                 basis </a:t>
            </a:r>
          </a:p>
        </p:txBody>
      </p:sp>
      <p:pic>
        <p:nvPicPr>
          <p:cNvPr id="35" name="Picture 44">
            <a:extLst>
              <a:ext uri="{FF2B5EF4-FFF2-40B4-BE49-F238E27FC236}">
                <a16:creationId xmlns:a16="http://schemas.microsoft.com/office/drawing/2014/main" id="{6C80E6CA-B53A-0C46-BFCC-8C6324F16FCF}"/>
              </a:ext>
            </a:extLst>
          </p:cNvPr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558" y="6134650"/>
            <a:ext cx="928687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3576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Composer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ABEAF2F7-E5BA-50FC-5DCF-E14E1FDF85C3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E96AEED5-AE4A-B7B6-DFCE-9DB4B500C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Composer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Rettangolo smussato 6">
              <a:extLst>
                <a:ext uri="{FF2B5EF4-FFF2-40B4-BE49-F238E27FC236}">
                  <a16:creationId xmlns:a16="http://schemas.microsoft.com/office/drawing/2014/main" id="{BA491C46-6392-9717-0B41-41290FEB57F6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447560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Qiskit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Introduction</a:t>
            </a:r>
            <a:endParaRPr lang="it-IT" sz="3600" dirty="0">
              <a:solidFill>
                <a:schemeClr val="bg1"/>
              </a:solidFill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ABEAF2F7-E5BA-50FC-5DCF-E14E1FDF85C3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E96AEED5-AE4A-B7B6-DFCE-9DB4B500C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</a:t>
              </a:r>
              <a:r>
                <a:rPr lang="en-US" altLang="it-IT" sz="4400" b="1" dirty="0" err="1">
                  <a:solidFill>
                    <a:srgbClr val="FF0000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Qiskit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Rettangolo smussato 6">
              <a:extLst>
                <a:ext uri="{FF2B5EF4-FFF2-40B4-BE49-F238E27FC236}">
                  <a16:creationId xmlns:a16="http://schemas.microsoft.com/office/drawing/2014/main" id="{BA491C46-6392-9717-0B41-41290FEB57F6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287803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Main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Algorithms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as</a:t>
            </a:r>
            <a:r>
              <a:rPr lang="it-IT" sz="3600" dirty="0">
                <a:solidFill>
                  <a:schemeClr val="bg1"/>
                </a:solidFill>
              </a:rPr>
              <a:t> «Lego Bricks»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23AD9454-EADC-3633-976F-D50C9A4D843E}"/>
              </a:ext>
            </a:extLst>
          </p:cNvPr>
          <p:cNvGrpSpPr/>
          <p:nvPr/>
        </p:nvGrpSpPr>
        <p:grpSpPr>
          <a:xfrm>
            <a:off x="499730" y="1600199"/>
            <a:ext cx="11355572" cy="1200329"/>
            <a:chOff x="499730" y="1600199"/>
            <a:chExt cx="11355572" cy="1200329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6560795A-9028-9A5A-83E4-80BB96C984F3}"/>
                </a:ext>
              </a:extLst>
            </p:cNvPr>
            <p:cNvSpPr txBox="1"/>
            <p:nvPr/>
          </p:nvSpPr>
          <p:spPr>
            <a:xfrm>
              <a:off x="499730" y="1600199"/>
              <a:ext cx="42370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3600" dirty="0" err="1">
                  <a:solidFill>
                    <a:srgbClr val="0563C1"/>
                  </a:solidFill>
                </a:rPr>
                <a:t>Teleportation</a:t>
              </a:r>
              <a:endParaRPr lang="it-IT" sz="3600" dirty="0">
                <a:solidFill>
                  <a:srgbClr val="0563C1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3600" dirty="0" err="1">
                  <a:solidFill>
                    <a:srgbClr val="0563C1"/>
                  </a:solidFill>
                </a:rPr>
                <a:t>Superdense</a:t>
              </a:r>
              <a:r>
                <a:rPr lang="it-IT" sz="3600" dirty="0">
                  <a:solidFill>
                    <a:srgbClr val="0563C1"/>
                  </a:solidFill>
                </a:rPr>
                <a:t> Coding</a:t>
              </a:r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2A0F918D-C807-DDFD-80D8-8420C84489EC}"/>
                </a:ext>
              </a:extLst>
            </p:cNvPr>
            <p:cNvSpPr txBox="1"/>
            <p:nvPr/>
          </p:nvSpPr>
          <p:spPr>
            <a:xfrm>
              <a:off x="6994450" y="1982785"/>
              <a:ext cx="48608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600" dirty="0">
                  <a:solidFill>
                    <a:srgbClr val="0563C1"/>
                  </a:solidFill>
                </a:rPr>
                <a:t>Quantum </a:t>
              </a:r>
              <a:r>
                <a:rPr lang="it-IT" sz="3600" dirty="0" err="1">
                  <a:solidFill>
                    <a:srgbClr val="0563C1"/>
                  </a:solidFill>
                </a:rPr>
                <a:t>Cryptography</a:t>
              </a:r>
              <a:endParaRPr lang="it-IT" sz="3600" dirty="0">
                <a:solidFill>
                  <a:srgbClr val="0563C1"/>
                </a:solidFill>
              </a:endParaRPr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6D94D3F9-C4EE-D5D2-3D2A-126D5328C3D9}"/>
              </a:ext>
            </a:extLst>
          </p:cNvPr>
          <p:cNvGrpSpPr/>
          <p:nvPr/>
        </p:nvGrpSpPr>
        <p:grpSpPr>
          <a:xfrm>
            <a:off x="588334" y="4606223"/>
            <a:ext cx="11266968" cy="646331"/>
            <a:chOff x="588334" y="4606223"/>
            <a:chExt cx="11266968" cy="646331"/>
          </a:xfrm>
        </p:grpSpPr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22BF9438-8F20-2097-5F57-EE8BB53442FA}"/>
                </a:ext>
              </a:extLst>
            </p:cNvPr>
            <p:cNvSpPr txBox="1"/>
            <p:nvPr/>
          </p:nvSpPr>
          <p:spPr>
            <a:xfrm>
              <a:off x="588334" y="4606223"/>
              <a:ext cx="59187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it-IT" sz="3600" dirty="0">
                  <a:solidFill>
                    <a:srgbClr val="0563C1"/>
                  </a:solidFill>
                </a:rPr>
                <a:t>Grover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748351AB-9938-AC3A-D8F0-10FA32835C11}"/>
                </a:ext>
              </a:extLst>
            </p:cNvPr>
            <p:cNvSpPr txBox="1"/>
            <p:nvPr/>
          </p:nvSpPr>
          <p:spPr>
            <a:xfrm>
              <a:off x="6994450" y="4606223"/>
              <a:ext cx="48608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600" dirty="0" err="1">
                  <a:solidFill>
                    <a:srgbClr val="0563C1"/>
                  </a:solidFill>
                </a:rPr>
                <a:t>Search</a:t>
              </a:r>
              <a:r>
                <a:rPr lang="it-IT" sz="3600" dirty="0">
                  <a:solidFill>
                    <a:srgbClr val="0563C1"/>
                  </a:solidFill>
                </a:rPr>
                <a:t> Speed-up</a:t>
              </a:r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208D26FA-D9B6-6E04-7DBE-02F7DB4DAD8B}"/>
              </a:ext>
            </a:extLst>
          </p:cNvPr>
          <p:cNvGrpSpPr/>
          <p:nvPr/>
        </p:nvGrpSpPr>
        <p:grpSpPr>
          <a:xfrm>
            <a:off x="462516" y="5645157"/>
            <a:ext cx="11392786" cy="1200329"/>
            <a:chOff x="462516" y="5645157"/>
            <a:chExt cx="11392786" cy="1200329"/>
          </a:xfrm>
        </p:grpSpPr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24C1D226-059F-0C28-98D3-3DD14BFF4486}"/>
                </a:ext>
              </a:extLst>
            </p:cNvPr>
            <p:cNvSpPr txBox="1"/>
            <p:nvPr/>
          </p:nvSpPr>
          <p:spPr>
            <a:xfrm>
              <a:off x="462516" y="5645157"/>
              <a:ext cx="48608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rgbClr val="0563C1"/>
                </a:buClr>
                <a:buFont typeface="Arial" panose="020B0604020202020204" pitchFamily="34" charset="0"/>
                <a:buChar char="•"/>
              </a:pPr>
              <a:r>
                <a:rPr lang="it-IT" sz="3600" dirty="0">
                  <a:solidFill>
                    <a:srgbClr val="FF0000"/>
                  </a:solidFill>
                </a:rPr>
                <a:t>Q</a:t>
              </a:r>
              <a:r>
                <a:rPr lang="it-IT" sz="3600" dirty="0">
                  <a:solidFill>
                    <a:srgbClr val="0563C1"/>
                  </a:solidFill>
                </a:rPr>
                <a:t>uantum </a:t>
              </a:r>
              <a:r>
                <a:rPr lang="it-IT" sz="3600" dirty="0" err="1">
                  <a:solidFill>
                    <a:srgbClr val="FF0000"/>
                  </a:solidFill>
                </a:rPr>
                <a:t>P</a:t>
              </a:r>
              <a:r>
                <a:rPr lang="it-IT" sz="3600" dirty="0" err="1">
                  <a:solidFill>
                    <a:srgbClr val="0563C1"/>
                  </a:solidFill>
                </a:rPr>
                <a:t>hase</a:t>
              </a:r>
              <a:r>
                <a:rPr lang="it-IT" sz="3600" dirty="0">
                  <a:solidFill>
                    <a:srgbClr val="0563C1"/>
                  </a:solidFill>
                </a:rPr>
                <a:t> </a:t>
              </a:r>
              <a:r>
                <a:rPr lang="it-IT" sz="3600" dirty="0" err="1">
                  <a:solidFill>
                    <a:srgbClr val="FF0000"/>
                  </a:solidFill>
                </a:rPr>
                <a:t>E</a:t>
              </a:r>
              <a:r>
                <a:rPr lang="it-IT" sz="3600" dirty="0" err="1">
                  <a:solidFill>
                    <a:srgbClr val="0563C1"/>
                  </a:solidFill>
                </a:rPr>
                <a:t>stimation</a:t>
              </a:r>
              <a:r>
                <a:rPr lang="it-IT" sz="3600" dirty="0">
                  <a:solidFill>
                    <a:srgbClr val="0563C1"/>
                  </a:solidFill>
                </a:rPr>
                <a:t> (</a:t>
              </a:r>
              <a:r>
                <a:rPr lang="it-IT" sz="3600" dirty="0">
                  <a:solidFill>
                    <a:srgbClr val="FF0000"/>
                  </a:solidFill>
                </a:rPr>
                <a:t>QPE</a:t>
              </a:r>
              <a:r>
                <a:rPr lang="it-IT" sz="3600" dirty="0">
                  <a:solidFill>
                    <a:srgbClr val="0563C1"/>
                  </a:solidFill>
                </a:rPr>
                <a:t>)</a:t>
              </a:r>
              <a:endParaRPr lang="it-IT" dirty="0">
                <a:solidFill>
                  <a:srgbClr val="0563C1"/>
                </a:solidFill>
              </a:endParaRP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B3421C3E-A956-1468-FAB0-33CD7982BD0E}"/>
                </a:ext>
              </a:extLst>
            </p:cNvPr>
            <p:cNvSpPr txBox="1"/>
            <p:nvPr/>
          </p:nvSpPr>
          <p:spPr>
            <a:xfrm>
              <a:off x="6994450" y="5831048"/>
              <a:ext cx="48608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600" dirty="0">
                  <a:solidFill>
                    <a:srgbClr val="0563C1"/>
                  </a:solidFill>
                </a:rPr>
                <a:t>Linear Algebra / </a:t>
              </a:r>
              <a:r>
                <a:rPr lang="it-IT" sz="3600" dirty="0" err="1">
                  <a:solidFill>
                    <a:srgbClr val="0563C1"/>
                  </a:solidFill>
                </a:rPr>
                <a:t>Shor</a:t>
              </a:r>
              <a:endParaRPr lang="it-IT" sz="3600" dirty="0">
                <a:solidFill>
                  <a:srgbClr val="0563C1"/>
                </a:solidFill>
              </a:endParaRPr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1B2D3995-B475-02DA-5DA1-98111E3C4B49}"/>
              </a:ext>
            </a:extLst>
          </p:cNvPr>
          <p:cNvGrpSpPr/>
          <p:nvPr/>
        </p:nvGrpSpPr>
        <p:grpSpPr>
          <a:xfrm>
            <a:off x="499730" y="3007242"/>
            <a:ext cx="11355572" cy="1200329"/>
            <a:chOff x="499730" y="3007242"/>
            <a:chExt cx="11355572" cy="1200329"/>
          </a:xfrm>
        </p:grpSpPr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FD144EE6-940F-9215-0D0B-6B59C93AB29E}"/>
                </a:ext>
              </a:extLst>
            </p:cNvPr>
            <p:cNvGrpSpPr/>
            <p:nvPr/>
          </p:nvGrpSpPr>
          <p:grpSpPr>
            <a:xfrm>
              <a:off x="499730" y="3007242"/>
              <a:ext cx="11355572" cy="1200329"/>
              <a:chOff x="499730" y="3007242"/>
              <a:chExt cx="11355572" cy="1200329"/>
            </a:xfrm>
          </p:grpSpPr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6A635C83-AEEA-C803-5222-783EAF20F719}"/>
                  </a:ext>
                </a:extLst>
              </p:cNvPr>
              <p:cNvSpPr txBox="1"/>
              <p:nvPr/>
            </p:nvSpPr>
            <p:spPr>
              <a:xfrm>
                <a:off x="499730" y="3007242"/>
                <a:ext cx="423707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3600" dirty="0" err="1">
                    <a:solidFill>
                      <a:srgbClr val="0563C1"/>
                    </a:solidFill>
                  </a:rPr>
                  <a:t>Deutsch</a:t>
                </a:r>
                <a:endParaRPr lang="it-IT" sz="3600" dirty="0">
                  <a:solidFill>
                    <a:srgbClr val="0563C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3600" dirty="0" err="1">
                    <a:solidFill>
                      <a:srgbClr val="0563C1"/>
                    </a:solidFill>
                  </a:rPr>
                  <a:t>Deutsch-Jozsa</a:t>
                </a:r>
                <a:endParaRPr lang="it-IT" sz="3600" dirty="0">
                  <a:solidFill>
                    <a:srgbClr val="0563C1"/>
                  </a:solidFill>
                </a:endParaRPr>
              </a:p>
            </p:txBody>
          </p:sp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FB3D44D0-0D0C-9063-DC3F-64A88E6C0FDF}"/>
                  </a:ext>
                </a:extLst>
              </p:cNvPr>
              <p:cNvSpPr txBox="1"/>
              <p:nvPr/>
            </p:nvSpPr>
            <p:spPr>
              <a:xfrm>
                <a:off x="6994450" y="3284240"/>
                <a:ext cx="48608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600" dirty="0">
                    <a:solidFill>
                      <a:srgbClr val="0563C1"/>
                    </a:solidFill>
                  </a:rPr>
                  <a:t>«Oracle» </a:t>
                </a:r>
                <a:r>
                  <a:rPr lang="it-IT" sz="3600" dirty="0" err="1">
                    <a:solidFill>
                      <a:srgbClr val="0563C1"/>
                    </a:solidFill>
                  </a:rPr>
                  <a:t>Problems</a:t>
                </a:r>
                <a:endParaRPr lang="it-IT" sz="3600" dirty="0">
                  <a:solidFill>
                    <a:srgbClr val="0563C1"/>
                  </a:solidFill>
                </a:endParaRPr>
              </a:p>
            </p:txBody>
          </p:sp>
        </p:grp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E465E306-E845-7A4A-359F-54F3C98F9382}"/>
                </a:ext>
              </a:extLst>
            </p:cNvPr>
            <p:cNvSpPr txBox="1"/>
            <p:nvPr/>
          </p:nvSpPr>
          <p:spPr>
            <a:xfrm>
              <a:off x="7804299" y="3735940"/>
              <a:ext cx="2200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800" dirty="0">
                  <a:solidFill>
                    <a:srgbClr val="0563C1"/>
                  </a:solidFill>
                </a:rPr>
                <a:t>(</a:t>
              </a:r>
              <a:r>
                <a:rPr lang="it-IT" sz="1800" dirty="0" err="1">
                  <a:solidFill>
                    <a:srgbClr val="0563C1"/>
                  </a:solidFill>
                </a:rPr>
                <a:t>guess</a:t>
              </a:r>
              <a:r>
                <a:rPr lang="it-IT" sz="1800" dirty="0">
                  <a:solidFill>
                    <a:srgbClr val="0563C1"/>
                  </a:solidFill>
                </a:rPr>
                <a:t> the </a:t>
              </a:r>
              <a:r>
                <a:rPr lang="it-IT" sz="1800" dirty="0" err="1">
                  <a:solidFill>
                    <a:srgbClr val="0563C1"/>
                  </a:solidFill>
                </a:rPr>
                <a:t>function</a:t>
              </a:r>
              <a:r>
                <a:rPr lang="it-IT" sz="1800" dirty="0">
                  <a:solidFill>
                    <a:srgbClr val="0563C1"/>
                  </a:solidFill>
                </a:rPr>
                <a:t>)</a:t>
              </a:r>
              <a:endParaRPr lang="it-IT" dirty="0">
                <a:solidFill>
                  <a:srgbClr val="0563C1"/>
                </a:solidFill>
              </a:endParaRPr>
            </a:p>
          </p:txBody>
        </p:sp>
      </p:grpSp>
      <p:sp>
        <p:nvSpPr>
          <p:cNvPr id="22" name="AutoShape 13">
            <a:extLst>
              <a:ext uri="{FF2B5EF4-FFF2-40B4-BE49-F238E27FC236}">
                <a16:creationId xmlns:a16="http://schemas.microsoft.com/office/drawing/2014/main" id="{9B6E52C5-0783-4AB1-308A-B241AD92F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217" y="2059414"/>
            <a:ext cx="1371634" cy="464114"/>
          </a:xfrm>
          <a:prstGeom prst="rightArrow">
            <a:avLst>
              <a:gd name="adj1" fmla="val 50000"/>
              <a:gd name="adj2" fmla="val 93750"/>
            </a:avLst>
          </a:prstGeom>
          <a:solidFill>
            <a:srgbClr val="0563C1"/>
          </a:solidFill>
          <a:ln w="9525">
            <a:solidFill>
              <a:srgbClr val="0563C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it-IT">
              <a:solidFill>
                <a:srgbClr val="0563C1"/>
              </a:solidFill>
            </a:endParaRPr>
          </a:p>
        </p:txBody>
      </p:sp>
      <p:sp>
        <p:nvSpPr>
          <p:cNvPr id="23" name="AutoShape 13">
            <a:extLst>
              <a:ext uri="{FF2B5EF4-FFF2-40B4-BE49-F238E27FC236}">
                <a16:creationId xmlns:a16="http://schemas.microsoft.com/office/drawing/2014/main" id="{37E26190-DCE8-F1A8-C80D-BFDDDACDF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217" y="3375348"/>
            <a:ext cx="1371634" cy="464114"/>
          </a:xfrm>
          <a:prstGeom prst="rightArrow">
            <a:avLst>
              <a:gd name="adj1" fmla="val 50000"/>
              <a:gd name="adj2" fmla="val 93750"/>
            </a:avLst>
          </a:prstGeom>
          <a:solidFill>
            <a:srgbClr val="0563C1"/>
          </a:solidFill>
          <a:ln w="9525">
            <a:solidFill>
              <a:srgbClr val="0563C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it-IT">
              <a:solidFill>
                <a:srgbClr val="0563C1"/>
              </a:solidFill>
            </a:endParaRPr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0CBE707B-21C7-06E3-4F72-630066688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217" y="4683335"/>
            <a:ext cx="1371634" cy="464114"/>
          </a:xfrm>
          <a:prstGeom prst="rightArrow">
            <a:avLst>
              <a:gd name="adj1" fmla="val 50000"/>
              <a:gd name="adj2" fmla="val 93750"/>
            </a:avLst>
          </a:prstGeom>
          <a:solidFill>
            <a:srgbClr val="0563C1"/>
          </a:solidFill>
          <a:ln w="9525">
            <a:solidFill>
              <a:srgbClr val="0563C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it-IT">
              <a:solidFill>
                <a:srgbClr val="0563C1"/>
              </a:solidFill>
            </a:endParaRPr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F3FE9D83-4E0D-FD97-643E-C8BE95CAB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217" y="5922156"/>
            <a:ext cx="1371634" cy="464114"/>
          </a:xfrm>
          <a:prstGeom prst="rightArrow">
            <a:avLst>
              <a:gd name="adj1" fmla="val 50000"/>
              <a:gd name="adj2" fmla="val 93750"/>
            </a:avLst>
          </a:prstGeom>
          <a:solidFill>
            <a:srgbClr val="0563C1"/>
          </a:solidFill>
          <a:ln w="9525">
            <a:solidFill>
              <a:srgbClr val="0563C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it-IT">
              <a:solidFill>
                <a:srgbClr val="0563C1"/>
              </a:solidFill>
            </a:endParaRP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FB9800B0-A648-D00D-E792-381616D9751D}"/>
              </a:ext>
            </a:extLst>
          </p:cNvPr>
          <p:cNvCxnSpPr>
            <a:cxnSpLocks/>
          </p:cNvCxnSpPr>
          <p:nvPr/>
        </p:nvCxnSpPr>
        <p:spPr>
          <a:xfrm>
            <a:off x="0" y="2913207"/>
            <a:ext cx="12222126" cy="10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D17E2B85-122A-6F76-C0BD-E48A43323AE6}"/>
              </a:ext>
            </a:extLst>
          </p:cNvPr>
          <p:cNvCxnSpPr>
            <a:cxnSpLocks/>
          </p:cNvCxnSpPr>
          <p:nvPr/>
        </p:nvCxnSpPr>
        <p:spPr>
          <a:xfrm>
            <a:off x="0" y="4366971"/>
            <a:ext cx="12222126" cy="10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7A9BCF9D-862F-9E19-DDF7-09E4FBE550A8}"/>
              </a:ext>
            </a:extLst>
          </p:cNvPr>
          <p:cNvCxnSpPr>
            <a:cxnSpLocks/>
          </p:cNvCxnSpPr>
          <p:nvPr/>
        </p:nvCxnSpPr>
        <p:spPr>
          <a:xfrm>
            <a:off x="0" y="5452628"/>
            <a:ext cx="12222126" cy="10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66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7">
            <a:extLst>
              <a:ext uri="{FF2B5EF4-FFF2-40B4-BE49-F238E27FC236}">
                <a16:creationId xmlns:a16="http://schemas.microsoft.com/office/drawing/2014/main" id="{B54A39C7-1B7A-0562-9A7F-7EAF236A9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142" y="5732319"/>
            <a:ext cx="813707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it-IT" sz="2800" b="1" dirty="0">
                <a:solidFill>
                  <a:srgbClr val="FF0000"/>
                </a:solidFill>
                <a:cs typeface="Arial" panose="020B0604020202020204" pitchFamily="34" charset="0"/>
              </a:rPr>
              <a:t>This would be a procedure for extracting information from without effecting the state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563C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</a:t>
            </a:r>
            <a:r>
              <a:rPr lang="it-IT" sz="3600" dirty="0" err="1">
                <a:solidFill>
                  <a:schemeClr val="bg1"/>
                </a:solidFill>
              </a:rPr>
              <a:t>Teleportation</a:t>
            </a:r>
            <a:endParaRPr lang="it-IT" sz="3600" dirty="0">
              <a:solidFill>
                <a:schemeClr val="bg1"/>
              </a:solidFill>
            </a:endParaRPr>
          </a:p>
        </p:txBody>
      </p:sp>
      <p:pic>
        <p:nvPicPr>
          <p:cNvPr id="5" name="Picture 7" descr="txp_fig">
            <a:extLst>
              <a:ext uri="{FF2B5EF4-FFF2-40B4-BE49-F238E27FC236}">
                <a16:creationId xmlns:a16="http://schemas.microsoft.com/office/drawing/2014/main" id="{948350EC-C0F9-7B16-31E9-87786EBC7274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906" y="6287524"/>
            <a:ext cx="2571750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8">
            <a:extLst>
              <a:ext uri="{FF2B5EF4-FFF2-40B4-BE49-F238E27FC236}">
                <a16:creationId xmlns:a16="http://schemas.microsoft.com/office/drawing/2014/main" id="{803E5B9A-2ADC-B364-8874-C151ED08D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142" y="1359934"/>
            <a:ext cx="69725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3600" u="sng" dirty="0">
                <a:solidFill>
                  <a:srgbClr val="0563C1"/>
                </a:solidFill>
                <a:cs typeface="Arial" panose="020B0604020202020204" pitchFamily="34" charset="0"/>
              </a:rPr>
              <a:t>Alice wants to send her qubit to Bob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7F5F68DC-9231-05C0-E588-51D2B507E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3067" y="4426802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it-IT" altLang="it-IT" sz="2400">
              <a:solidFill>
                <a:srgbClr val="0563C1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4E2D03C6-6869-637A-B22E-21518FA75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141" y="3876135"/>
            <a:ext cx="818773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t-IT" sz="2800" dirty="0">
                <a:solidFill>
                  <a:srgbClr val="0563C1"/>
                </a:solidFill>
                <a:cs typeface="Arial" panose="020B0604020202020204" pitchFamily="34" charset="0"/>
              </a:rPr>
              <a:t>Alice and Bob share an entangled pair of qubits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t-IT" sz="2800" dirty="0">
                <a:solidFill>
                  <a:srgbClr val="0563C1"/>
                </a:solidFill>
                <a:cs typeface="Arial" panose="020B0604020202020204" pitchFamily="34" charset="0"/>
              </a:rPr>
              <a:t>Alice makes a measure on her state and send him classical bits of information about the outcome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it-IT" sz="2800" dirty="0">
                <a:solidFill>
                  <a:srgbClr val="0563C1"/>
                </a:solidFill>
                <a:cs typeface="Arial" panose="020B0604020202020204" pitchFamily="34" charset="0"/>
              </a:rPr>
              <a:t>Then Bob would have information about        as well</a:t>
            </a:r>
          </a:p>
        </p:txBody>
      </p:sp>
      <p:pic>
        <p:nvPicPr>
          <p:cNvPr id="10" name="Picture 11" descr="txp_fig">
            <a:extLst>
              <a:ext uri="{FF2B5EF4-FFF2-40B4-BE49-F238E27FC236}">
                <a16:creationId xmlns:a16="http://schemas.microsoft.com/office/drawing/2014/main" id="{0816B7FC-3919-AC2E-439C-3900947141D6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588" y="5293862"/>
            <a:ext cx="376237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Gruppo 18">
            <a:extLst>
              <a:ext uri="{FF2B5EF4-FFF2-40B4-BE49-F238E27FC236}">
                <a16:creationId xmlns:a16="http://schemas.microsoft.com/office/drawing/2014/main" id="{A9315432-502A-0FF6-51C4-E6DB7BE8DE20}"/>
              </a:ext>
            </a:extLst>
          </p:cNvPr>
          <p:cNvGrpSpPr/>
          <p:nvPr/>
        </p:nvGrpSpPr>
        <p:grpSpPr>
          <a:xfrm>
            <a:off x="2656781" y="2759334"/>
            <a:ext cx="6311807" cy="914400"/>
            <a:chOff x="3394769" y="2740746"/>
            <a:chExt cx="5831594" cy="914400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A7703932-FF04-490A-1C88-ED9D0396B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769" y="2937161"/>
              <a:ext cx="78739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 dirty="0">
                  <a:solidFill>
                    <a:srgbClr val="0563C1"/>
                  </a:solidFill>
                  <a:cs typeface="Arial" panose="020B0604020202020204" pitchFamily="34" charset="0"/>
                </a:rPr>
                <a:t>Alice</a:t>
              </a:r>
            </a:p>
          </p:txBody>
        </p: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0839835C-4AC9-E6EC-A479-05CA97D776A5}"/>
                </a:ext>
              </a:extLst>
            </p:cNvPr>
            <p:cNvGrpSpPr/>
            <p:nvPr/>
          </p:nvGrpSpPr>
          <p:grpSpPr>
            <a:xfrm>
              <a:off x="4437712" y="2740746"/>
              <a:ext cx="4788651" cy="914400"/>
              <a:chOff x="4437712" y="2740746"/>
              <a:chExt cx="4788651" cy="914400"/>
            </a:xfrm>
          </p:grpSpPr>
          <p:sp>
            <p:nvSpPr>
              <p:cNvPr id="12" name="AutoShape 13">
                <a:extLst>
                  <a:ext uri="{FF2B5EF4-FFF2-40B4-BE49-F238E27FC236}">
                    <a16:creationId xmlns:a16="http://schemas.microsoft.com/office/drawing/2014/main" id="{0DA982D7-58E4-6477-D8DC-36CBF0536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7712" y="2740746"/>
                <a:ext cx="3797601" cy="914400"/>
              </a:xfrm>
              <a:prstGeom prst="rightArrow">
                <a:avLst>
                  <a:gd name="adj1" fmla="val 50000"/>
                  <a:gd name="adj2" fmla="val 93750"/>
                </a:avLst>
              </a:prstGeom>
              <a:solidFill>
                <a:srgbClr val="0563C1"/>
              </a:solidFill>
              <a:ln w="9525">
                <a:solidFill>
                  <a:srgbClr val="0563C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it-IT">
                  <a:solidFill>
                    <a:srgbClr val="0563C1"/>
                  </a:solidFill>
                </a:endParaRPr>
              </a:p>
            </p:txBody>
          </p:sp>
          <p:sp>
            <p:nvSpPr>
              <p:cNvPr id="4" name="Rectangle 6">
                <a:extLst>
                  <a:ext uri="{FF2B5EF4-FFF2-40B4-BE49-F238E27FC236}">
                    <a16:creationId xmlns:a16="http://schemas.microsoft.com/office/drawing/2014/main" id="{BFF5A5A9-03E0-2AC5-BB3D-AE37F24DA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51178" y="2937161"/>
                <a:ext cx="67518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it-IT" sz="2400" dirty="0">
                    <a:solidFill>
                      <a:srgbClr val="0563C1"/>
                    </a:solidFill>
                    <a:cs typeface="Arial" panose="020B0604020202020204" pitchFamily="34" charset="0"/>
                  </a:rPr>
                  <a:t>Bob</a:t>
                </a:r>
              </a:p>
            </p:txBody>
          </p:sp>
          <p:sp>
            <p:nvSpPr>
              <p:cNvPr id="11" name="Rectangle 12">
                <a:extLst>
                  <a:ext uri="{FF2B5EF4-FFF2-40B4-BE49-F238E27FC236}">
                    <a16:creationId xmlns:a16="http://schemas.microsoft.com/office/drawing/2014/main" id="{E88C8822-9778-6B25-0FE1-BE063CFBD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6234" y="2936216"/>
                <a:ext cx="295704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it-IT" sz="24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classical communication</a:t>
                </a:r>
              </a:p>
            </p:txBody>
          </p:sp>
        </p:grpSp>
      </p:grp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1A65963-CAF1-35E2-2C74-80503E628F1F}"/>
              </a:ext>
            </a:extLst>
          </p:cNvPr>
          <p:cNvSpPr txBox="1"/>
          <p:nvPr/>
        </p:nvSpPr>
        <p:spPr>
          <a:xfrm>
            <a:off x="2565142" y="2084286"/>
            <a:ext cx="7521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it-IT" sz="2800" dirty="0">
                <a:solidFill>
                  <a:srgbClr val="0563C1"/>
                </a:solidFill>
                <a:cs typeface="Arial" panose="020B0604020202020204" pitchFamily="34" charset="0"/>
              </a:rPr>
              <a:t>She does not know the wave function of her qubit</a:t>
            </a:r>
          </a:p>
        </p:txBody>
      </p:sp>
    </p:spTree>
    <p:extLst>
      <p:ext uri="{BB962C8B-B14F-4D97-AF65-F5344CB8AC3E}">
        <p14:creationId xmlns:p14="http://schemas.microsoft.com/office/powerpoint/2010/main" val="771732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563C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</a:t>
            </a:r>
            <a:r>
              <a:rPr lang="it-IT" sz="3600" dirty="0" err="1">
                <a:solidFill>
                  <a:schemeClr val="bg1"/>
                </a:solidFill>
              </a:rPr>
              <a:t>Teleportation</a:t>
            </a:r>
            <a:endParaRPr lang="it-IT" sz="3600" dirty="0">
              <a:solidFill>
                <a:schemeClr val="bg1"/>
              </a:solidFill>
            </a:endParaRPr>
          </a:p>
        </p:txBody>
      </p:sp>
      <p:pic>
        <p:nvPicPr>
          <p:cNvPr id="23" name="Picture 9" descr="txp_fig">
            <a:extLst>
              <a:ext uri="{FF2B5EF4-FFF2-40B4-BE49-F238E27FC236}">
                <a16:creationId xmlns:a16="http://schemas.microsoft.com/office/drawing/2014/main" id="{28B37E18-9A12-D5CC-C425-A94D4AB6512E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417" y="1406144"/>
            <a:ext cx="2291409" cy="678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Rectangle 12">
            <a:extLst>
              <a:ext uri="{FF2B5EF4-FFF2-40B4-BE49-F238E27FC236}">
                <a16:creationId xmlns:a16="http://schemas.microsoft.com/office/drawing/2014/main" id="{88616BD7-EDCA-1131-CDB8-722A98D5B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6174" y="4378371"/>
            <a:ext cx="72582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800" dirty="0">
                <a:solidFill>
                  <a:srgbClr val="0563C1"/>
                </a:solidFill>
              </a:rPr>
              <a:t>So we have three qubits whose wave function is:</a:t>
            </a:r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025A733F-3997-1208-1812-A302CA28A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6174" y="2131828"/>
            <a:ext cx="59004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</a:rPr>
              <a:t> </a:t>
            </a:r>
            <a:r>
              <a:rPr lang="en-US" altLang="it-IT" sz="2800" dirty="0">
                <a:solidFill>
                  <a:srgbClr val="0563C1"/>
                </a:solidFill>
              </a:rPr>
              <a:t>Alice does not know the wave function</a:t>
            </a:r>
            <a:endParaRPr lang="en-US" altLang="it-IT" sz="2400" dirty="0">
              <a:solidFill>
                <a:srgbClr val="0563C1"/>
              </a:solidFill>
            </a:endParaRPr>
          </a:p>
        </p:txBody>
      </p: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2E04D9AE-AA3F-3516-EB8C-A8F5B3F07D6E}"/>
              </a:ext>
            </a:extLst>
          </p:cNvPr>
          <p:cNvGrpSpPr/>
          <p:nvPr/>
        </p:nvGrpSpPr>
        <p:grpSpPr>
          <a:xfrm>
            <a:off x="4135745" y="5019565"/>
            <a:ext cx="3920510" cy="1418449"/>
            <a:chOff x="2417468" y="5003616"/>
            <a:chExt cx="4041452" cy="1476078"/>
          </a:xfrm>
        </p:grpSpPr>
        <p:pic>
          <p:nvPicPr>
            <p:cNvPr id="27" name="Picture 13" descr="txp_fig">
              <a:extLst>
                <a:ext uri="{FF2B5EF4-FFF2-40B4-BE49-F238E27FC236}">
                  <a16:creationId xmlns:a16="http://schemas.microsoft.com/office/drawing/2014/main" id="{3FF03F18-5EE9-CEFA-E207-2669CF03B0C3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3880" y="5003616"/>
              <a:ext cx="3184525" cy="703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10FA981D-4071-73A6-6C2D-1FFDF0F1B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7468" y="6018028"/>
              <a:ext cx="11001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>
                  <a:solidFill>
                    <a:srgbClr val="0563C1"/>
                  </a:solidFill>
                </a:rPr>
                <a:t>qubit 1</a:t>
              </a:r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16D75A08-23F0-499A-A16F-A6528872D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604" y="6018029"/>
              <a:ext cx="25603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>
                  <a:solidFill>
                    <a:srgbClr val="0563C1"/>
                  </a:solidFill>
                </a:rPr>
                <a:t>qubit 2 and qubit 3</a:t>
              </a:r>
            </a:p>
          </p:txBody>
        </p:sp>
        <p:sp>
          <p:nvSpPr>
            <p:cNvPr id="30" name="AutoShape 16">
              <a:extLst>
                <a:ext uri="{FF2B5EF4-FFF2-40B4-BE49-F238E27FC236}">
                  <a16:creationId xmlns:a16="http://schemas.microsoft.com/office/drawing/2014/main" id="{F509A24A-D2D1-2130-C908-1921C84E64C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831804" y="5484628"/>
              <a:ext cx="533400" cy="5334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>
                <a:solidFill>
                  <a:srgbClr val="0563C1"/>
                </a:solidFill>
              </a:endParaRPr>
            </a:p>
          </p:txBody>
        </p:sp>
        <p:sp>
          <p:nvSpPr>
            <p:cNvPr id="32" name="AutoShape 18">
              <a:extLst>
                <a:ext uri="{FF2B5EF4-FFF2-40B4-BE49-F238E27FC236}">
                  <a16:creationId xmlns:a16="http://schemas.microsoft.com/office/drawing/2014/main" id="{86DD93AC-4907-25A4-9C39-F2669B89603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660604" y="4570228"/>
              <a:ext cx="533400" cy="2362200"/>
            </a:xfrm>
            <a:prstGeom prst="leftBrace">
              <a:avLst>
                <a:gd name="adj1" fmla="val 3690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>
                <a:solidFill>
                  <a:srgbClr val="0563C1"/>
                </a:solidFill>
              </a:endParaRPr>
            </a:p>
          </p:txBody>
        </p:sp>
      </p:grpSp>
      <p:sp>
        <p:nvSpPr>
          <p:cNvPr id="33" name="Rectangle 17">
            <a:extLst>
              <a:ext uri="{FF2B5EF4-FFF2-40B4-BE49-F238E27FC236}">
                <a16:creationId xmlns:a16="http://schemas.microsoft.com/office/drawing/2014/main" id="{15ECA2E2-00D9-E622-1DBA-763F7FCCD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6174" y="1422997"/>
            <a:ext cx="6142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</a:rPr>
              <a:t> </a:t>
            </a:r>
            <a:r>
              <a:rPr lang="en-US" altLang="it-IT" sz="2800" dirty="0">
                <a:solidFill>
                  <a:srgbClr val="0563C1"/>
                </a:solidFill>
              </a:rPr>
              <a:t>Alice shares with Bob an entangled state</a:t>
            </a:r>
            <a:endParaRPr lang="en-US" altLang="it-IT" sz="2400" dirty="0">
              <a:solidFill>
                <a:srgbClr val="0563C1"/>
              </a:solidFill>
            </a:endParaRPr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126109E8-7A48-07B9-48A1-0B9FD1C6230A}"/>
              </a:ext>
            </a:extLst>
          </p:cNvPr>
          <p:cNvGrpSpPr/>
          <p:nvPr/>
        </p:nvGrpSpPr>
        <p:grpSpPr>
          <a:xfrm>
            <a:off x="2696325" y="2966198"/>
            <a:ext cx="6799350" cy="1126149"/>
            <a:chOff x="2222204" y="3118922"/>
            <a:chExt cx="6799350" cy="1126149"/>
          </a:xfrm>
        </p:grpSpPr>
        <p:sp>
          <p:nvSpPr>
            <p:cNvPr id="20" name="Oval 3">
              <a:extLst>
                <a:ext uri="{FF2B5EF4-FFF2-40B4-BE49-F238E27FC236}">
                  <a16:creationId xmlns:a16="http://schemas.microsoft.com/office/drawing/2014/main" id="{A674BD94-4574-39E5-11C8-DDC3EA808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6725" y="3406871"/>
              <a:ext cx="838200" cy="838200"/>
            </a:xfrm>
            <a:prstGeom prst="ellipse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>
                <a:solidFill>
                  <a:srgbClr val="0563C1"/>
                </a:solidFill>
              </a:endParaRPr>
            </a:p>
          </p:txBody>
        </p:sp>
        <p:sp>
          <p:nvSpPr>
            <p:cNvPr id="21" name="Text Box 4">
              <a:extLst>
                <a:ext uri="{FF2B5EF4-FFF2-40B4-BE49-F238E27FC236}">
                  <a16:creationId xmlns:a16="http://schemas.microsoft.com/office/drawing/2014/main" id="{487E51E1-9BB5-7A66-F100-BBB16A24A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204" y="3118922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it-IT" sz="2400" dirty="0">
                  <a:solidFill>
                    <a:srgbClr val="0563C1"/>
                  </a:solidFill>
                </a:rPr>
                <a:t>ALICE</a:t>
              </a:r>
            </a:p>
          </p:txBody>
        </p:sp>
        <p:sp>
          <p:nvSpPr>
            <p:cNvPr id="22" name="Text Box 7">
              <a:extLst>
                <a:ext uri="{FF2B5EF4-FFF2-40B4-BE49-F238E27FC236}">
                  <a16:creationId xmlns:a16="http://schemas.microsoft.com/office/drawing/2014/main" id="{E8040A34-78F5-37D1-FCAF-A50B7B7B0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3354" y="311892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it-IT" sz="2400" dirty="0">
                  <a:solidFill>
                    <a:srgbClr val="0563C1"/>
                  </a:solidFill>
                </a:rPr>
                <a:t>BOB</a:t>
              </a:r>
            </a:p>
          </p:txBody>
        </p:sp>
        <p:sp>
          <p:nvSpPr>
            <p:cNvPr id="24" name="Oval 10">
              <a:extLst>
                <a:ext uri="{FF2B5EF4-FFF2-40B4-BE49-F238E27FC236}">
                  <a16:creationId xmlns:a16="http://schemas.microsoft.com/office/drawing/2014/main" id="{1A082DB8-A19E-E474-3499-AB8FF503B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204" y="3406871"/>
              <a:ext cx="838200" cy="83820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>
                <a:solidFill>
                  <a:srgbClr val="0563C1"/>
                </a:solidFill>
              </a:endParaRPr>
            </a:p>
          </p:txBody>
        </p:sp>
        <p:pic>
          <p:nvPicPr>
            <p:cNvPr id="25" name="Picture 11" descr="txp_fig">
              <a:extLst>
                <a:ext uri="{FF2B5EF4-FFF2-40B4-BE49-F238E27FC236}">
                  <a16:creationId xmlns:a16="http://schemas.microsoft.com/office/drawing/2014/main" id="{3DC1FB5C-C564-D663-FAB3-54E90192D205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0405" y="3647855"/>
              <a:ext cx="2803452" cy="356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4" name="AutoShape 13">
              <a:extLst>
                <a:ext uri="{FF2B5EF4-FFF2-40B4-BE49-F238E27FC236}">
                  <a16:creationId xmlns:a16="http://schemas.microsoft.com/office/drawing/2014/main" id="{0E17E047-8679-966F-C277-7BD4833F2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8404" y="3552976"/>
              <a:ext cx="1743774" cy="544383"/>
            </a:xfrm>
            <a:prstGeom prst="rightArrow">
              <a:avLst>
                <a:gd name="adj1" fmla="val 50000"/>
                <a:gd name="adj2" fmla="val 93750"/>
              </a:avLst>
            </a:prstGeom>
            <a:solidFill>
              <a:srgbClr val="0563C1"/>
            </a:solidFill>
            <a:ln w="9525">
              <a:solidFill>
                <a:srgbClr val="0563C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t-IT">
                <a:solidFill>
                  <a:srgbClr val="0563C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4751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563C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</a:t>
            </a:r>
            <a:r>
              <a:rPr lang="it-IT" sz="3600" dirty="0" err="1">
                <a:solidFill>
                  <a:schemeClr val="bg1"/>
                </a:solidFill>
              </a:rPr>
              <a:t>Teleportation</a:t>
            </a:r>
            <a:endParaRPr lang="it-IT" sz="3600" dirty="0">
              <a:solidFill>
                <a:schemeClr val="bg1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D6C4E11-1505-87F0-0E6D-3EBD255C6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958" y="1607616"/>
            <a:ext cx="10067519" cy="3116635"/>
          </a:xfrm>
          <a:prstGeom prst="rect">
            <a:avLst/>
          </a:prstGeom>
        </p:spPr>
      </p:pic>
      <p:sp>
        <p:nvSpPr>
          <p:cNvPr id="33" name="Rectangle 17">
            <a:extLst>
              <a:ext uri="{FF2B5EF4-FFF2-40B4-BE49-F238E27FC236}">
                <a16:creationId xmlns:a16="http://schemas.microsoft.com/office/drawing/2014/main" id="{15ECA2E2-00D9-E622-1DBA-763F7FCCD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580" y="1281259"/>
            <a:ext cx="82221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3200" dirty="0">
                <a:solidFill>
                  <a:srgbClr val="0563C1"/>
                </a:solidFill>
              </a:rPr>
              <a:t>Quantum Circuit used to simulate Teleportation: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D8AF8BCD-B224-9318-2A1D-E9347B110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579" y="5576741"/>
            <a:ext cx="34003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800" dirty="0">
                <a:solidFill>
                  <a:srgbClr val="0563C1"/>
                </a:solidFill>
              </a:rPr>
              <a:t>Bob reads them and if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492C0DC-3D4A-2A3D-FD61-900D75C34091}"/>
              </a:ext>
            </a:extLst>
          </p:cNvPr>
          <p:cNvSpPr txBox="1"/>
          <p:nvPr/>
        </p:nvSpPr>
        <p:spPr>
          <a:xfrm>
            <a:off x="5178056" y="5076375"/>
            <a:ext cx="28654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563C1"/>
                </a:solidFill>
              </a:rPr>
              <a:t>00 → does nothing</a:t>
            </a:r>
          </a:p>
          <a:p>
            <a:r>
              <a:rPr lang="en-US" sz="2400" dirty="0">
                <a:solidFill>
                  <a:srgbClr val="0563C1"/>
                </a:solidFill>
              </a:rPr>
              <a:t>01 → applies  X gate</a:t>
            </a:r>
          </a:p>
          <a:p>
            <a:r>
              <a:rPr lang="en-US" sz="2400" dirty="0">
                <a:solidFill>
                  <a:srgbClr val="0563C1"/>
                </a:solidFill>
              </a:rPr>
              <a:t>10 → applies  Z gate</a:t>
            </a:r>
          </a:p>
          <a:p>
            <a:r>
              <a:rPr lang="en-US" sz="2400" dirty="0">
                <a:solidFill>
                  <a:srgbClr val="0563C1"/>
                </a:solidFill>
              </a:rPr>
              <a:t>11 → applies ZX gate</a:t>
            </a:r>
            <a:endParaRPr lang="it-IT" sz="2400" dirty="0">
              <a:solidFill>
                <a:srgbClr val="0563C1"/>
              </a:solidFill>
            </a:endParaRP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10C4F74-A3DE-75C5-6547-7FD924B7D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579" y="4465832"/>
            <a:ext cx="89845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800" dirty="0">
                <a:solidFill>
                  <a:srgbClr val="0563C1"/>
                </a:solidFill>
              </a:rPr>
              <a:t>Alice makes a measure on q</a:t>
            </a:r>
            <a:r>
              <a:rPr lang="en-US" altLang="it-IT" sz="2800" baseline="-25000" dirty="0">
                <a:solidFill>
                  <a:srgbClr val="0563C1"/>
                </a:solidFill>
              </a:rPr>
              <a:t>0</a:t>
            </a:r>
            <a:r>
              <a:rPr lang="en-US" altLang="it-IT" sz="2800" dirty="0">
                <a:solidFill>
                  <a:srgbClr val="0563C1"/>
                </a:solidFill>
              </a:rPr>
              <a:t> and q</a:t>
            </a:r>
            <a:r>
              <a:rPr lang="en-US" altLang="it-IT" sz="2800" baseline="-25000" dirty="0">
                <a:solidFill>
                  <a:srgbClr val="0563C1"/>
                </a:solidFill>
              </a:rPr>
              <a:t>1 </a:t>
            </a:r>
            <a:r>
              <a:rPr lang="en-US" altLang="it-IT" sz="2800" dirty="0">
                <a:solidFill>
                  <a:srgbClr val="0563C1"/>
                </a:solidFill>
              </a:rPr>
              <a:t>and send the bits to Bob</a:t>
            </a:r>
          </a:p>
        </p:txBody>
      </p:sp>
      <p:sp>
        <p:nvSpPr>
          <p:cNvPr id="10" name="Parentesi graffa aperta 9">
            <a:extLst>
              <a:ext uri="{FF2B5EF4-FFF2-40B4-BE49-F238E27FC236}">
                <a16:creationId xmlns:a16="http://schemas.microsoft.com/office/drawing/2014/main" id="{3989EFAE-9F43-B2BC-874D-8E2CE27E1694}"/>
              </a:ext>
            </a:extLst>
          </p:cNvPr>
          <p:cNvSpPr/>
          <p:nvPr/>
        </p:nvSpPr>
        <p:spPr>
          <a:xfrm>
            <a:off x="4982093" y="5107927"/>
            <a:ext cx="391926" cy="1506556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AA5577E3-35F0-95AC-5D3E-6C2E62C3FC03}"/>
              </a:ext>
            </a:extLst>
          </p:cNvPr>
          <p:cNvGrpSpPr/>
          <p:nvPr/>
        </p:nvGrpSpPr>
        <p:grpSpPr>
          <a:xfrm>
            <a:off x="8126211" y="5576741"/>
            <a:ext cx="3514062" cy="523220"/>
            <a:chOff x="8231784" y="5576741"/>
            <a:chExt cx="3482163" cy="523220"/>
          </a:xfrm>
        </p:grpSpPr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98205D4E-76CD-0056-9E73-5E5456B8C1D4}"/>
                </a:ext>
              </a:extLst>
            </p:cNvPr>
            <p:cNvSpPr txBox="1"/>
            <p:nvPr/>
          </p:nvSpPr>
          <p:spPr>
            <a:xfrm>
              <a:off x="8231784" y="5576741"/>
              <a:ext cx="34821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 err="1">
                  <a:solidFill>
                    <a:srgbClr val="0563C1"/>
                  </a:solidFill>
                </a:rPr>
                <a:t>then</a:t>
              </a:r>
              <a:r>
                <a:rPr lang="it-IT" sz="2800" dirty="0">
                  <a:solidFill>
                    <a:srgbClr val="0563C1"/>
                  </a:solidFill>
                </a:rPr>
                <a:t> q</a:t>
              </a:r>
              <a:r>
                <a:rPr lang="it-IT" sz="2800" baseline="-25000" dirty="0">
                  <a:solidFill>
                    <a:srgbClr val="0563C1"/>
                  </a:solidFill>
                </a:rPr>
                <a:t>2</a:t>
              </a:r>
              <a:r>
                <a:rPr lang="it-IT" sz="2800" dirty="0">
                  <a:solidFill>
                    <a:srgbClr val="0563C1"/>
                  </a:solidFill>
                </a:rPr>
                <a:t>	 q</a:t>
              </a:r>
              <a:r>
                <a:rPr lang="it-IT" sz="2800" baseline="-25000" dirty="0">
                  <a:solidFill>
                    <a:srgbClr val="0563C1"/>
                  </a:solidFill>
                </a:rPr>
                <a:t>0</a:t>
              </a:r>
              <a:endParaRPr lang="it-IT" sz="2800" dirty="0">
                <a:solidFill>
                  <a:srgbClr val="0563C1"/>
                </a:solidFill>
              </a:endParaRPr>
            </a:p>
          </p:txBody>
        </p:sp>
        <p:sp>
          <p:nvSpPr>
            <p:cNvPr id="12" name="Freccia bidirezionale orizzontale 11">
              <a:extLst>
                <a:ext uri="{FF2B5EF4-FFF2-40B4-BE49-F238E27FC236}">
                  <a16:creationId xmlns:a16="http://schemas.microsoft.com/office/drawing/2014/main" id="{8ADC7729-4725-CD23-4B76-A1CDC84644E6}"/>
                </a:ext>
              </a:extLst>
            </p:cNvPr>
            <p:cNvSpPr/>
            <p:nvPr/>
          </p:nvSpPr>
          <p:spPr>
            <a:xfrm>
              <a:off x="9379298" y="5811311"/>
              <a:ext cx="680484" cy="180754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4" name="Parentesi graffa aperta 13">
            <a:extLst>
              <a:ext uri="{FF2B5EF4-FFF2-40B4-BE49-F238E27FC236}">
                <a16:creationId xmlns:a16="http://schemas.microsoft.com/office/drawing/2014/main" id="{2ABC78DD-F17B-93EB-D586-952420C84B0E}"/>
              </a:ext>
            </a:extLst>
          </p:cNvPr>
          <p:cNvSpPr/>
          <p:nvPr/>
        </p:nvSpPr>
        <p:spPr>
          <a:xfrm rot="10800000">
            <a:off x="7734285" y="5107927"/>
            <a:ext cx="391926" cy="1506556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077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</a:t>
            </a:r>
            <a:r>
              <a:rPr lang="it-IT" sz="3600" dirty="0" err="1">
                <a:solidFill>
                  <a:schemeClr val="bg1"/>
                </a:solidFill>
              </a:rPr>
              <a:t>Teleportation</a:t>
            </a:r>
            <a:endParaRPr lang="it-IT" sz="3600" dirty="0">
              <a:solidFill>
                <a:schemeClr val="bg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A751B5F-6C57-6254-E1E4-4CE95BDCFA9C}"/>
              </a:ext>
            </a:extLst>
          </p:cNvPr>
          <p:cNvSpPr txBox="1"/>
          <p:nvPr/>
        </p:nvSpPr>
        <p:spPr>
          <a:xfrm>
            <a:off x="838200" y="1690576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hlinkClick r:id="rId2"/>
              </a:rPr>
              <a:t>ESA observatory breaks world quantum teleportation record</a:t>
            </a:r>
            <a:endParaRPr lang="it-IT" sz="3200" dirty="0"/>
          </a:p>
          <a:p>
            <a:endParaRPr lang="it-IT" sz="32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DBFCD2B-CD92-41CF-BCAF-C6E1265D26C9}"/>
              </a:ext>
            </a:extLst>
          </p:cNvPr>
          <p:cNvSpPr txBox="1"/>
          <p:nvPr/>
        </p:nvSpPr>
        <p:spPr>
          <a:xfrm rot="10800000" flipV="1">
            <a:off x="860623" y="3304979"/>
            <a:ext cx="50079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0" i="0" dirty="0">
                <a:solidFill>
                  <a:srgbClr val="0563C1"/>
                </a:solidFill>
                <a:effectLst/>
                <a:latin typeface="Arial" panose="020B0604020202020204" pitchFamily="34" charset="0"/>
              </a:rPr>
              <a:t>An international research team using ESA’s Optical Ground Station in the Canary Islands has set a new distance world record in ‘quantum teleportation’ by reproducing the characteristics of a light particle across 143 km of open air.</a:t>
            </a:r>
            <a:endParaRPr lang="it-IT" sz="2000" dirty="0">
              <a:solidFill>
                <a:srgbClr val="0563C1"/>
              </a:solidFill>
            </a:endParaRPr>
          </a:p>
        </p:txBody>
      </p:sp>
      <p:pic>
        <p:nvPicPr>
          <p:cNvPr id="1026" name="Picture 2" descr="Satellite image of Canary Islands">
            <a:extLst>
              <a:ext uri="{FF2B5EF4-FFF2-40B4-BE49-F238E27FC236}">
                <a16:creationId xmlns:a16="http://schemas.microsoft.com/office/drawing/2014/main" id="{560ACECE-7A49-629F-5BEC-7D170D6C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443" y="2659002"/>
            <a:ext cx="4872752" cy="3475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002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</a:t>
            </a:r>
            <a:r>
              <a:rPr lang="it-IT" sz="3600" dirty="0" err="1">
                <a:solidFill>
                  <a:schemeClr val="bg1"/>
                </a:solidFill>
              </a:rPr>
              <a:t>Teleportation</a:t>
            </a:r>
            <a:endParaRPr lang="it-IT" sz="3600" dirty="0">
              <a:solidFill>
                <a:schemeClr val="bg1"/>
              </a:solidFill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51870B13-ACF0-98C0-C25A-12596304B8A6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29188624-B149-184C-0DC7-008785833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Teleportation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Rettangolo smussato 6">
              <a:extLst>
                <a:ext uri="{FF2B5EF4-FFF2-40B4-BE49-F238E27FC236}">
                  <a16:creationId xmlns:a16="http://schemas.microsoft.com/office/drawing/2014/main" id="{3DD84AFE-E4ED-B049-1FCB-7ABB05350A2D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700404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More </a:t>
            </a:r>
            <a:r>
              <a:rPr lang="it-IT" sz="3600" dirty="0" err="1">
                <a:solidFill>
                  <a:schemeClr val="bg1"/>
                </a:solidFill>
              </a:rPr>
              <a:t>algorithms</a:t>
            </a:r>
            <a:r>
              <a:rPr lang="it-IT" sz="3600" dirty="0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A3C83B44-549D-17BC-3C91-C5B59ACBC80B}"/>
              </a:ext>
            </a:extLst>
          </p:cNvPr>
          <p:cNvGrpSpPr/>
          <p:nvPr/>
        </p:nvGrpSpPr>
        <p:grpSpPr>
          <a:xfrm>
            <a:off x="2466516" y="2880621"/>
            <a:ext cx="7258969" cy="2064321"/>
            <a:chOff x="2390314" y="2287262"/>
            <a:chExt cx="7258969" cy="2064321"/>
          </a:xfrm>
        </p:grpSpPr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A606A33D-5BFB-C564-BF1A-634E5A75F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314" y="2905033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2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Go to algorithms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Rettangolo smussato 9">
              <a:extLst>
                <a:ext uri="{FF2B5EF4-FFF2-40B4-BE49-F238E27FC236}">
                  <a16:creationId xmlns:a16="http://schemas.microsoft.com/office/drawing/2014/main" id="{A177B386-BAE3-6AD4-ED97-2A82D1BBEC6B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344518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Computing in the Real World</a:t>
            </a: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A3C83B44-549D-17BC-3C91-C5B59ACBC80B}"/>
              </a:ext>
            </a:extLst>
          </p:cNvPr>
          <p:cNvGrpSpPr/>
          <p:nvPr/>
        </p:nvGrpSpPr>
        <p:grpSpPr>
          <a:xfrm>
            <a:off x="2466516" y="2880621"/>
            <a:ext cx="7258969" cy="2064321"/>
            <a:chOff x="2390314" y="2287262"/>
            <a:chExt cx="7258969" cy="2064321"/>
          </a:xfrm>
        </p:grpSpPr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A606A33D-5BFB-C564-BF1A-634E5A75F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314" y="2905033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 err="1">
                  <a:solidFill>
                    <a:srgbClr val="FF0000"/>
                  </a:solidFill>
                </a:rPr>
                <a:t>Whats</a:t>
              </a:r>
              <a:r>
                <a:rPr lang="en-US" altLang="it-IT" sz="4400" b="1" dirty="0">
                  <a:solidFill>
                    <a:srgbClr val="FF0000"/>
                  </a:solidFill>
                </a:rPr>
                <a:t> next?</a:t>
              </a: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Rettangolo smussato 9">
              <a:extLst>
                <a:ext uri="{FF2B5EF4-FFF2-40B4-BE49-F238E27FC236}">
                  <a16:creationId xmlns:a16="http://schemas.microsoft.com/office/drawing/2014/main" id="{A177B386-BAE3-6AD4-ED97-2A82D1BBEC6B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135409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B84A1-36EA-45C9-43FB-0BBC6170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39017FC6-E0BF-FC14-60D8-C2FC415C0266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4A478AE-589A-DA31-362C-8F62BF643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660"/>
            <a:ext cx="10515600" cy="586739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rPr lang="it-IT" sz="3600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Anche i </a:t>
            </a:r>
            <a:r>
              <a:rPr lang="it-IT" sz="3600" dirty="0" err="1">
                <a:solidFill>
                  <a:srgbClr val="FFFFFF"/>
                </a:solidFill>
                <a:latin typeface="Calibri Light (Titoli)"/>
                <a:ea typeface="Calibri Light" panose="020F0302020204030204" pitchFamily="34" charset="0"/>
                <a:cs typeface="Calibri Light" panose="020F0302020204030204" pitchFamily="34" charset="0"/>
              </a:rPr>
              <a:t>Qubit</a:t>
            </a:r>
            <a:r>
              <a:rPr lang="it-IT" sz="3600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sbagliano: errori T1 e T2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B1C3A34-65A6-C1D6-9583-56FC8BAF1B43}"/>
              </a:ext>
            </a:extLst>
          </p:cNvPr>
          <p:cNvGrpSpPr/>
          <p:nvPr/>
        </p:nvGrpSpPr>
        <p:grpSpPr>
          <a:xfrm>
            <a:off x="1280160" y="1859280"/>
            <a:ext cx="4572000" cy="1097280"/>
            <a:chOff x="914400" y="1828800"/>
            <a:chExt cx="4572000" cy="1097280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9800C13E-A032-6BC3-9D1C-4FB23CFCFCEF}"/>
                </a:ext>
              </a:extLst>
            </p:cNvPr>
            <p:cNvSpPr txBox="1"/>
            <p:nvPr/>
          </p:nvSpPr>
          <p:spPr>
            <a:xfrm>
              <a:off x="914400" y="1828800"/>
              <a:ext cx="45720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4400" b="1">
                  <a:solidFill>
                    <a:srgbClr val="002060"/>
                  </a:solidFill>
                </a:defRPr>
              </a:pPr>
              <a:r>
                <a:rPr dirty="0"/>
                <a:t>T1</a:t>
              </a: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EC79C3D8-FB8F-374B-08D9-07B600016851}"/>
                </a:ext>
              </a:extLst>
            </p:cNvPr>
            <p:cNvSpPr txBox="1"/>
            <p:nvPr/>
          </p:nvSpPr>
          <p:spPr>
            <a:xfrm>
              <a:off x="914400" y="2468880"/>
              <a:ext cx="4572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000" b="1">
                  <a:solidFill>
                    <a:srgbClr val="CC0000"/>
                  </a:solidFill>
                </a:defRPr>
              </a:pPr>
              <a:r>
                <a:rPr dirty="0"/>
                <a:t>Tempo di </a:t>
              </a:r>
              <a:r>
                <a:rPr dirty="0" err="1"/>
                <a:t>Rilassamento</a:t>
              </a:r>
              <a:endParaRPr dirty="0"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7FBC7FB3-CCEF-6A72-095F-16DA0B4B7B54}"/>
              </a:ext>
            </a:extLst>
          </p:cNvPr>
          <p:cNvSpPr txBox="1"/>
          <p:nvPr/>
        </p:nvSpPr>
        <p:spPr>
          <a:xfrm>
            <a:off x="430305" y="3200399"/>
            <a:ext cx="55459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23232"/>
                </a:solidFill>
              </a:defRPr>
            </a:pPr>
            <a:r>
              <a:rPr lang="it-IT" sz="2400" dirty="0">
                <a:solidFill>
                  <a:srgbClr val="0563C1"/>
                </a:solidFill>
              </a:rPr>
              <a:t>Che cos'è: Il </a:t>
            </a:r>
            <a:r>
              <a:rPr lang="it-IT" sz="2400" dirty="0" err="1">
                <a:solidFill>
                  <a:srgbClr val="0563C1"/>
                </a:solidFill>
              </a:rPr>
              <a:t>qubit</a:t>
            </a:r>
            <a:r>
              <a:rPr lang="it-IT" sz="2400" dirty="0">
                <a:solidFill>
                  <a:srgbClr val="0563C1"/>
                </a:solidFill>
              </a:rPr>
              <a:t> perde energia e '</a:t>
            </a:r>
            <a:r>
              <a:rPr lang="it-IT" sz="2400" dirty="0" err="1">
                <a:solidFill>
                  <a:srgbClr val="0563C1"/>
                </a:solidFill>
              </a:rPr>
              <a:t>cade'</a:t>
            </a:r>
            <a:r>
              <a:rPr lang="it-IT" sz="2400" dirty="0">
                <a:solidFill>
                  <a:srgbClr val="0563C1"/>
                </a:solidFill>
              </a:rPr>
              <a:t> dallo stato eccitato |1⟩ allo stato base |0⟩.</a:t>
            </a:r>
            <a:br>
              <a:rPr lang="it-IT" sz="2400" dirty="0">
                <a:solidFill>
                  <a:srgbClr val="0563C1"/>
                </a:solidFill>
              </a:rPr>
            </a:br>
            <a:br>
              <a:rPr lang="it-IT" sz="2400" dirty="0">
                <a:solidFill>
                  <a:srgbClr val="0563C1"/>
                </a:solidFill>
              </a:rPr>
            </a:br>
            <a:r>
              <a:rPr lang="it-IT" sz="2400" dirty="0">
                <a:solidFill>
                  <a:srgbClr val="0563C1"/>
                </a:solidFill>
              </a:rPr>
              <a:t>Analogia: Una moneta che gira, rallenta e infine cade piatta sul tavolo.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br>
              <a:rPr lang="it-IT" sz="2400" dirty="0">
                <a:solidFill>
                  <a:srgbClr val="0563C1"/>
                </a:solidFill>
              </a:rPr>
            </a:br>
            <a:br>
              <a:rPr lang="it-IT" sz="2400" dirty="0">
                <a:solidFill>
                  <a:srgbClr val="0563C1"/>
                </a:solidFill>
              </a:rPr>
            </a:br>
            <a:r>
              <a:rPr lang="it-IT" sz="2400" dirty="0">
                <a:solidFill>
                  <a:srgbClr val="0563C1"/>
                </a:solidFill>
              </a:rPr>
              <a:t>Impatto: Perdita irreversibile dei dati.</a:t>
            </a: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7EBF0922-A775-4F0B-8F92-3037B08EE1AC}"/>
              </a:ext>
            </a:extLst>
          </p:cNvPr>
          <p:cNvGrpSpPr/>
          <p:nvPr/>
        </p:nvGrpSpPr>
        <p:grpSpPr>
          <a:xfrm>
            <a:off x="5880249" y="1874520"/>
            <a:ext cx="4572000" cy="1097280"/>
            <a:chOff x="6702552" y="1828800"/>
            <a:chExt cx="4572000" cy="1097280"/>
          </a:xfrm>
        </p:grpSpPr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7306E978-2A26-0800-45F7-51D6935487CB}"/>
                </a:ext>
              </a:extLst>
            </p:cNvPr>
            <p:cNvSpPr txBox="1"/>
            <p:nvPr/>
          </p:nvSpPr>
          <p:spPr>
            <a:xfrm>
              <a:off x="6702552" y="1828800"/>
              <a:ext cx="45720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4400" b="1">
                  <a:solidFill>
                    <a:srgbClr val="002060"/>
                  </a:solidFill>
                </a:defRPr>
              </a:pPr>
              <a:r>
                <a:rPr dirty="0"/>
                <a:t>T2</a:t>
              </a: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41F8468C-427A-A0A3-02C7-4C5B1CDE1568}"/>
                </a:ext>
              </a:extLst>
            </p:cNvPr>
            <p:cNvSpPr txBox="1"/>
            <p:nvPr/>
          </p:nvSpPr>
          <p:spPr>
            <a:xfrm>
              <a:off x="6702552" y="2468880"/>
              <a:ext cx="4572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000" b="1">
                  <a:solidFill>
                    <a:srgbClr val="CC0000"/>
                  </a:solidFill>
                </a:defRPr>
              </a:pPr>
              <a:r>
                <a:rPr dirty="0"/>
                <a:t>Tempo di </a:t>
              </a:r>
              <a:r>
                <a:rPr dirty="0" err="1"/>
                <a:t>Coerenza</a:t>
              </a:r>
              <a:endParaRPr dirty="0"/>
            </a:p>
          </p:txBody>
        </p:sp>
      </p:grpSp>
      <p:sp>
        <p:nvSpPr>
          <p:cNvPr id="12" name="TextBox 8">
            <a:extLst>
              <a:ext uri="{FF2B5EF4-FFF2-40B4-BE49-F238E27FC236}">
                <a16:creationId xmlns:a16="http://schemas.microsoft.com/office/drawing/2014/main" id="{13B2CC4A-ADAC-0000-365A-31C7764A4FA4}"/>
              </a:ext>
            </a:extLst>
          </p:cNvPr>
          <p:cNvSpPr txBox="1"/>
          <p:nvPr/>
        </p:nvSpPr>
        <p:spPr>
          <a:xfrm>
            <a:off x="6393925" y="3200399"/>
            <a:ext cx="55459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23232"/>
                </a:solidFill>
              </a:defRPr>
            </a:pPr>
            <a:r>
              <a:rPr sz="2400" dirty="0">
                <a:solidFill>
                  <a:srgbClr val="0563C1"/>
                </a:solidFill>
              </a:rPr>
              <a:t>Che </a:t>
            </a:r>
            <a:r>
              <a:rPr sz="2400" dirty="0" err="1">
                <a:solidFill>
                  <a:srgbClr val="0563C1"/>
                </a:solidFill>
              </a:rPr>
              <a:t>cos'è</a:t>
            </a:r>
            <a:r>
              <a:rPr sz="2400" dirty="0">
                <a:solidFill>
                  <a:srgbClr val="0563C1"/>
                </a:solidFill>
              </a:rPr>
              <a:t>: Il qubit </a:t>
            </a:r>
            <a:r>
              <a:rPr sz="2400" dirty="0" err="1">
                <a:solidFill>
                  <a:srgbClr val="0563C1"/>
                </a:solidFill>
              </a:rPr>
              <a:t>mantiene</a:t>
            </a:r>
            <a:r>
              <a:rPr sz="2400" dirty="0">
                <a:solidFill>
                  <a:srgbClr val="0563C1"/>
                </a:solidFill>
              </a:rPr>
              <a:t> </a:t>
            </a:r>
            <a:r>
              <a:rPr sz="2400" dirty="0" err="1">
                <a:solidFill>
                  <a:srgbClr val="0563C1"/>
                </a:solidFill>
              </a:rPr>
              <a:t>l'energia</a:t>
            </a:r>
            <a:r>
              <a:rPr sz="2400" dirty="0">
                <a:solidFill>
                  <a:srgbClr val="0563C1"/>
                </a:solidFill>
              </a:rPr>
              <a:t> ma </a:t>
            </a:r>
            <a:r>
              <a:rPr sz="2400" dirty="0" err="1">
                <a:solidFill>
                  <a:srgbClr val="0563C1"/>
                </a:solidFill>
              </a:rPr>
              <a:t>perde</a:t>
            </a:r>
            <a:r>
              <a:rPr sz="2400" dirty="0">
                <a:solidFill>
                  <a:srgbClr val="0563C1"/>
                </a:solidFill>
              </a:rPr>
              <a:t> la </a:t>
            </a:r>
            <a:r>
              <a:rPr sz="2400" dirty="0" err="1">
                <a:solidFill>
                  <a:srgbClr val="0563C1"/>
                </a:solidFill>
              </a:rPr>
              <a:t>sincronia</a:t>
            </a:r>
            <a:r>
              <a:rPr sz="2400" dirty="0">
                <a:solidFill>
                  <a:srgbClr val="0563C1"/>
                </a:solidFill>
              </a:rPr>
              <a:t> (</a:t>
            </a:r>
            <a:r>
              <a:rPr sz="2400" dirty="0" err="1">
                <a:solidFill>
                  <a:srgbClr val="0563C1"/>
                </a:solidFill>
              </a:rPr>
              <a:t>fase</a:t>
            </a:r>
            <a:r>
              <a:rPr sz="2400" dirty="0">
                <a:solidFill>
                  <a:srgbClr val="0563C1"/>
                </a:solidFill>
              </a:rPr>
              <a:t>) con </a:t>
            </a:r>
            <a:r>
              <a:rPr sz="2400" dirty="0" err="1">
                <a:solidFill>
                  <a:srgbClr val="0563C1"/>
                </a:solidFill>
              </a:rPr>
              <a:t>gli</a:t>
            </a:r>
            <a:r>
              <a:rPr sz="2400" dirty="0">
                <a:solidFill>
                  <a:srgbClr val="0563C1"/>
                </a:solidFill>
              </a:rPr>
              <a:t> </a:t>
            </a:r>
            <a:r>
              <a:rPr sz="2400" dirty="0" err="1">
                <a:solidFill>
                  <a:srgbClr val="0563C1"/>
                </a:solidFill>
              </a:rPr>
              <a:t>altri</a:t>
            </a:r>
            <a:r>
              <a:rPr sz="2400" dirty="0">
                <a:solidFill>
                  <a:srgbClr val="0563C1"/>
                </a:solidFill>
              </a:rPr>
              <a:t>.</a:t>
            </a:r>
            <a:br>
              <a:rPr sz="2400" dirty="0">
                <a:solidFill>
                  <a:srgbClr val="0563C1"/>
                </a:solidFill>
              </a:rPr>
            </a:br>
            <a:br>
              <a:rPr sz="2400" dirty="0">
                <a:solidFill>
                  <a:srgbClr val="0563C1"/>
                </a:solidFill>
              </a:rPr>
            </a:br>
            <a:r>
              <a:rPr sz="2400" dirty="0">
                <a:solidFill>
                  <a:srgbClr val="0563C1"/>
                </a:solidFill>
              </a:rPr>
              <a:t>Analogia: Una </a:t>
            </a:r>
            <a:r>
              <a:rPr sz="2400" dirty="0" err="1">
                <a:solidFill>
                  <a:srgbClr val="0563C1"/>
                </a:solidFill>
              </a:rPr>
              <a:t>moneta</a:t>
            </a:r>
            <a:r>
              <a:rPr sz="2400" dirty="0">
                <a:solidFill>
                  <a:srgbClr val="0563C1"/>
                </a:solidFill>
              </a:rPr>
              <a:t> </a:t>
            </a:r>
            <a:r>
              <a:rPr sz="2400" dirty="0" err="1">
                <a:solidFill>
                  <a:srgbClr val="0563C1"/>
                </a:solidFill>
              </a:rPr>
              <a:t>che</a:t>
            </a:r>
            <a:r>
              <a:rPr sz="2400" dirty="0">
                <a:solidFill>
                  <a:srgbClr val="0563C1"/>
                </a:solidFill>
              </a:rPr>
              <a:t> continua a </a:t>
            </a:r>
            <a:r>
              <a:rPr sz="2400" dirty="0" err="1">
                <a:solidFill>
                  <a:srgbClr val="0563C1"/>
                </a:solidFill>
              </a:rPr>
              <a:t>girare</a:t>
            </a:r>
            <a:r>
              <a:rPr sz="2400" dirty="0">
                <a:solidFill>
                  <a:srgbClr val="0563C1"/>
                </a:solidFill>
              </a:rPr>
              <a:t>, ma </a:t>
            </a:r>
            <a:r>
              <a:rPr sz="2400" dirty="0" err="1">
                <a:solidFill>
                  <a:srgbClr val="0563C1"/>
                </a:solidFill>
              </a:rPr>
              <a:t>inizia</a:t>
            </a:r>
            <a:r>
              <a:rPr sz="2400" dirty="0">
                <a:solidFill>
                  <a:srgbClr val="0563C1"/>
                </a:solidFill>
              </a:rPr>
              <a:t> a </a:t>
            </a:r>
            <a:r>
              <a:rPr sz="2400" dirty="0" err="1">
                <a:solidFill>
                  <a:srgbClr val="0563C1"/>
                </a:solidFill>
              </a:rPr>
              <a:t>oscillare</a:t>
            </a:r>
            <a:r>
              <a:rPr sz="2400" dirty="0">
                <a:solidFill>
                  <a:srgbClr val="0563C1"/>
                </a:solidFill>
              </a:rPr>
              <a:t> (wobble), </a:t>
            </a:r>
            <a:r>
              <a:rPr sz="2400" dirty="0" err="1">
                <a:solidFill>
                  <a:srgbClr val="0563C1"/>
                </a:solidFill>
              </a:rPr>
              <a:t>rendendo</a:t>
            </a:r>
            <a:r>
              <a:rPr sz="2400" dirty="0">
                <a:solidFill>
                  <a:srgbClr val="0563C1"/>
                </a:solidFill>
              </a:rPr>
              <a:t> </a:t>
            </a:r>
            <a:r>
              <a:rPr sz="2400" dirty="0" err="1">
                <a:solidFill>
                  <a:srgbClr val="0563C1"/>
                </a:solidFill>
              </a:rPr>
              <a:t>impossibile</a:t>
            </a:r>
            <a:r>
              <a:rPr sz="2400" dirty="0">
                <a:solidFill>
                  <a:srgbClr val="0563C1"/>
                </a:solidFill>
              </a:rPr>
              <a:t> </a:t>
            </a:r>
            <a:r>
              <a:rPr sz="2400" dirty="0" err="1">
                <a:solidFill>
                  <a:srgbClr val="0563C1"/>
                </a:solidFill>
              </a:rPr>
              <a:t>leggere</a:t>
            </a:r>
            <a:r>
              <a:rPr sz="2400" dirty="0">
                <a:solidFill>
                  <a:srgbClr val="0563C1"/>
                </a:solidFill>
              </a:rPr>
              <a:t> il </a:t>
            </a:r>
            <a:r>
              <a:rPr sz="2400" dirty="0" err="1">
                <a:solidFill>
                  <a:srgbClr val="0563C1"/>
                </a:solidFill>
              </a:rPr>
              <a:t>valore</a:t>
            </a:r>
            <a:r>
              <a:rPr sz="2400" dirty="0">
                <a:solidFill>
                  <a:srgbClr val="0563C1"/>
                </a:solidFill>
              </a:rPr>
              <a:t>.</a:t>
            </a:r>
            <a:br>
              <a:rPr sz="2400" dirty="0">
                <a:solidFill>
                  <a:srgbClr val="0563C1"/>
                </a:solidFill>
              </a:rPr>
            </a:br>
            <a:br>
              <a:rPr sz="2400" dirty="0">
                <a:solidFill>
                  <a:srgbClr val="0563C1"/>
                </a:solidFill>
              </a:rPr>
            </a:br>
            <a:r>
              <a:rPr sz="2400" dirty="0" err="1">
                <a:solidFill>
                  <a:srgbClr val="0563C1"/>
                </a:solidFill>
              </a:rPr>
              <a:t>Impatto</a:t>
            </a:r>
            <a:r>
              <a:rPr sz="2400" dirty="0">
                <a:solidFill>
                  <a:srgbClr val="0563C1"/>
                </a:solidFill>
              </a:rPr>
              <a:t>: </a:t>
            </a:r>
            <a:r>
              <a:rPr sz="2400" dirty="0" err="1">
                <a:solidFill>
                  <a:srgbClr val="0563C1"/>
                </a:solidFill>
              </a:rPr>
              <a:t>Errori</a:t>
            </a:r>
            <a:r>
              <a:rPr sz="2400" dirty="0">
                <a:solidFill>
                  <a:srgbClr val="0563C1"/>
                </a:solidFill>
              </a:rPr>
              <a:t> di </a:t>
            </a:r>
            <a:r>
              <a:rPr sz="2400" dirty="0" err="1">
                <a:solidFill>
                  <a:srgbClr val="0563C1"/>
                </a:solidFill>
              </a:rPr>
              <a:t>calcolo</a:t>
            </a:r>
            <a:r>
              <a:rPr sz="2400" dirty="0">
                <a:solidFill>
                  <a:srgbClr val="0563C1"/>
                </a:solidFill>
              </a:rPr>
              <a:t> </a:t>
            </a:r>
            <a:r>
              <a:rPr sz="2400" dirty="0" err="1">
                <a:solidFill>
                  <a:srgbClr val="0563C1"/>
                </a:solidFill>
              </a:rPr>
              <a:t>immediati</a:t>
            </a:r>
            <a:r>
              <a:rPr dirty="0"/>
              <a:t>.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24C78A32-001B-FB67-59E7-AD68AB86A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290" y="1798322"/>
            <a:ext cx="792479" cy="792479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92E52E1E-F584-B746-6A78-48CF2AA32E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78" t="31199" r="7217" b="8347"/>
          <a:stretch>
            <a:fillRect/>
          </a:stretch>
        </p:blipFill>
        <p:spPr>
          <a:xfrm>
            <a:off x="430305" y="1577343"/>
            <a:ext cx="2152650" cy="10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06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" y="365761"/>
            <a:ext cx="10458450" cy="560070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rPr sz="3600" dirty="0">
                <a:solidFill>
                  <a:schemeClr val="bg1"/>
                </a:solidFill>
                <a:latin typeface="Calibri Light (Titoli)"/>
                <a:ea typeface="+mj-ea"/>
                <a:cs typeface="Arial" panose="020B0604020202020204" pitchFamily="34" charset="0"/>
              </a:rPr>
              <a:t>La </a:t>
            </a:r>
            <a:r>
              <a:rPr sz="3600" dirty="0" err="1">
                <a:solidFill>
                  <a:schemeClr val="bg1"/>
                </a:solidFill>
                <a:latin typeface="Calibri Light (Titoli)"/>
                <a:ea typeface="+mj-ea"/>
                <a:cs typeface="Arial" panose="020B0604020202020204" pitchFamily="34" charset="0"/>
              </a:rPr>
              <a:t>Sfida</a:t>
            </a:r>
            <a:r>
              <a:rPr sz="3600" dirty="0">
                <a:solidFill>
                  <a:schemeClr val="bg1"/>
                </a:solidFill>
                <a:latin typeface="Calibri Light (Titoli)"/>
                <a:ea typeface="+mj-ea"/>
                <a:cs typeface="Arial" panose="020B0604020202020204" pitchFamily="34" charset="0"/>
              </a:rPr>
              <a:t> della </a:t>
            </a:r>
            <a:r>
              <a:rPr sz="3600" dirty="0" err="1">
                <a:solidFill>
                  <a:schemeClr val="bg1"/>
                </a:solidFill>
                <a:latin typeface="Calibri Light (Titoli)"/>
                <a:ea typeface="+mj-ea"/>
                <a:cs typeface="Arial" panose="020B0604020202020204" pitchFamily="34" charset="0"/>
              </a:rPr>
              <a:t>Scalabilità</a:t>
            </a:r>
            <a:r>
              <a:rPr sz="3600" dirty="0">
                <a:solidFill>
                  <a:schemeClr val="bg1"/>
                </a:solidFill>
                <a:latin typeface="Calibri Light (Titoli)"/>
                <a:ea typeface="+mj-ea"/>
                <a:cs typeface="Arial" panose="020B0604020202020204" pitchFamily="34" charset="0"/>
              </a:rPr>
              <a:t>: </a:t>
            </a:r>
            <a:r>
              <a:rPr sz="3600" dirty="0" err="1">
                <a:solidFill>
                  <a:schemeClr val="bg1"/>
                </a:solidFill>
                <a:latin typeface="Calibri Light (Titoli)"/>
                <a:ea typeface="+mj-ea"/>
                <a:cs typeface="Arial" panose="020B0604020202020204" pitchFamily="34" charset="0"/>
              </a:rPr>
              <a:t>Fisico</a:t>
            </a:r>
            <a:r>
              <a:rPr sz="3600" dirty="0">
                <a:solidFill>
                  <a:schemeClr val="bg1"/>
                </a:solidFill>
                <a:latin typeface="Calibri Light (Titoli)"/>
                <a:ea typeface="+mj-ea"/>
                <a:cs typeface="Arial" panose="020B0604020202020204" pitchFamily="34" charset="0"/>
              </a:rPr>
              <a:t> vs </a:t>
            </a:r>
            <a:r>
              <a:rPr sz="3600" dirty="0" err="1">
                <a:solidFill>
                  <a:schemeClr val="bg1"/>
                </a:solidFill>
                <a:latin typeface="Calibri Light (Titoli)"/>
                <a:ea typeface="+mj-ea"/>
                <a:cs typeface="Arial" panose="020B0604020202020204" pitchFamily="34" charset="0"/>
              </a:rPr>
              <a:t>Logico</a:t>
            </a:r>
            <a:endParaRPr sz="3600" dirty="0">
              <a:solidFill>
                <a:schemeClr val="bg1"/>
              </a:solidFill>
              <a:latin typeface="Calibri Light (Titoli)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46464"/>
                </a:solidFill>
              </a:defRPr>
            </a:pPr>
            <a:r>
              <a:t>Qubit FISICO (Hardware)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303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rPr dirty="0"/>
              <a:t>• È </a:t>
            </a:r>
            <a:r>
              <a:rPr dirty="0" err="1"/>
              <a:t>l'oggetto</a:t>
            </a:r>
            <a:r>
              <a:rPr dirty="0"/>
              <a:t> </a:t>
            </a:r>
            <a:r>
              <a:rPr dirty="0" err="1"/>
              <a:t>materiale</a:t>
            </a:r>
            <a:r>
              <a:rPr dirty="0"/>
              <a:t> (</a:t>
            </a:r>
            <a:r>
              <a:rPr dirty="0" err="1"/>
              <a:t>ione</a:t>
            </a:r>
            <a:r>
              <a:rPr dirty="0"/>
              <a:t>, </a:t>
            </a:r>
            <a:r>
              <a:rPr dirty="0" err="1"/>
              <a:t>circuito</a:t>
            </a:r>
            <a:r>
              <a:rPr dirty="0"/>
              <a:t>, </a:t>
            </a:r>
            <a:r>
              <a:rPr dirty="0" err="1"/>
              <a:t>atomo</a:t>
            </a:r>
            <a:r>
              <a:rPr dirty="0"/>
              <a:t>)</a:t>
            </a:r>
            <a:endParaRPr lang="it-IT" dirty="0"/>
          </a:p>
          <a:p>
            <a:pPr>
              <a:defRPr sz="1600">
                <a:solidFill>
                  <a:srgbClr val="323232"/>
                </a:solidFill>
              </a:defRPr>
            </a:pPr>
            <a:br>
              <a:rPr dirty="0"/>
            </a:br>
            <a:r>
              <a:rPr dirty="0"/>
              <a:t>• </a:t>
            </a:r>
            <a:r>
              <a:rPr dirty="0" err="1"/>
              <a:t>Estremamente</a:t>
            </a:r>
            <a:r>
              <a:rPr dirty="0"/>
              <a:t> fragile e </a:t>
            </a:r>
            <a:r>
              <a:rPr dirty="0" err="1"/>
              <a:t>rumoroso</a:t>
            </a:r>
            <a:r>
              <a:rPr dirty="0"/>
              <a:t> (</a:t>
            </a:r>
            <a:r>
              <a:rPr dirty="0" err="1"/>
              <a:t>soggetto</a:t>
            </a:r>
            <a:r>
              <a:rPr dirty="0"/>
              <a:t> a </a:t>
            </a:r>
            <a:r>
              <a:rPr dirty="0" err="1"/>
              <a:t>errori</a:t>
            </a:r>
            <a:r>
              <a:rPr dirty="0"/>
              <a:t> T1 e T2)</a:t>
            </a:r>
            <a:endParaRPr lang="it-IT" dirty="0"/>
          </a:p>
          <a:p>
            <a:pPr>
              <a:defRPr sz="1600">
                <a:solidFill>
                  <a:srgbClr val="323232"/>
                </a:solidFill>
              </a:defRPr>
            </a:pPr>
            <a:br>
              <a:rPr dirty="0"/>
            </a:br>
            <a:r>
              <a:rPr dirty="0"/>
              <a:t>• Da solo, non è </a:t>
            </a:r>
            <a:r>
              <a:rPr dirty="0" err="1"/>
              <a:t>sufficiente</a:t>
            </a:r>
            <a:r>
              <a:rPr dirty="0"/>
              <a:t> per </a:t>
            </a:r>
            <a:r>
              <a:rPr dirty="0" err="1"/>
              <a:t>calcoli</a:t>
            </a:r>
            <a:r>
              <a:rPr dirty="0"/>
              <a:t> </a:t>
            </a:r>
            <a:r>
              <a:rPr dirty="0" err="1"/>
              <a:t>lunghi</a:t>
            </a:r>
            <a:r>
              <a:rPr dirty="0"/>
              <a:t> e </a:t>
            </a:r>
            <a:r>
              <a:rPr dirty="0" err="1"/>
              <a:t>complessi</a:t>
            </a:r>
            <a:r>
              <a:rPr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303520" cy="3200400"/>
          </a:xfrm>
          <a:prstGeom prst="rect">
            <a:avLst/>
          </a:prstGeom>
          <a:solidFill>
            <a:srgbClr val="E6F0FF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</a:defRPr>
            </a:pPr>
            <a:r>
              <a:t>Qubit LOGICO (Error Corrected)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20290"/>
            <a:ext cx="53035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2060"/>
                </a:solidFill>
              </a:defRPr>
            </a:pPr>
            <a:r>
              <a:rPr dirty="0"/>
              <a:t>• Un </a:t>
            </a:r>
            <a:r>
              <a:rPr dirty="0" err="1"/>
              <a:t>insieme</a:t>
            </a:r>
            <a:r>
              <a:rPr dirty="0"/>
              <a:t> di </a:t>
            </a:r>
            <a:r>
              <a:rPr dirty="0" err="1"/>
              <a:t>molti</a:t>
            </a:r>
            <a:r>
              <a:rPr dirty="0"/>
              <a:t> qubit fisici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lavorano</a:t>
            </a:r>
            <a:r>
              <a:rPr dirty="0"/>
              <a:t> </a:t>
            </a:r>
            <a:r>
              <a:rPr dirty="0" err="1"/>
              <a:t>all'unisono</a:t>
            </a:r>
            <a:endParaRPr lang="it-IT" dirty="0"/>
          </a:p>
          <a:p>
            <a:pPr>
              <a:defRPr sz="1600">
                <a:solidFill>
                  <a:srgbClr val="002060"/>
                </a:solidFill>
              </a:defRPr>
            </a:pPr>
            <a:br>
              <a:rPr dirty="0"/>
            </a:br>
            <a:r>
              <a:rPr dirty="0"/>
              <a:t>• </a:t>
            </a:r>
            <a:r>
              <a:rPr dirty="0" err="1"/>
              <a:t>L'algoritmo</a:t>
            </a:r>
            <a:r>
              <a:rPr dirty="0"/>
              <a:t> (QEC) </a:t>
            </a:r>
            <a:r>
              <a:rPr dirty="0" err="1"/>
              <a:t>corregge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dirty="0" err="1"/>
              <a:t>errori</a:t>
            </a:r>
            <a:r>
              <a:rPr dirty="0"/>
              <a:t> in tempo </a:t>
            </a:r>
            <a:r>
              <a:rPr dirty="0" err="1"/>
              <a:t>reale</a:t>
            </a:r>
            <a:endParaRPr lang="it-IT" dirty="0"/>
          </a:p>
          <a:p>
            <a:pPr>
              <a:defRPr sz="1600">
                <a:solidFill>
                  <a:srgbClr val="002060"/>
                </a:solidFill>
              </a:defRPr>
            </a:pPr>
            <a:br>
              <a:rPr dirty="0"/>
            </a:br>
            <a:r>
              <a:rPr dirty="0"/>
              <a:t>• È </a:t>
            </a:r>
            <a:r>
              <a:rPr dirty="0" err="1"/>
              <a:t>l'unità</a:t>
            </a:r>
            <a:r>
              <a:rPr dirty="0"/>
              <a:t> '</a:t>
            </a:r>
            <a:r>
              <a:rPr dirty="0" err="1"/>
              <a:t>virtuale</a:t>
            </a:r>
            <a:r>
              <a:rPr dirty="0"/>
              <a:t>' stabile </a:t>
            </a:r>
            <a:r>
              <a:rPr dirty="0" err="1"/>
              <a:t>su</a:t>
            </a:r>
            <a:r>
              <a:rPr dirty="0"/>
              <a:t> cui </a:t>
            </a:r>
            <a:r>
              <a:rPr dirty="0" err="1"/>
              <a:t>gireranno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software</a:t>
            </a:r>
            <a:endParaRPr lang="it-IT" dirty="0"/>
          </a:p>
          <a:p>
            <a:pPr>
              <a:defRPr sz="1600">
                <a:solidFill>
                  <a:srgbClr val="002060"/>
                </a:solidFill>
              </a:defRPr>
            </a:pPr>
            <a:r>
              <a:rPr dirty="0"/>
              <a:t> </a:t>
            </a:r>
            <a:r>
              <a:rPr dirty="0" err="1"/>
              <a:t>finanziari</a:t>
            </a:r>
            <a:r>
              <a:rPr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120640"/>
            <a:ext cx="9445752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5212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0000"/>
                </a:solidFill>
              </a:defRPr>
            </a:pPr>
            <a:r>
              <a:t>UPDATE MERCATO 2024: Il rapporto di efficienza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577840"/>
            <a:ext cx="9235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/>
              <a:t>Stima </a:t>
            </a:r>
            <a:r>
              <a:rPr dirty="0" err="1"/>
              <a:t>Storica</a:t>
            </a:r>
            <a:r>
              <a:rPr dirty="0"/>
              <a:t> Standard: </a:t>
            </a:r>
            <a:r>
              <a:rPr dirty="0" err="1"/>
              <a:t>Servivano</a:t>
            </a:r>
            <a:r>
              <a:rPr dirty="0"/>
              <a:t> ~1.000 qubit fisici per 1 qubit </a:t>
            </a:r>
            <a:r>
              <a:rPr dirty="0" err="1"/>
              <a:t>logico</a:t>
            </a:r>
            <a:r>
              <a:rPr dirty="0"/>
              <a:t>.</a:t>
            </a:r>
          </a:p>
          <a:p>
            <a:pPr>
              <a:defRPr sz="1500" b="1"/>
            </a:pPr>
            <a:r>
              <a:rPr lang="it-IT" dirty="0"/>
              <a:t>Risultato r</a:t>
            </a:r>
            <a:r>
              <a:rPr dirty="0" err="1"/>
              <a:t>ecente</a:t>
            </a:r>
            <a:r>
              <a:rPr dirty="0"/>
              <a:t> (Microsoft &amp; </a:t>
            </a:r>
            <a:r>
              <a:rPr dirty="0" err="1"/>
              <a:t>Quantinuum</a:t>
            </a:r>
            <a:r>
              <a:rPr dirty="0"/>
              <a:t>, Apr 2024): </a:t>
            </a:r>
            <a:r>
              <a:rPr lang="it-IT" dirty="0"/>
              <a:t>o</a:t>
            </a:r>
            <a:r>
              <a:rPr dirty="0" err="1"/>
              <a:t>ttenuti</a:t>
            </a:r>
            <a:r>
              <a:rPr dirty="0"/>
              <a:t> 4 qubit </a:t>
            </a:r>
            <a:r>
              <a:rPr dirty="0" err="1"/>
              <a:t>logici</a:t>
            </a:r>
            <a:r>
              <a:rPr dirty="0"/>
              <a:t> </a:t>
            </a:r>
            <a:r>
              <a:rPr dirty="0" err="1"/>
              <a:t>affidabili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solo 30 qubit fisici.</a:t>
            </a:r>
          </a:p>
          <a:p>
            <a:pPr>
              <a:defRPr sz="1500" b="1">
                <a:solidFill>
                  <a:srgbClr val="006400"/>
                </a:solidFill>
              </a:defRPr>
            </a:pPr>
            <a:r>
              <a:rPr dirty="0"/>
              <a:t>Nuovo </a:t>
            </a:r>
            <a:r>
              <a:rPr dirty="0" err="1"/>
              <a:t>Rapporto</a:t>
            </a:r>
            <a:r>
              <a:rPr dirty="0"/>
              <a:t> Benchmark: ~7.5 : 1 (</a:t>
            </a:r>
            <a:r>
              <a:rPr dirty="0" err="1"/>
              <a:t>Drastica</a:t>
            </a:r>
            <a:r>
              <a:rPr dirty="0"/>
              <a:t> </a:t>
            </a:r>
            <a:r>
              <a:rPr dirty="0" err="1"/>
              <a:t>riduzione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costi</a:t>
            </a:r>
            <a:r>
              <a:rPr dirty="0"/>
              <a:t> hardware </a:t>
            </a:r>
            <a:r>
              <a:rPr dirty="0" err="1"/>
              <a:t>necessari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6300" y="373380"/>
            <a:ext cx="10450830" cy="552450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0">
                <a:solidFill>
                  <a:srgbClr val="FFFFFF"/>
                </a:solidFill>
                <a:latin typeface="Arial"/>
              </a:defRPr>
            </a:pPr>
            <a:r>
              <a:rPr sz="3600" dirty="0" err="1">
                <a:latin typeface="Calibri Light (Titoli)"/>
              </a:rPr>
              <a:t>Perché</a:t>
            </a:r>
            <a:r>
              <a:rPr sz="3600" dirty="0">
                <a:latin typeface="Calibri Light (Titoli)"/>
              </a:rPr>
              <a:t> serve </a:t>
            </a:r>
            <a:r>
              <a:rPr sz="3600" dirty="0" err="1">
                <a:latin typeface="Calibri Light (Titoli)"/>
              </a:rPr>
              <a:t>l'Hardware</a:t>
            </a:r>
            <a:r>
              <a:rPr sz="3600" dirty="0">
                <a:latin typeface="Calibri Light (Titoli)"/>
              </a:rPr>
              <a:t>? Il </a:t>
            </a:r>
            <a:r>
              <a:rPr sz="3600" dirty="0" err="1">
                <a:latin typeface="Calibri Light (Titoli)"/>
              </a:rPr>
              <a:t>limite</a:t>
            </a:r>
            <a:r>
              <a:rPr sz="3600" dirty="0">
                <a:latin typeface="Calibri Light (Titoli)"/>
              </a:rPr>
              <a:t> </a:t>
            </a:r>
            <a:r>
              <a:rPr sz="3600" dirty="0" err="1">
                <a:latin typeface="Calibri Light (Titoli)"/>
              </a:rPr>
              <a:t>dei</a:t>
            </a:r>
            <a:r>
              <a:rPr sz="3600" dirty="0">
                <a:latin typeface="Calibri Light (Titoli)"/>
              </a:rPr>
              <a:t> </a:t>
            </a:r>
            <a:r>
              <a:rPr sz="3600" dirty="0" err="1">
                <a:latin typeface="Calibri Light (Titoli)"/>
              </a:rPr>
              <a:t>Simulatori</a:t>
            </a:r>
            <a:endParaRPr sz="3600" dirty="0">
              <a:latin typeface="Calibri Light (Titoli)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0530" y="164973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060"/>
                </a:solidFill>
              </a:defRPr>
            </a:pPr>
            <a:r>
              <a:t>La Maledizione della Dimensionalità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520" y="2260819"/>
            <a:ext cx="5486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Per </a:t>
            </a:r>
            <a:r>
              <a:rPr dirty="0" err="1"/>
              <a:t>simulare</a:t>
            </a:r>
            <a:r>
              <a:rPr dirty="0"/>
              <a:t>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quantistico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un computer classico, </a:t>
            </a:r>
            <a:r>
              <a:rPr dirty="0" err="1"/>
              <a:t>dobbiamo</a:t>
            </a:r>
            <a:r>
              <a:rPr dirty="0"/>
              <a:t> </a:t>
            </a:r>
            <a:r>
              <a:rPr dirty="0" err="1"/>
              <a:t>memorizzare</a:t>
            </a:r>
            <a:r>
              <a:rPr dirty="0"/>
              <a:t> </a:t>
            </a:r>
            <a:r>
              <a:rPr dirty="0" err="1"/>
              <a:t>l'intera</a:t>
            </a:r>
            <a:r>
              <a:rPr dirty="0"/>
              <a:t> </a:t>
            </a:r>
            <a:r>
              <a:rPr dirty="0" err="1"/>
              <a:t>funzione</a:t>
            </a:r>
            <a:r>
              <a:rPr dirty="0"/>
              <a:t> </a:t>
            </a:r>
            <a:r>
              <a:rPr dirty="0" err="1"/>
              <a:t>d'onda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La memoria </a:t>
            </a:r>
            <a:r>
              <a:rPr dirty="0" err="1"/>
              <a:t>richiesta</a:t>
            </a:r>
            <a:r>
              <a:rPr dirty="0"/>
              <a:t> RADDOPPIA per ogni </a:t>
            </a:r>
            <a:r>
              <a:rPr dirty="0" err="1"/>
              <a:t>singolo</a:t>
            </a:r>
            <a:r>
              <a:rPr dirty="0"/>
              <a:t> Qubit </a:t>
            </a:r>
            <a:r>
              <a:rPr dirty="0" err="1"/>
              <a:t>aggiunto</a:t>
            </a:r>
            <a:r>
              <a:rPr dirty="0"/>
              <a:t>:</a:t>
            </a:r>
            <a:br>
              <a:rPr dirty="0"/>
            </a:br>
            <a:r>
              <a:rPr dirty="0"/>
              <a:t>• 1 Qubit = 2 numeri </a:t>
            </a:r>
            <a:r>
              <a:rPr dirty="0" err="1"/>
              <a:t>complessi</a:t>
            </a:r>
            <a:br>
              <a:rPr dirty="0"/>
            </a:br>
            <a:r>
              <a:rPr dirty="0"/>
              <a:t>• 10 Qubit = 1.024 numeri</a:t>
            </a:r>
            <a:br>
              <a:rPr dirty="0"/>
            </a:br>
            <a:r>
              <a:rPr dirty="0"/>
              <a:t>• 50 Qubit = 1.125.899.906.842.624 numeri!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40180"/>
            <a:ext cx="5303520" cy="41148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08800" y="168275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C0000"/>
                </a:solidFill>
              </a:defRPr>
            </a:pPr>
            <a:r>
              <a:rPr dirty="0"/>
              <a:t>Case Study: Supercomputer JUPITER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5920" y="21793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dirty="0" err="1"/>
              <a:t>Recente</a:t>
            </a:r>
            <a:r>
              <a:rPr dirty="0"/>
              <a:t> </a:t>
            </a:r>
            <a:r>
              <a:rPr dirty="0" err="1"/>
              <a:t>esperimento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supercomputer Exascale </a:t>
            </a:r>
            <a:r>
              <a:rPr dirty="0" err="1"/>
              <a:t>europeo</a:t>
            </a:r>
            <a:r>
              <a:rPr dirty="0"/>
              <a:t> (Jülich Supercomputing Centre).</a:t>
            </a:r>
            <a:br>
              <a:rPr dirty="0"/>
            </a:br>
            <a:br>
              <a:rPr dirty="0"/>
            </a:br>
            <a:r>
              <a:rPr dirty="0" err="1"/>
              <a:t>Obiettivo</a:t>
            </a:r>
            <a:r>
              <a:rPr dirty="0"/>
              <a:t>: </a:t>
            </a:r>
            <a:r>
              <a:rPr dirty="0" err="1"/>
              <a:t>Simulare</a:t>
            </a:r>
            <a:r>
              <a:rPr dirty="0"/>
              <a:t> un </a:t>
            </a:r>
            <a:r>
              <a:rPr dirty="0" err="1"/>
              <a:t>circuito</a:t>
            </a:r>
            <a:r>
              <a:rPr dirty="0"/>
              <a:t> </a:t>
            </a:r>
            <a:r>
              <a:rPr dirty="0" err="1"/>
              <a:t>quantistico</a:t>
            </a:r>
            <a:r>
              <a:rPr dirty="0"/>
              <a:t> </a:t>
            </a:r>
            <a:r>
              <a:rPr dirty="0" err="1"/>
              <a:t>randomico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RISULTATO:</a:t>
            </a:r>
            <a:br>
              <a:rPr dirty="0"/>
            </a:br>
            <a:r>
              <a:rPr dirty="0"/>
              <a:t>Per </a:t>
            </a:r>
            <a:r>
              <a:rPr dirty="0" err="1"/>
              <a:t>simulare</a:t>
            </a:r>
            <a:r>
              <a:rPr dirty="0"/>
              <a:t> </a:t>
            </a:r>
            <a:r>
              <a:rPr dirty="0" err="1"/>
              <a:t>appena</a:t>
            </a:r>
            <a:r>
              <a:rPr dirty="0"/>
              <a:t> 45-50 Qubit, il </a:t>
            </a:r>
            <a:r>
              <a:rPr dirty="0" err="1"/>
              <a:t>sistema</a:t>
            </a:r>
            <a:r>
              <a:rPr dirty="0"/>
              <a:t> ha </a:t>
            </a:r>
            <a:r>
              <a:rPr dirty="0" err="1"/>
              <a:t>dovuto</a:t>
            </a:r>
            <a:r>
              <a:rPr dirty="0"/>
              <a:t> </a:t>
            </a:r>
            <a:r>
              <a:rPr dirty="0" err="1"/>
              <a:t>allocare</a:t>
            </a:r>
            <a:r>
              <a:rPr dirty="0"/>
              <a:t> PETABYTE di memoria RAM </a:t>
            </a:r>
            <a:r>
              <a:rPr dirty="0" err="1"/>
              <a:t>distribuita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Conclusione</a:t>
            </a:r>
            <a:r>
              <a:rPr dirty="0"/>
              <a:t>: </a:t>
            </a:r>
            <a:r>
              <a:rPr dirty="0" err="1"/>
              <a:t>Oltre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50-60 qubit, </a:t>
            </a:r>
            <a:r>
              <a:rPr dirty="0" err="1"/>
              <a:t>nessun</a:t>
            </a:r>
            <a:r>
              <a:rPr dirty="0"/>
              <a:t> computer classico </a:t>
            </a:r>
            <a:r>
              <a:rPr dirty="0" err="1"/>
              <a:t>dell'universo</a:t>
            </a:r>
            <a:r>
              <a:rPr dirty="0"/>
              <a:t> </a:t>
            </a:r>
            <a:r>
              <a:rPr dirty="0" err="1"/>
              <a:t>può</a:t>
            </a:r>
            <a:r>
              <a:rPr dirty="0"/>
              <a:t> </a:t>
            </a:r>
            <a:r>
              <a:rPr dirty="0" err="1"/>
              <a:t>bastare</a:t>
            </a:r>
            <a:r>
              <a:rPr dirty="0"/>
              <a:t>. Ecco </a:t>
            </a:r>
            <a:r>
              <a:rPr dirty="0" err="1"/>
              <a:t>perché</a:t>
            </a:r>
            <a:r>
              <a:rPr dirty="0"/>
              <a:t> </a:t>
            </a:r>
            <a:r>
              <a:rPr dirty="0" err="1"/>
              <a:t>dobbiamo</a:t>
            </a:r>
            <a:r>
              <a:rPr dirty="0"/>
              <a:t> </a:t>
            </a:r>
            <a:r>
              <a:rPr dirty="0" err="1"/>
              <a:t>costruire</a:t>
            </a:r>
            <a:r>
              <a:rPr dirty="0"/>
              <a:t> qubit </a:t>
            </a:r>
            <a:r>
              <a:rPr dirty="0" err="1"/>
              <a:t>reali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4EFDB-B6B5-44CB-2A04-7123E65F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0B2E87-36D0-311D-E4F7-5110DF1C3A64}"/>
              </a:ext>
            </a:extLst>
          </p:cNvPr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mmagine 1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D698FA76-8E88-4FCE-F669-4E5DDBF06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516" y="1325880"/>
            <a:ext cx="9242677" cy="5281154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7DA2486C-165B-A6E9-267B-E6DBDF427F02}"/>
              </a:ext>
            </a:extLst>
          </p:cNvPr>
          <p:cNvSpPr/>
          <p:nvPr/>
        </p:nvSpPr>
        <p:spPr>
          <a:xfrm>
            <a:off x="880110" y="373380"/>
            <a:ext cx="10454640" cy="552450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0">
                <a:solidFill>
                  <a:srgbClr val="FFFFFF"/>
                </a:solidFill>
                <a:latin typeface="Arial"/>
              </a:defRPr>
            </a:pPr>
            <a:r>
              <a:rPr sz="3600" dirty="0" err="1">
                <a:latin typeface="Calibri Light (Titoli)"/>
              </a:rPr>
              <a:t>Perché</a:t>
            </a:r>
            <a:r>
              <a:rPr sz="3600" dirty="0">
                <a:latin typeface="Calibri Light (Titoli)"/>
              </a:rPr>
              <a:t> serve </a:t>
            </a:r>
            <a:r>
              <a:rPr sz="3600" dirty="0" err="1">
                <a:latin typeface="Calibri Light (Titoli)"/>
              </a:rPr>
              <a:t>l'Hardware</a:t>
            </a:r>
            <a:r>
              <a:rPr sz="3600" dirty="0">
                <a:latin typeface="Calibri Light (Titoli)"/>
              </a:rPr>
              <a:t>? Il </a:t>
            </a:r>
            <a:r>
              <a:rPr sz="3600" dirty="0" err="1">
                <a:latin typeface="Calibri Light (Titoli)"/>
              </a:rPr>
              <a:t>limite</a:t>
            </a:r>
            <a:r>
              <a:rPr sz="3600" dirty="0">
                <a:latin typeface="Calibri Light (Titoli)"/>
              </a:rPr>
              <a:t> </a:t>
            </a:r>
            <a:r>
              <a:rPr sz="3600" dirty="0" err="1">
                <a:latin typeface="Calibri Light (Titoli)"/>
              </a:rPr>
              <a:t>dei</a:t>
            </a:r>
            <a:r>
              <a:rPr sz="3600" dirty="0">
                <a:latin typeface="Calibri Light (Titoli)"/>
              </a:rPr>
              <a:t> </a:t>
            </a:r>
            <a:r>
              <a:rPr sz="3600" dirty="0" err="1">
                <a:latin typeface="Calibri Light (Titoli)"/>
              </a:rPr>
              <a:t>Simulatori</a:t>
            </a:r>
            <a:endParaRPr sz="3600" dirty="0">
              <a:latin typeface="Calibri Light (Titoli)"/>
            </a:endParaRPr>
          </a:p>
        </p:txBody>
      </p:sp>
    </p:spTree>
    <p:extLst>
      <p:ext uri="{BB962C8B-B14F-4D97-AF65-F5344CB8AC3E}">
        <p14:creationId xmlns:p14="http://schemas.microsoft.com/office/powerpoint/2010/main" val="10141223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4D4E5-729F-EED3-3A42-B6EEF4A7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F75C4EAA-106A-BC13-61AC-3A3163B8F6C1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6546614-2AEB-B7E9-63EE-D83E866E4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8"/>
            <a:ext cx="10515600" cy="605041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QC Superconduttivo: come sarà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72179BA-166C-1A5D-575A-C3E53B7E7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139" y="1187925"/>
            <a:ext cx="9777721" cy="54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40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0110" y="369570"/>
            <a:ext cx="10443209" cy="537210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0">
                <a:solidFill>
                  <a:srgbClr val="FFFFFF"/>
                </a:solidFill>
                <a:latin typeface="Arial"/>
              </a:defRPr>
            </a:pPr>
            <a:r>
              <a:rPr sz="3600" dirty="0">
                <a:latin typeface="Calibri Light (Titoli)"/>
              </a:rPr>
              <a:t>La Frontiera: Quantum Machine Learning (QML)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9245" y="1463040"/>
            <a:ext cx="44794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646464"/>
                </a:solidFill>
              </a:defRPr>
            </a:pPr>
            <a:r>
              <a:rPr sz="2000" dirty="0" err="1"/>
              <a:t>Algoritmi</a:t>
            </a:r>
            <a:r>
              <a:rPr sz="2000" dirty="0"/>
              <a:t> Standard (</a:t>
            </a:r>
            <a:r>
              <a:rPr lang="it-IT" sz="2000" dirty="0"/>
              <a:t>QPE, </a:t>
            </a:r>
            <a:r>
              <a:rPr sz="2000" dirty="0"/>
              <a:t>Shor, Grover</a:t>
            </a:r>
            <a:r>
              <a:rPr lang="it-IT" sz="2000" dirty="0"/>
              <a:t>…</a:t>
            </a:r>
            <a:r>
              <a:rPr sz="2000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1849735"/>
            <a:ext cx="368358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• </a:t>
            </a:r>
            <a:r>
              <a:rPr lang="it-IT" sz="2000" dirty="0"/>
              <a:t>Richiedono precisione assoluta</a:t>
            </a:r>
          </a:p>
          <a:p>
            <a:endParaRPr lang="it-IT" sz="2000" dirty="0"/>
          </a:p>
          <a:p>
            <a:r>
              <a:rPr lang="it-IT" sz="2000" dirty="0"/>
              <a:t>• Il rumore distrugge il calcolo</a:t>
            </a:r>
          </a:p>
          <a:p>
            <a:endParaRPr lang="it-IT" sz="2000" dirty="0"/>
          </a:p>
          <a:p>
            <a:r>
              <a:rPr lang="it-IT" sz="2000" dirty="0"/>
              <a:t>• Necessitano </a:t>
            </a:r>
            <a:r>
              <a:rPr lang="it-IT" sz="2000" dirty="0" err="1"/>
              <a:t>Qubit</a:t>
            </a:r>
            <a:r>
              <a:rPr lang="it-IT" sz="2000" dirty="0"/>
              <a:t> logici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303520" cy="2011680"/>
          </a:xfrm>
          <a:prstGeom prst="rect">
            <a:avLst/>
          </a:prstGeom>
          <a:solidFill>
            <a:srgbClr val="DC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87196" y="1463040"/>
            <a:ext cx="45307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006400"/>
                </a:solidFill>
              </a:defRPr>
            </a:pPr>
            <a:r>
              <a:rPr sz="2000" dirty="0"/>
              <a:t>Quantum Machine Learning (Variational)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49120"/>
            <a:ext cx="4295535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C0000"/>
                </a:solidFill>
              </a:defRPr>
            </a:pPr>
            <a:r>
              <a:rPr dirty="0"/>
              <a:t>• </a:t>
            </a:r>
            <a:r>
              <a:rPr sz="2000" dirty="0" err="1"/>
              <a:t>Tollerano</a:t>
            </a:r>
            <a:r>
              <a:rPr sz="2000" dirty="0"/>
              <a:t> il </a:t>
            </a:r>
            <a:r>
              <a:rPr sz="2000" dirty="0" err="1"/>
              <a:t>rumore</a:t>
            </a:r>
            <a:r>
              <a:rPr sz="2000" dirty="0"/>
              <a:t> (Noise Resilience)</a:t>
            </a:r>
            <a:endParaRPr lang="it-IT" sz="2000" dirty="0"/>
          </a:p>
          <a:p>
            <a:pPr>
              <a:defRPr sz="1600" b="1">
                <a:solidFill>
                  <a:srgbClr val="CC0000"/>
                </a:solidFill>
              </a:defRPr>
            </a:pPr>
            <a:endParaRPr sz="2000" dirty="0"/>
          </a:p>
          <a:p>
            <a:r>
              <a:rPr sz="2000" dirty="0"/>
              <a:t>• </a:t>
            </a:r>
            <a:r>
              <a:rPr sz="2000" dirty="0" err="1"/>
              <a:t>Ottimizzazione</a:t>
            </a:r>
            <a:r>
              <a:rPr sz="2000" dirty="0"/>
              <a:t> </a:t>
            </a:r>
            <a:r>
              <a:rPr sz="2000" dirty="0" err="1"/>
              <a:t>iterativa</a:t>
            </a:r>
            <a:endParaRPr lang="it-IT" sz="2000" dirty="0"/>
          </a:p>
          <a:p>
            <a:endParaRPr sz="2000" dirty="0"/>
          </a:p>
          <a:p>
            <a:r>
              <a:rPr sz="2000" dirty="0"/>
              <a:t>• </a:t>
            </a:r>
            <a:r>
              <a:rPr sz="2000" dirty="0" err="1"/>
              <a:t>Funzionano</a:t>
            </a:r>
            <a:r>
              <a:rPr sz="2000" dirty="0"/>
              <a:t> </a:t>
            </a:r>
            <a:r>
              <a:rPr sz="2000" dirty="0" err="1"/>
              <a:t>su</a:t>
            </a:r>
            <a:r>
              <a:rPr sz="2000" dirty="0"/>
              <a:t> NISQ (Qubit Fisici)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840480"/>
            <a:ext cx="9445752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Il vantaggio del rumore nell'ottimizzazione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79" y="4297680"/>
            <a:ext cx="42871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 problemi complessi hanno molti ‘minimi locali’.</a:t>
            </a:r>
          </a:p>
          <a:p>
            <a:endParaRPr lang="it-IT" dirty="0"/>
          </a:p>
          <a:p>
            <a:r>
              <a:rPr dirty="0"/>
              <a:t>Il </a:t>
            </a:r>
            <a:r>
              <a:rPr dirty="0" err="1"/>
              <a:t>rumore</a:t>
            </a:r>
            <a:r>
              <a:rPr dirty="0"/>
              <a:t> </a:t>
            </a:r>
            <a:r>
              <a:rPr dirty="0" err="1"/>
              <a:t>quantistico</a:t>
            </a:r>
            <a:r>
              <a:rPr dirty="0"/>
              <a:t> </a:t>
            </a:r>
            <a:r>
              <a:rPr dirty="0" err="1"/>
              <a:t>agisce</a:t>
            </a:r>
            <a:r>
              <a:rPr dirty="0"/>
              <a:t> come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scossa</a:t>
            </a:r>
            <a:r>
              <a:rPr dirty="0"/>
              <a:t> </a:t>
            </a:r>
            <a:r>
              <a:rPr dirty="0" err="1"/>
              <a:t>sismica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permette</a:t>
            </a:r>
            <a:r>
              <a:rPr dirty="0"/>
              <a:t> </a:t>
            </a:r>
            <a:r>
              <a:rPr dirty="0" err="1"/>
              <a:t>all'algoritmo</a:t>
            </a:r>
            <a:r>
              <a:rPr dirty="0"/>
              <a:t> di </a:t>
            </a:r>
            <a:r>
              <a:rPr lang="it-IT" dirty="0"/>
              <a:t>"</a:t>
            </a:r>
            <a:r>
              <a:rPr dirty="0" err="1"/>
              <a:t>saltare</a:t>
            </a:r>
            <a:r>
              <a:rPr dirty="0"/>
              <a:t> </a:t>
            </a:r>
            <a:r>
              <a:rPr dirty="0" err="1"/>
              <a:t>fuori</a:t>
            </a:r>
            <a:r>
              <a:rPr lang="it-IT" dirty="0"/>
              <a:t>"</a:t>
            </a:r>
            <a:r>
              <a:rPr dirty="0"/>
              <a:t> </a:t>
            </a:r>
            <a:r>
              <a:rPr dirty="0" err="1"/>
              <a:t>dalle</a:t>
            </a:r>
            <a:r>
              <a:rPr dirty="0"/>
              <a:t> </a:t>
            </a:r>
            <a:r>
              <a:rPr dirty="0" err="1"/>
              <a:t>buche</a:t>
            </a:r>
            <a:r>
              <a:rPr dirty="0"/>
              <a:t> </a:t>
            </a:r>
            <a:r>
              <a:rPr dirty="0" err="1"/>
              <a:t>locali</a:t>
            </a:r>
            <a:r>
              <a:rPr dirty="0"/>
              <a:t> e </a:t>
            </a:r>
            <a:r>
              <a:rPr dirty="0" err="1"/>
              <a:t>trovare</a:t>
            </a:r>
            <a:r>
              <a:rPr dirty="0"/>
              <a:t> il '</a:t>
            </a:r>
            <a:r>
              <a:rPr dirty="0" err="1"/>
              <a:t>minimo</a:t>
            </a:r>
            <a:r>
              <a:rPr dirty="0"/>
              <a:t> </a:t>
            </a:r>
            <a:r>
              <a:rPr dirty="0" err="1"/>
              <a:t>globale</a:t>
            </a:r>
            <a:r>
              <a:rPr dirty="0"/>
              <a:t>' (</a:t>
            </a:r>
            <a:r>
              <a:rPr dirty="0" err="1"/>
              <a:t>soluzione</a:t>
            </a:r>
            <a:r>
              <a:rPr dirty="0"/>
              <a:t> </a:t>
            </a:r>
            <a:r>
              <a:rPr dirty="0" err="1"/>
              <a:t>ottima</a:t>
            </a:r>
            <a:r>
              <a:rPr lang="it-IT" dirty="0"/>
              <a:t>le</a:t>
            </a:r>
            <a:r>
              <a:rPr dirty="0"/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114800"/>
            <a:ext cx="4572000" cy="201168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B4B4B4"/>
                </a:solidFill>
              </a:defRPr>
            </a:pPr>
            <a:r>
              <a:t>[INCOLLA QUI L'IMMAGINE 'LOSS LANDSCAPE']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172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/>
            </a:pPr>
            <a:r>
              <a:t>Fig. 1: Visualizzazione di un 'Loss Landscape' non convesso (Fonte: Li et al., NeurIPS 2018)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48517DA2-824C-8D1C-FAA8-7B54BA6D9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9" y="4114800"/>
            <a:ext cx="4527177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Un </a:t>
            </a:r>
            <a:r>
              <a:rPr lang="en-US" sz="3600" dirty="0" err="1">
                <a:solidFill>
                  <a:schemeClr val="bg1"/>
                </a:solidFill>
              </a:rPr>
              <a:t>passo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indietro</a:t>
            </a:r>
            <a:r>
              <a:rPr lang="en-US" sz="3600" dirty="0">
                <a:solidFill>
                  <a:schemeClr val="bg1"/>
                </a:solidFill>
              </a:rPr>
              <a:t>: le Reti </a:t>
            </a:r>
            <a:r>
              <a:rPr lang="en-US" sz="3600" dirty="0" err="1">
                <a:solidFill>
                  <a:schemeClr val="bg1"/>
                </a:solidFill>
              </a:rPr>
              <a:t>Neurali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classiche</a:t>
            </a:r>
            <a:endParaRPr lang="it-IT" sz="3600" dirty="0">
              <a:solidFill>
                <a:schemeClr val="bg1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7799E9-0962-4771-8B35-3E1D57794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388"/>
            <a:ext cx="10515600" cy="4830333"/>
          </a:xfrm>
        </p:spPr>
        <p:txBody>
          <a:bodyPr>
            <a:normAutofit/>
          </a:bodyPr>
          <a:lstStyle/>
          <a:p>
            <a:pPr algn="just"/>
            <a:r>
              <a:rPr lang="it-IT" dirty="0"/>
              <a:t>Le reti neurali si ispirano all'"architettura" del cervello umano e l'elemento base è appunto il «neurone artificiale».</a:t>
            </a:r>
          </a:p>
          <a:p>
            <a:pPr algn="just"/>
            <a:r>
              <a:rPr lang="it-IT" dirty="0"/>
              <a:t>I neuroni sono interconnessi e raggruppati in strati.</a:t>
            </a:r>
          </a:p>
          <a:p>
            <a:pPr algn="just"/>
            <a:r>
              <a:rPr lang="it-IT" dirty="0"/>
              <a:t>Allo strato dei neuroni segue una funzioni di attivazione per generare la risposta finale (a gradino, a </a:t>
            </a:r>
            <a:r>
              <a:rPr lang="it-IT" dirty="0" err="1"/>
              <a:t>sigmoide</a:t>
            </a:r>
            <a:r>
              <a:rPr lang="it-IT" dirty="0"/>
              <a:t>, </a:t>
            </a:r>
            <a:r>
              <a:rPr lang="it-IT" dirty="0" err="1"/>
              <a:t>ReLU</a:t>
            </a:r>
            <a:r>
              <a:rPr lang="it-IT" dirty="0"/>
              <a:t>,...).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.</a:t>
            </a:r>
            <a:endParaRPr lang="it-IT" dirty="0"/>
          </a:p>
          <a:p>
            <a:endParaRPr lang="it-IT" dirty="0"/>
          </a:p>
        </p:txBody>
      </p:sp>
      <p:pic>
        <p:nvPicPr>
          <p:cNvPr id="8" name="Immagine 7" descr="Immagine che contiene testo&#10;&#10;Descrizione generata con affidabilità elevata">
            <a:extLst>
              <a:ext uri="{FF2B5EF4-FFF2-40B4-BE49-F238E27FC236}">
                <a16:creationId xmlns:a16="http://schemas.microsoft.com/office/drawing/2014/main" id="{97F6E9DA-DF3D-438D-8999-F43F4F7E3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893" y="3671488"/>
            <a:ext cx="3917532" cy="276424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A0A51D7-E823-4A91-9FA3-D5FEDE976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71" y="3848426"/>
            <a:ext cx="4515024" cy="241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89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02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The </a:t>
            </a:r>
            <a:r>
              <a:rPr lang="it-IT" sz="3600" dirty="0" err="1">
                <a:solidFill>
                  <a:schemeClr val="bg1"/>
                </a:solidFill>
              </a:rPr>
              <a:t>Frontier</a:t>
            </a:r>
            <a:r>
              <a:rPr lang="it-IT" sz="3600" dirty="0">
                <a:solidFill>
                  <a:schemeClr val="bg1"/>
                </a:solidFill>
              </a:rPr>
              <a:t>: CNN vs Quantum Machine Learning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7799E9-0962-4771-8B35-3E1D57794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572" y="1245986"/>
            <a:ext cx="10515600" cy="483033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rgbClr val="0563C1"/>
                </a:solidFill>
              </a:rPr>
              <a:t>Convolutional neural networks (</a:t>
            </a:r>
            <a:r>
              <a:rPr lang="en-US" sz="2400" dirty="0" err="1">
                <a:solidFill>
                  <a:srgbClr val="0563C1"/>
                </a:solidFill>
              </a:rPr>
              <a:t>ConvNets</a:t>
            </a:r>
            <a:r>
              <a:rPr lang="en-US" sz="2400" dirty="0">
                <a:solidFill>
                  <a:srgbClr val="0563C1"/>
                </a:solidFill>
              </a:rPr>
              <a:t> or CNNs) are a category of neural networks</a:t>
            </a:r>
            <a:r>
              <a:rPr lang="en-US" sz="2400" baseline="30000" dirty="0">
                <a:solidFill>
                  <a:srgbClr val="0563C1"/>
                </a:solidFill>
              </a:rPr>
              <a:t>1</a:t>
            </a:r>
            <a:r>
              <a:rPr lang="en-US" sz="2400" dirty="0">
                <a:solidFill>
                  <a:srgbClr val="0563C1"/>
                </a:solidFill>
              </a:rPr>
              <a:t> that have proven to be very effective in tasks such as image recognition and classification</a:t>
            </a:r>
          </a:p>
          <a:p>
            <a:pPr algn="just"/>
            <a:r>
              <a:rPr lang="en-US" sz="2400" dirty="0">
                <a:solidFill>
                  <a:srgbClr val="0563C1"/>
                </a:solidFill>
              </a:rPr>
              <a:t>Convolution works by extracting a feature map from a source image:</a:t>
            </a:r>
            <a:endParaRPr lang="it-IT" sz="2400" dirty="0">
              <a:solidFill>
                <a:srgbClr val="0563C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E387B5-734B-4965-A097-16BF3CD0C520}"/>
              </a:ext>
            </a:extLst>
          </p:cNvPr>
          <p:cNvSpPr txBox="1"/>
          <p:nvPr/>
        </p:nvSpPr>
        <p:spPr>
          <a:xfrm>
            <a:off x="2906998" y="6303921"/>
            <a:ext cx="6592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aseline="30000" dirty="0">
                <a:solidFill>
                  <a:srgbClr val="0563C1"/>
                </a:solidFill>
              </a:rPr>
              <a:t>1</a:t>
            </a:r>
            <a:r>
              <a:rPr lang="it-IT" dirty="0">
                <a:hlinkClick r:id="rId2"/>
              </a:rPr>
              <a:t>https://ujjwalkarn.me/2016/08/11/intuitive-explanation-convnets/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AC9373E-5D3F-463B-AA3E-64E1B6CE1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192" y="2867635"/>
            <a:ext cx="5975616" cy="332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00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o 15">
            <a:extLst>
              <a:ext uri="{FF2B5EF4-FFF2-40B4-BE49-F238E27FC236}">
                <a16:creationId xmlns:a16="http://schemas.microsoft.com/office/drawing/2014/main" id="{CD49F4C7-6924-EECE-5E81-D5CCF5C00845}"/>
              </a:ext>
            </a:extLst>
          </p:cNvPr>
          <p:cNvGrpSpPr/>
          <p:nvPr/>
        </p:nvGrpSpPr>
        <p:grpSpPr>
          <a:xfrm>
            <a:off x="464597" y="1347447"/>
            <a:ext cx="4828370" cy="2539183"/>
            <a:chOff x="5041345" y="-37888"/>
            <a:chExt cx="4828370" cy="2539183"/>
          </a:xfrm>
        </p:grpSpPr>
        <p:pic>
          <p:nvPicPr>
            <p:cNvPr id="4" name="Immagine 3" descr="https://cambridgespark.com/content/tutorials/convolutional-neural-networks-with-keras/figures/convolve.png">
              <a:extLst>
                <a:ext uri="{FF2B5EF4-FFF2-40B4-BE49-F238E27FC236}">
                  <a16:creationId xmlns:a16="http://schemas.microsoft.com/office/drawing/2014/main" id="{0DB721EB-5E1C-4EBF-BC2C-68DD73A333E6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1345" y="331444"/>
              <a:ext cx="4828370" cy="2169851"/>
            </a:xfrm>
            <a:prstGeom prst="rect">
              <a:avLst/>
            </a:prstGeom>
            <a:noFill/>
          </p:spPr>
        </p:pic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41DE72B7-F325-41AB-BFE3-DE70E392894A}"/>
                </a:ext>
              </a:extLst>
            </p:cNvPr>
            <p:cNvSpPr txBox="1"/>
            <p:nvPr/>
          </p:nvSpPr>
          <p:spPr>
            <a:xfrm>
              <a:off x="6790875" y="-37888"/>
              <a:ext cx="13293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0" i="0" u="sng" strike="noStrike" kern="1200" cap="none" spc="0" normalizeH="0" baseline="0" noProof="0" dirty="0" err="1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Filtering</a:t>
              </a:r>
              <a:endParaRPr kumimoji="0" lang="it-IT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41A9C953-D338-F73E-1365-FAB215E9BBA9}"/>
              </a:ext>
            </a:extLst>
          </p:cNvPr>
          <p:cNvGrpSpPr/>
          <p:nvPr/>
        </p:nvGrpSpPr>
        <p:grpSpPr>
          <a:xfrm>
            <a:off x="6618553" y="1347447"/>
            <a:ext cx="3639608" cy="2098515"/>
            <a:chOff x="5041345" y="2195076"/>
            <a:chExt cx="3639608" cy="2098515"/>
          </a:xfrm>
        </p:grpSpPr>
        <p:pic>
          <p:nvPicPr>
            <p:cNvPr id="6" name="Immagine 5" descr="https://cambridgespark.com/content/tutorials/convolutional-neural-networks-with-keras/figures/pool.png">
              <a:extLst>
                <a:ext uri="{FF2B5EF4-FFF2-40B4-BE49-F238E27FC236}">
                  <a16:creationId xmlns:a16="http://schemas.microsoft.com/office/drawing/2014/main" id="{982474EC-1DBB-4E29-B282-9FA62F323532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1345" y="2564408"/>
              <a:ext cx="3639608" cy="17291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F20EE278-CDA3-4B00-834B-3FB426A805BC}"/>
                </a:ext>
              </a:extLst>
            </p:cNvPr>
            <p:cNvSpPr txBox="1"/>
            <p:nvPr/>
          </p:nvSpPr>
          <p:spPr>
            <a:xfrm>
              <a:off x="6700979" y="2195076"/>
              <a:ext cx="13293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Pooling</a:t>
              </a: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2A9B08B9-D28F-C66E-C7C9-BEA5CCF97E13}"/>
              </a:ext>
            </a:extLst>
          </p:cNvPr>
          <p:cNvGrpSpPr/>
          <p:nvPr/>
        </p:nvGrpSpPr>
        <p:grpSpPr>
          <a:xfrm>
            <a:off x="4891928" y="4368120"/>
            <a:ext cx="7047360" cy="2329762"/>
            <a:chOff x="4818416" y="4293591"/>
            <a:chExt cx="7201687" cy="2329762"/>
          </a:xfrm>
        </p:grpSpPr>
        <p:pic>
          <p:nvPicPr>
            <p:cNvPr id="7" name="Immagine 6" descr="https://cambridgespark.com/content/tutorials/convolutional-neural-networks-with-keras/figures/cnn.png">
              <a:extLst>
                <a:ext uri="{FF2B5EF4-FFF2-40B4-BE49-F238E27FC236}">
                  <a16:creationId xmlns:a16="http://schemas.microsoft.com/office/drawing/2014/main" id="{72991820-938D-461B-9610-5D4372E987F4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1730" y="4293591"/>
              <a:ext cx="4315581" cy="23297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52B1DAD8-86E2-41A4-9F8C-512B7615A41A}"/>
                </a:ext>
              </a:extLst>
            </p:cNvPr>
            <p:cNvSpPr txBox="1"/>
            <p:nvPr/>
          </p:nvSpPr>
          <p:spPr>
            <a:xfrm>
              <a:off x="4818416" y="5040741"/>
              <a:ext cx="13293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Alternating</a:t>
              </a:r>
              <a:r>
                <a:rPr kumimoji="0" lang="it-IT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it-IT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Blocks</a:t>
              </a:r>
              <a:endPara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FC38CDDC-0A09-4D7B-9C4D-D81FC5BB3099}"/>
                </a:ext>
              </a:extLst>
            </p:cNvPr>
            <p:cNvSpPr txBox="1"/>
            <p:nvPr/>
          </p:nvSpPr>
          <p:spPr>
            <a:xfrm>
              <a:off x="10690794" y="5089140"/>
              <a:ext cx="13293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MPLs</a:t>
              </a:r>
              <a:endPara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B97E597-383A-49C0-B7DF-525CD3C662C2}"/>
              </a:ext>
            </a:extLst>
          </p:cNvPr>
          <p:cNvSpPr txBox="1"/>
          <p:nvPr/>
        </p:nvSpPr>
        <p:spPr>
          <a:xfrm>
            <a:off x="8928852" y="4066015"/>
            <a:ext cx="132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sng" strike="noStrike" kern="1200" cap="none" spc="0" normalizeH="0" baseline="0" noProof="0" dirty="0" err="1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Flattening</a:t>
            </a:r>
            <a:endParaRPr kumimoji="0" lang="it-IT" sz="1800" b="0" i="0" u="sng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A60E97-1212-49F2-8D33-5D694A13C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181" y="4240961"/>
            <a:ext cx="4421584" cy="244342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it-IT" sz="2400" u="sng" dirty="0" err="1">
                <a:solidFill>
                  <a:srgbClr val="0563C1"/>
                </a:solidFill>
              </a:rPr>
              <a:t>Convolutional</a:t>
            </a:r>
            <a:r>
              <a:rPr lang="it-IT" sz="2400" u="sng" dirty="0">
                <a:solidFill>
                  <a:srgbClr val="0563C1"/>
                </a:solidFill>
              </a:rPr>
              <a:t> </a:t>
            </a:r>
            <a:r>
              <a:rPr lang="it-IT" sz="2400" u="sng" dirty="0" err="1">
                <a:solidFill>
                  <a:srgbClr val="0563C1"/>
                </a:solidFill>
              </a:rPr>
              <a:t>Blocks</a:t>
            </a:r>
            <a:r>
              <a:rPr lang="it-IT" sz="2400" u="sng" dirty="0">
                <a:solidFill>
                  <a:srgbClr val="0563C1"/>
                </a:solidFill>
              </a:rPr>
              <a:t>:</a:t>
            </a:r>
          </a:p>
          <a:p>
            <a:pPr lvl="1"/>
            <a:r>
              <a:rPr lang="it-IT" sz="1800" dirty="0">
                <a:solidFill>
                  <a:srgbClr val="0563C1"/>
                </a:solidFill>
              </a:rPr>
              <a:t>Filtering</a:t>
            </a:r>
          </a:p>
          <a:p>
            <a:pPr lvl="1"/>
            <a:r>
              <a:rPr lang="it-IT" sz="1800" dirty="0">
                <a:solidFill>
                  <a:srgbClr val="0563C1"/>
                </a:solidFill>
              </a:rPr>
              <a:t>Pooling</a:t>
            </a:r>
          </a:p>
          <a:p>
            <a:r>
              <a:rPr lang="it-IT" sz="2400" u="sng" dirty="0" err="1">
                <a:solidFill>
                  <a:srgbClr val="0563C1"/>
                </a:solidFill>
              </a:rPr>
              <a:t>Alternating</a:t>
            </a:r>
            <a:r>
              <a:rPr lang="it-IT" sz="2400" u="sng" dirty="0">
                <a:solidFill>
                  <a:srgbClr val="0563C1"/>
                </a:solidFill>
              </a:rPr>
              <a:t> </a:t>
            </a:r>
            <a:r>
              <a:rPr lang="it-IT" sz="2400" u="sng" dirty="0" err="1">
                <a:solidFill>
                  <a:srgbClr val="0563C1"/>
                </a:solidFill>
              </a:rPr>
              <a:t>Convolutional</a:t>
            </a:r>
            <a:r>
              <a:rPr lang="it-IT" sz="2400" u="sng" dirty="0">
                <a:solidFill>
                  <a:srgbClr val="0563C1"/>
                </a:solidFill>
              </a:rPr>
              <a:t> Blocks</a:t>
            </a:r>
          </a:p>
          <a:p>
            <a:r>
              <a:rPr lang="it-IT" sz="2400" u="sng" dirty="0" err="1">
                <a:solidFill>
                  <a:srgbClr val="0563C1"/>
                </a:solidFill>
              </a:rPr>
              <a:t>Flattening</a:t>
            </a:r>
            <a:r>
              <a:rPr lang="it-IT" sz="2400" u="sng" dirty="0">
                <a:solidFill>
                  <a:srgbClr val="0563C1"/>
                </a:solidFill>
              </a:rPr>
              <a:t> </a:t>
            </a:r>
          </a:p>
          <a:p>
            <a:r>
              <a:rPr lang="it-IT" sz="2400" u="sng" dirty="0">
                <a:solidFill>
                  <a:srgbClr val="0563C1"/>
                </a:solidFill>
              </a:rPr>
              <a:t>Multi </a:t>
            </a:r>
            <a:r>
              <a:rPr lang="it-IT" sz="2400" u="sng" dirty="0" err="1">
                <a:solidFill>
                  <a:srgbClr val="0563C1"/>
                </a:solidFill>
              </a:rPr>
              <a:t>Perceptron</a:t>
            </a:r>
            <a:r>
              <a:rPr lang="it-IT" sz="2400" u="sng" dirty="0">
                <a:solidFill>
                  <a:srgbClr val="0563C1"/>
                </a:solidFill>
              </a:rPr>
              <a:t> </a:t>
            </a:r>
            <a:r>
              <a:rPr lang="it-IT" sz="2400" u="sng" dirty="0" err="1">
                <a:solidFill>
                  <a:srgbClr val="0563C1"/>
                </a:solidFill>
              </a:rPr>
              <a:t>Layers</a:t>
            </a:r>
            <a:r>
              <a:rPr lang="it-IT" sz="2400" u="sng" dirty="0">
                <a:solidFill>
                  <a:srgbClr val="0563C1"/>
                </a:solidFill>
              </a:rPr>
              <a:t> (</a:t>
            </a:r>
            <a:r>
              <a:rPr lang="it-IT" sz="2400" u="sng" dirty="0" err="1">
                <a:solidFill>
                  <a:srgbClr val="0563C1"/>
                </a:solidFill>
              </a:rPr>
              <a:t>MPLs</a:t>
            </a:r>
            <a:r>
              <a:rPr lang="it-IT" sz="2400" dirty="0">
                <a:solidFill>
                  <a:srgbClr val="0563C1"/>
                </a:solidFill>
              </a:rPr>
              <a:t>)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82953B6C-35FB-7BD4-9740-5C76C12CBB91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3E256B17-3DF0-AC67-9FC9-FE7C3425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02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CNN Schema</a:t>
            </a:r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8DFBDBB5-F3C4-C21B-1BDB-3C379FF1C8F2}"/>
              </a:ext>
            </a:extLst>
          </p:cNvPr>
          <p:cNvCxnSpPr>
            <a:cxnSpLocks/>
          </p:cNvCxnSpPr>
          <p:nvPr/>
        </p:nvCxnSpPr>
        <p:spPr>
          <a:xfrm>
            <a:off x="17107" y="4055703"/>
            <a:ext cx="12222126" cy="10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486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70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CNN ON MNIST</a:t>
            </a:r>
            <a:endParaRPr lang="it-IT" sz="3600" dirty="0">
              <a:solidFill>
                <a:schemeClr val="bg1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7799E9-0962-4771-8B35-3E1D57794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53388"/>
            <a:ext cx="10602191" cy="52448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563C1"/>
                </a:solidFill>
              </a:rPr>
              <a:t>How a convolutional network classifies handwritten numbers:</a:t>
            </a:r>
            <a:endParaRPr lang="it-IT" dirty="0">
              <a:solidFill>
                <a:srgbClr val="0563C1"/>
              </a:solidFill>
            </a:endParaRPr>
          </a:p>
        </p:txBody>
      </p:sp>
      <p:pic>
        <p:nvPicPr>
          <p:cNvPr id="7" name="Immagine 6" descr="Immagine che contiene monitor, schermo&#10;&#10;Descrizione generata con affidabilità elevata">
            <a:extLst>
              <a:ext uri="{FF2B5EF4-FFF2-40B4-BE49-F238E27FC236}">
                <a16:creationId xmlns:a16="http://schemas.microsoft.com/office/drawing/2014/main" id="{4DC1BA12-7F75-44A6-A225-FBDAB5936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69" y="1751158"/>
            <a:ext cx="8825348" cy="483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26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CNN AT WORK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8D4FD9B6-5CC9-1636-0E10-3F5529E0F4B1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BF63E360-9198-4E31-9C8C-62E9F57CE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CNN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Rettangolo smussato 10">
              <a:extLst>
                <a:ext uri="{FF2B5EF4-FFF2-40B4-BE49-F238E27FC236}">
                  <a16:creationId xmlns:a16="http://schemas.microsoft.com/office/drawing/2014/main" id="{D07DFC91-E616-C238-1AFC-0793417D0E9B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5334539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The </a:t>
            </a:r>
            <a:r>
              <a:rPr lang="it-IT" sz="3600" dirty="0" err="1">
                <a:solidFill>
                  <a:schemeClr val="bg1"/>
                </a:solidFill>
              </a:rPr>
              <a:t>Frontier</a:t>
            </a:r>
            <a:r>
              <a:rPr lang="it-IT" sz="3600" dirty="0">
                <a:solidFill>
                  <a:schemeClr val="bg1"/>
                </a:solidFill>
              </a:rPr>
              <a:t>: Quantum Machine Learning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FCB023F-C7A8-DC3E-CACE-66B485F37249}"/>
              </a:ext>
            </a:extLst>
          </p:cNvPr>
          <p:cNvSpPr txBox="1"/>
          <p:nvPr/>
        </p:nvSpPr>
        <p:spPr>
          <a:xfrm>
            <a:off x="381444" y="3326372"/>
            <a:ext cx="42703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 err="1">
                <a:solidFill>
                  <a:srgbClr val="0563C1"/>
                </a:solidFill>
                <a:effectLst/>
                <a:latin typeface="Quicksand"/>
              </a:rPr>
              <a:t>Quanvolutional</a:t>
            </a:r>
            <a:r>
              <a:rPr lang="en-US" sz="3200" b="1" i="0" dirty="0">
                <a:solidFill>
                  <a:srgbClr val="0563C1"/>
                </a:solidFill>
                <a:effectLst/>
                <a:latin typeface="Quicksand"/>
              </a:rPr>
              <a:t> Neural Networks</a:t>
            </a:r>
          </a:p>
          <a:p>
            <a:pPr algn="l"/>
            <a:r>
              <a:rPr lang="en-US" b="0" i="1" dirty="0">
                <a:solidFill>
                  <a:srgbClr val="0563C1"/>
                </a:solidFill>
                <a:effectLst/>
                <a:latin typeface="Roboto" panose="02000000000000000000" pitchFamily="2" charset="0"/>
              </a:rPr>
              <a:t>Author: Andrea Mari — Posted: 24 March 2020. Last updated: 15 January 2021</a:t>
            </a:r>
          </a:p>
          <a:p>
            <a:pPr algn="l"/>
            <a:endParaRPr lang="en-US" i="1" dirty="0">
              <a:solidFill>
                <a:srgbClr val="0563C1"/>
              </a:solidFill>
              <a:latin typeface="Roboto" panose="02000000000000000000" pitchFamily="2" charset="0"/>
            </a:endParaRPr>
          </a:p>
          <a:p>
            <a:pPr algn="l"/>
            <a:r>
              <a:rPr lang="en-US" b="0" i="1" dirty="0">
                <a:solidFill>
                  <a:srgbClr val="0563C1"/>
                </a:solidFill>
                <a:effectLst/>
                <a:latin typeface="Roboto" panose="02000000000000000000" pitchFamily="2" charset="0"/>
              </a:rPr>
              <a:t>Originally introduced by Henderson et alii in 2019</a:t>
            </a:r>
            <a:endParaRPr lang="en-US" b="0" i="0" dirty="0">
              <a:solidFill>
                <a:srgbClr val="0563C1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A8E184F-9AEB-4CA7-8014-E919BAD1D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744" y="1428460"/>
            <a:ext cx="7334886" cy="4972481"/>
          </a:xfrm>
          <a:prstGeom prst="rect">
            <a:avLst/>
          </a:prstGeom>
        </p:spPr>
      </p:pic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86409090-D0B4-F110-AA0A-90231D4C0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44" y="1668332"/>
            <a:ext cx="5037257" cy="114309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0BC4717-8072-0EA2-152C-EF3DB27CEB19}"/>
              </a:ext>
            </a:extLst>
          </p:cNvPr>
          <p:cNvSpPr txBox="1"/>
          <p:nvPr/>
        </p:nvSpPr>
        <p:spPr>
          <a:xfrm>
            <a:off x="6303653" y="1206667"/>
            <a:ext cx="403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Pennylane</a:t>
            </a:r>
            <a:r>
              <a:rPr lang="it-IT" sz="2400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sz="2400" dirty="0" err="1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Quanvolution</a:t>
            </a:r>
            <a:endParaRPr lang="it-IT" sz="2400" dirty="0">
              <a:solidFill>
                <a:srgbClr val="0563C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6668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Pennylane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Quanvolution</a:t>
            </a:r>
            <a:endParaRPr lang="it-IT" sz="3600" dirty="0">
              <a:solidFill>
                <a:schemeClr val="bg1"/>
              </a:solidFill>
            </a:endParaRP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8D4FD9B6-5CC9-1636-0E10-3F5529E0F4B1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BF63E360-9198-4E31-9C8C-62E9F57CE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</a:t>
              </a:r>
              <a:r>
                <a:rPr lang="en-US" altLang="it-IT" sz="4400" b="1" dirty="0" err="1">
                  <a:solidFill>
                    <a:srgbClr val="FF000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Quanvolution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Rettangolo smussato 10">
              <a:extLst>
                <a:ext uri="{FF2B5EF4-FFF2-40B4-BE49-F238E27FC236}">
                  <a16:creationId xmlns:a16="http://schemas.microsoft.com/office/drawing/2014/main" id="{D07DFC91-E616-C238-1AFC-0793417D0E9B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1914659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Questions</a:t>
            </a:r>
            <a:r>
              <a:rPr lang="it-IT" sz="3600" dirty="0">
                <a:solidFill>
                  <a:schemeClr val="bg1"/>
                </a:solidFill>
              </a:rPr>
              <a:t> &amp; </a:t>
            </a:r>
            <a:r>
              <a:rPr lang="it-IT" sz="3600" dirty="0" err="1">
                <a:solidFill>
                  <a:schemeClr val="bg1"/>
                </a:solidFill>
              </a:rPr>
              <a:t>Answers</a:t>
            </a:r>
            <a:endParaRPr lang="it-IT" sz="3600" dirty="0">
              <a:solidFill>
                <a:schemeClr val="bg1"/>
              </a:solidFill>
            </a:endParaRP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8D4FD9B6-5CC9-1636-0E10-3F5529E0F4B1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BF63E360-9198-4E31-9C8C-62E9F57CE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</a:rPr>
                <a:t>Q&amp;A</a:t>
              </a: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Rettangolo smussato 10">
              <a:extLst>
                <a:ext uri="{FF2B5EF4-FFF2-40B4-BE49-F238E27FC236}">
                  <a16:creationId xmlns:a16="http://schemas.microsoft.com/office/drawing/2014/main" id="{D07DFC91-E616-C238-1AFC-0793417D0E9B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7958581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Thanks for your attention!</a:t>
            </a:r>
            <a:endParaRPr lang="it-IT" sz="3600" dirty="0">
              <a:solidFill>
                <a:schemeClr val="bg1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FF1F204-2F2C-454A-913D-B47D0C8D5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85647"/>
            <a:ext cx="10515600" cy="507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72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Appendix</a:t>
            </a:r>
            <a:endParaRPr lang="it-IT" sz="3600" dirty="0">
              <a:solidFill>
                <a:schemeClr val="bg1"/>
              </a:solidFill>
            </a:endParaRP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8D4FD9B6-5CC9-1636-0E10-3F5529E0F4B1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BF63E360-9198-4E31-9C8C-62E9F57CE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</a:rPr>
                <a:t>More Algorithms</a:t>
              </a: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Rettangolo smussato 10">
              <a:extLst>
                <a:ext uri="{FF2B5EF4-FFF2-40B4-BE49-F238E27FC236}">
                  <a16:creationId xmlns:a16="http://schemas.microsoft.com/office/drawing/2014/main" id="{D07DFC91-E616-C238-1AFC-0793417D0E9B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7535601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2060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«Oracle» </a:t>
            </a:r>
            <a:r>
              <a:rPr lang="it-IT" sz="3600" dirty="0" err="1">
                <a:solidFill>
                  <a:schemeClr val="bg1"/>
                </a:solidFill>
              </a:rPr>
              <a:t>Problems</a:t>
            </a:r>
            <a:r>
              <a:rPr lang="it-IT" sz="3600" dirty="0">
                <a:solidFill>
                  <a:schemeClr val="bg1"/>
                </a:solidFill>
              </a:rPr>
              <a:t>: </a:t>
            </a:r>
            <a:r>
              <a:rPr lang="it-IT" sz="3600" dirty="0" err="1">
                <a:solidFill>
                  <a:schemeClr val="bg1"/>
                </a:solidFill>
              </a:rPr>
              <a:t>Deutsch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Algorithm</a:t>
            </a:r>
            <a:endParaRPr lang="it-IT" sz="3600" dirty="0">
              <a:solidFill>
                <a:schemeClr val="bg1"/>
              </a:solidFill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8111274-C863-E360-2F05-DEA639BC1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740" y="1428460"/>
            <a:ext cx="3047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Given one bit function:</a:t>
            </a:r>
          </a:p>
        </p:txBody>
      </p:sp>
      <p:pic>
        <p:nvPicPr>
          <p:cNvPr id="4" name="Picture 10" descr="txp_fig">
            <a:extLst>
              <a:ext uri="{FF2B5EF4-FFF2-40B4-BE49-F238E27FC236}">
                <a16:creationId xmlns:a16="http://schemas.microsoft.com/office/drawing/2014/main" id="{9C3EBD98-4C54-2780-0E36-599B2BBF2C4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233" y="1582423"/>
            <a:ext cx="2344738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3">
            <a:extLst>
              <a:ext uri="{FF2B5EF4-FFF2-40B4-BE49-F238E27FC236}">
                <a16:creationId xmlns:a16="http://schemas.microsoft.com/office/drawing/2014/main" id="{0400FEC7-40C9-654B-D0BF-EE7382C48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740" y="2003799"/>
            <a:ext cx="44249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Four such function, it may be:</a:t>
            </a:r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9210EEBC-00FC-F2CA-FB40-6398180DA9B8}"/>
              </a:ext>
            </a:extLst>
          </p:cNvPr>
          <p:cNvGrpSpPr/>
          <p:nvPr/>
        </p:nvGrpSpPr>
        <p:grpSpPr>
          <a:xfrm>
            <a:off x="2690954" y="2652972"/>
            <a:ext cx="4683125" cy="1828800"/>
            <a:chOff x="3903065" y="2525385"/>
            <a:chExt cx="4683125" cy="1828800"/>
          </a:xfrm>
        </p:grpSpPr>
        <p:pic>
          <p:nvPicPr>
            <p:cNvPr id="7" name="Picture 14" descr="txp_fig">
              <a:extLst>
                <a:ext uri="{FF2B5EF4-FFF2-40B4-BE49-F238E27FC236}">
                  <a16:creationId xmlns:a16="http://schemas.microsoft.com/office/drawing/2014/main" id="{71928407-B928-B7D0-0B96-A186E226C4E9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1002" y="2601586"/>
              <a:ext cx="2198688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16" descr="txp_fig">
              <a:extLst>
                <a:ext uri="{FF2B5EF4-FFF2-40B4-BE49-F238E27FC236}">
                  <a16:creationId xmlns:a16="http://schemas.microsoft.com/office/drawing/2014/main" id="{F2C0E1BC-8E78-823B-E12D-76D3DEC07920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2591" y="3085774"/>
              <a:ext cx="21812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18" descr="txp_fig">
              <a:extLst>
                <a:ext uri="{FF2B5EF4-FFF2-40B4-BE49-F238E27FC236}">
                  <a16:creationId xmlns:a16="http://schemas.microsoft.com/office/drawing/2014/main" id="{3C4387F3-86F0-19B1-2D16-F1D657DC8247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1003" y="3592186"/>
              <a:ext cx="2481263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20" descr="txp_fig">
              <a:extLst>
                <a:ext uri="{FF2B5EF4-FFF2-40B4-BE49-F238E27FC236}">
                  <a16:creationId xmlns:a16="http://schemas.microsoft.com/office/drawing/2014/main" id="{737915C1-F9AB-8298-87E5-7F14C1C2F9D7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3065" y="4076374"/>
              <a:ext cx="2481262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Rectangle 22">
              <a:extLst>
                <a:ext uri="{FF2B5EF4-FFF2-40B4-BE49-F238E27FC236}">
                  <a16:creationId xmlns:a16="http://schemas.microsoft.com/office/drawing/2014/main" id="{8D5B4726-D4AA-37BC-DF8E-DB65ED21D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9003" y="2677785"/>
              <a:ext cx="15398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 dirty="0">
                  <a:solidFill>
                    <a:srgbClr val="0563C1"/>
                  </a:solidFill>
                  <a:cs typeface="Arial" panose="020B0604020202020204" pitchFamily="34" charset="0"/>
                </a:rPr>
                <a:t>“constant”</a:t>
              </a:r>
            </a:p>
          </p:txBody>
        </p: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022DB896-8B1B-A6AF-3A58-7289AE62B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9002" y="3668385"/>
              <a:ext cx="16271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 dirty="0">
                  <a:solidFill>
                    <a:srgbClr val="0563C1"/>
                  </a:solidFill>
                  <a:cs typeface="Arial" panose="020B0604020202020204" pitchFamily="34" charset="0"/>
                </a:rPr>
                <a:t>“balanced”</a:t>
              </a:r>
            </a:p>
          </p:txBody>
        </p:sp>
        <p:sp>
          <p:nvSpPr>
            <p:cNvPr id="13" name="AutoShape 24">
              <a:extLst>
                <a:ext uri="{FF2B5EF4-FFF2-40B4-BE49-F238E27FC236}">
                  <a16:creationId xmlns:a16="http://schemas.microsoft.com/office/drawing/2014/main" id="{3006F12C-D13E-C62B-D0A8-EA6C6C8EC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5602" y="2525385"/>
              <a:ext cx="457200" cy="838200"/>
            </a:xfrm>
            <a:prstGeom prst="rightBrace">
              <a:avLst>
                <a:gd name="adj1" fmla="val 1527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4" name="AutoShape 25">
              <a:extLst>
                <a:ext uri="{FF2B5EF4-FFF2-40B4-BE49-F238E27FC236}">
                  <a16:creationId xmlns:a16="http://schemas.microsoft.com/office/drawing/2014/main" id="{0D7A8763-E358-96F1-C988-CE060F8CA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5602" y="3515985"/>
              <a:ext cx="457200" cy="838200"/>
            </a:xfrm>
            <a:prstGeom prst="rightBrace">
              <a:avLst>
                <a:gd name="adj1" fmla="val 1527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15" name="Rectangle 27">
            <a:extLst>
              <a:ext uri="{FF2B5EF4-FFF2-40B4-BE49-F238E27FC236}">
                <a16:creationId xmlns:a16="http://schemas.microsoft.com/office/drawing/2014/main" id="{492F5D30-3794-FA5B-F9F3-7A9AFDAB2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140" y="5314660"/>
            <a:ext cx="788844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FF0000"/>
                </a:solidFill>
                <a:cs typeface="Arial" panose="020B0604020202020204" pitchFamily="34" charset="0"/>
              </a:rPr>
              <a:t>instance</a:t>
            </a:r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: function f is unknown</a:t>
            </a:r>
          </a:p>
          <a:p>
            <a:r>
              <a:rPr lang="en-US" altLang="it-IT" sz="2400" dirty="0">
                <a:solidFill>
                  <a:srgbClr val="FF0000"/>
                </a:solidFill>
                <a:cs typeface="Arial" panose="020B0604020202020204" pitchFamily="34" charset="0"/>
              </a:rPr>
              <a:t>problem</a:t>
            </a:r>
            <a:r>
              <a:rPr lang="en-US" altLang="it-IT" sz="2400" dirty="0">
                <a:solidFill>
                  <a:srgbClr val="0563C1"/>
                </a:solidFill>
                <a:cs typeface="Arial" panose="020B0604020202020204" pitchFamily="34" charset="0"/>
              </a:rPr>
              <a:t>: determine whether function is constant or balanced</a:t>
            </a:r>
          </a:p>
        </p:txBody>
      </p:sp>
      <p:sp>
        <p:nvSpPr>
          <p:cNvPr id="16" name="Rectangle 29">
            <a:extLst>
              <a:ext uri="{FF2B5EF4-FFF2-40B4-BE49-F238E27FC236}">
                <a16:creationId xmlns:a16="http://schemas.microsoft.com/office/drawing/2014/main" id="{EF9ECD5C-E3CF-4442-99B4-8D2CA254B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740" y="4878122"/>
            <a:ext cx="25584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b="1" u="sng" dirty="0">
                <a:solidFill>
                  <a:srgbClr val="0563C1"/>
                </a:solidFill>
                <a:cs typeface="Arial" panose="020B0604020202020204" pitchFamily="34" charset="0"/>
              </a:rPr>
              <a:t>Deutsch’s Problem</a:t>
            </a: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005661C4-470C-EDD1-30CF-5CD20DC1BB8E}"/>
              </a:ext>
            </a:extLst>
          </p:cNvPr>
          <p:cNvGrpSpPr/>
          <p:nvPr/>
        </p:nvGrpSpPr>
        <p:grpSpPr>
          <a:xfrm>
            <a:off x="7761783" y="1614914"/>
            <a:ext cx="2657799" cy="2713067"/>
            <a:chOff x="8977475" y="1577709"/>
            <a:chExt cx="2657799" cy="2713067"/>
          </a:xfrm>
        </p:grpSpPr>
        <p:pic>
          <p:nvPicPr>
            <p:cNvPr id="18" name="Picture 2" descr="deutsch">
              <a:extLst>
                <a:ext uri="{FF2B5EF4-FFF2-40B4-BE49-F238E27FC236}">
                  <a16:creationId xmlns:a16="http://schemas.microsoft.com/office/drawing/2014/main" id="{4A12C213-08F9-51DB-D61A-4F1F4C668C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3875" y="1577709"/>
              <a:ext cx="1905000" cy="2343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1C1C9EFF-E0BB-AA37-9FF6-FDC69A636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475" y="3890666"/>
              <a:ext cx="265779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2000" dirty="0">
                  <a:solidFill>
                    <a:srgbClr val="0563C1"/>
                  </a:solidFill>
                </a:rPr>
                <a:t>David Deutsch 1985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494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</a:t>
            </a:r>
            <a:r>
              <a:rPr lang="it-IT" sz="3600" dirty="0" err="1">
                <a:solidFill>
                  <a:schemeClr val="bg1"/>
                </a:solidFill>
              </a:rPr>
              <a:t>Deutsch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58AA7258-9E3B-2741-2CC9-D557FDB9D871}"/>
              </a:ext>
            </a:extLst>
          </p:cNvPr>
          <p:cNvGrpSpPr/>
          <p:nvPr/>
        </p:nvGrpSpPr>
        <p:grpSpPr>
          <a:xfrm>
            <a:off x="3833036" y="2828260"/>
            <a:ext cx="7228367" cy="3806456"/>
            <a:chOff x="2014869" y="2348023"/>
            <a:chExt cx="8153400" cy="4419600"/>
          </a:xfrm>
        </p:grpSpPr>
        <p:pic>
          <p:nvPicPr>
            <p:cNvPr id="4" name="Picture 4" descr="txp_fig">
              <a:extLst>
                <a:ext uri="{FF2B5EF4-FFF2-40B4-BE49-F238E27FC236}">
                  <a16:creationId xmlns:a16="http://schemas.microsoft.com/office/drawing/2014/main" id="{BD18C1DD-60C0-8DBB-9CCB-8361DC51969E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69" y="2659173"/>
              <a:ext cx="1219200" cy="450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5" descr="txp_fig">
              <a:extLst>
                <a:ext uri="{FF2B5EF4-FFF2-40B4-BE49-F238E27FC236}">
                  <a16:creationId xmlns:a16="http://schemas.microsoft.com/office/drawing/2014/main" id="{49C72F84-9CA7-AB88-CE4D-8945F2D1016E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70" y="3795824"/>
              <a:ext cx="1241425" cy="646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6" descr="txp_fig">
              <a:extLst>
                <a:ext uri="{FF2B5EF4-FFF2-40B4-BE49-F238E27FC236}">
                  <a16:creationId xmlns:a16="http://schemas.microsoft.com/office/drawing/2014/main" id="{218EFF36-BF9E-CD1E-0929-BB89A96D75AD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7269" y="4807062"/>
              <a:ext cx="1219200" cy="701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7" descr="txp_fig">
              <a:extLst>
                <a:ext uri="{FF2B5EF4-FFF2-40B4-BE49-F238E27FC236}">
                  <a16:creationId xmlns:a16="http://schemas.microsoft.com/office/drawing/2014/main" id="{13BB01FC-13FE-B84C-F58C-2A8518671C6C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69" y="5931011"/>
              <a:ext cx="1905000" cy="736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8" descr="txp_fig">
              <a:extLst>
                <a:ext uri="{FF2B5EF4-FFF2-40B4-BE49-F238E27FC236}">
                  <a16:creationId xmlns:a16="http://schemas.microsoft.com/office/drawing/2014/main" id="{44FEDEE5-47A8-1B2F-5B47-63176E1C4EA6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5269" y="2576623"/>
              <a:ext cx="1905000" cy="598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9" descr="txp_fig">
              <a:extLst>
                <a:ext uri="{FF2B5EF4-FFF2-40B4-BE49-F238E27FC236}">
                  <a16:creationId xmlns:a16="http://schemas.microsoft.com/office/drawing/2014/main" id="{6BB65A5A-084A-7D47-FE93-26404D5FD54C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2733" y="3567223"/>
              <a:ext cx="2268537" cy="763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10" descr="txp_fig">
              <a:extLst>
                <a:ext uri="{FF2B5EF4-FFF2-40B4-BE49-F238E27FC236}">
                  <a16:creationId xmlns:a16="http://schemas.microsoft.com/office/drawing/2014/main" id="{2EF3C6A6-CECD-FCE2-E2CB-D2899C063A5B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469" y="4710224"/>
              <a:ext cx="2057400" cy="714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11" descr="txp_fig">
              <a:extLst>
                <a:ext uri="{FF2B5EF4-FFF2-40B4-BE49-F238E27FC236}">
                  <a16:creationId xmlns:a16="http://schemas.microsoft.com/office/drawing/2014/main" id="{46F63DDC-1B2A-5D52-FF9D-F3CEF17FB99B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469" y="5853223"/>
              <a:ext cx="2819400" cy="850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AutoShape 12">
              <a:extLst>
                <a:ext uri="{FF2B5EF4-FFF2-40B4-BE49-F238E27FC236}">
                  <a16:creationId xmlns:a16="http://schemas.microsoft.com/office/drawing/2014/main" id="{9030C51C-64AF-45B6-3A65-DE7EF4385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0869" y="2348023"/>
              <a:ext cx="762000" cy="2057400"/>
            </a:xfrm>
            <a:prstGeom prst="rightBrace">
              <a:avLst>
                <a:gd name="adj1" fmla="val 22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4" name="AutoShape 13">
              <a:extLst>
                <a:ext uri="{FF2B5EF4-FFF2-40B4-BE49-F238E27FC236}">
                  <a16:creationId xmlns:a16="http://schemas.microsoft.com/office/drawing/2014/main" id="{DCB7A45E-2981-5C15-12AA-67DF050FF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7069" y="4557823"/>
              <a:ext cx="762000" cy="2209800"/>
            </a:xfrm>
            <a:prstGeom prst="rightBrace">
              <a:avLst>
                <a:gd name="adj1" fmla="val 2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pic>
          <p:nvPicPr>
            <p:cNvPr id="17" name="Picture 16" descr="txp_fig">
              <a:extLst>
                <a:ext uri="{FF2B5EF4-FFF2-40B4-BE49-F238E27FC236}">
                  <a16:creationId xmlns:a16="http://schemas.microsoft.com/office/drawing/2014/main" id="{731274E9-1406-5E42-3C11-DC44CA1CB618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2469" y="3283061"/>
              <a:ext cx="685800" cy="284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18" descr="txp_fig">
              <a:extLst>
                <a:ext uri="{FF2B5EF4-FFF2-40B4-BE49-F238E27FC236}">
                  <a16:creationId xmlns:a16="http://schemas.microsoft.com/office/drawing/2014/main" id="{09ACCBBF-8D70-E8E1-19A5-0006737F2C07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5169" y="5500799"/>
              <a:ext cx="661988" cy="265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F48B659-1C79-FDB2-8FDF-3887149E1D55}"/>
              </a:ext>
            </a:extLst>
          </p:cNvPr>
          <p:cNvSpPr txBox="1"/>
          <p:nvPr/>
        </p:nvSpPr>
        <p:spPr>
          <a:xfrm>
            <a:off x="1216458" y="3025146"/>
            <a:ext cx="2011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563C1"/>
                </a:solidFill>
              </a:rPr>
              <a:t>f </a:t>
            </a:r>
            <a:r>
              <a:rPr lang="it-IT" sz="2400" dirty="0" err="1">
                <a:solidFill>
                  <a:srgbClr val="0563C1"/>
                </a:solidFill>
              </a:rPr>
              <a:t>constant</a:t>
            </a:r>
            <a:r>
              <a:rPr lang="it-IT" sz="2400" dirty="0">
                <a:solidFill>
                  <a:srgbClr val="0563C1"/>
                </a:solidFill>
              </a:rPr>
              <a:t> </a:t>
            </a:r>
            <a:r>
              <a:rPr lang="it-IT" sz="2400" dirty="0"/>
              <a:t>f=0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C7061B7-0A6A-A4E6-4980-5435C074F7A7}"/>
              </a:ext>
            </a:extLst>
          </p:cNvPr>
          <p:cNvSpPr txBox="1"/>
          <p:nvPr/>
        </p:nvSpPr>
        <p:spPr>
          <a:xfrm>
            <a:off x="1219036" y="4040978"/>
            <a:ext cx="2008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563C1"/>
                </a:solidFill>
              </a:rPr>
              <a:t>f </a:t>
            </a:r>
            <a:r>
              <a:rPr lang="it-IT" sz="2400" dirty="0" err="1">
                <a:solidFill>
                  <a:srgbClr val="0563C1"/>
                </a:solidFill>
              </a:rPr>
              <a:t>constant</a:t>
            </a:r>
            <a:r>
              <a:rPr lang="it-IT" sz="2400" dirty="0">
                <a:solidFill>
                  <a:srgbClr val="0563C1"/>
                </a:solidFill>
              </a:rPr>
              <a:t> </a:t>
            </a:r>
            <a:r>
              <a:rPr lang="it-IT" sz="2400" dirty="0"/>
              <a:t>f=1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3659BA2-F953-4441-2575-39CC20663C5F}"/>
              </a:ext>
            </a:extLst>
          </p:cNvPr>
          <p:cNvSpPr txBox="1"/>
          <p:nvPr/>
        </p:nvSpPr>
        <p:spPr>
          <a:xfrm>
            <a:off x="1216458" y="4985714"/>
            <a:ext cx="2409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563C1"/>
                </a:solidFill>
              </a:rPr>
              <a:t>f </a:t>
            </a:r>
            <a:r>
              <a:rPr lang="it-IT" sz="2400" dirty="0" err="1">
                <a:solidFill>
                  <a:srgbClr val="0563C1"/>
                </a:solidFill>
              </a:rPr>
              <a:t>balanced</a:t>
            </a:r>
            <a:r>
              <a:rPr lang="it-IT" sz="2400" dirty="0">
                <a:solidFill>
                  <a:srgbClr val="0563C1"/>
                </a:solidFill>
              </a:rPr>
              <a:t> </a:t>
            </a:r>
            <a:r>
              <a:rPr lang="it-IT" sz="2400" dirty="0"/>
              <a:t>f={0,1}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BE39B0B-C141-8E5F-A22A-B851D6C84E0F}"/>
              </a:ext>
            </a:extLst>
          </p:cNvPr>
          <p:cNvSpPr txBox="1"/>
          <p:nvPr/>
        </p:nvSpPr>
        <p:spPr>
          <a:xfrm>
            <a:off x="1216458" y="5896225"/>
            <a:ext cx="2564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563C1"/>
                </a:solidFill>
              </a:rPr>
              <a:t>f </a:t>
            </a:r>
            <a:r>
              <a:rPr lang="it-IT" sz="2400" dirty="0" err="1">
                <a:solidFill>
                  <a:srgbClr val="0563C1"/>
                </a:solidFill>
              </a:rPr>
              <a:t>balanced</a:t>
            </a:r>
            <a:r>
              <a:rPr lang="it-IT" sz="2400" dirty="0">
                <a:solidFill>
                  <a:srgbClr val="0563C1"/>
                </a:solidFill>
              </a:rPr>
              <a:t> </a:t>
            </a:r>
            <a:r>
              <a:rPr lang="it-IT" sz="2400" dirty="0"/>
              <a:t>f={1,0}</a:t>
            </a: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D2D93C24-5893-8869-C310-5F73DC270B1D}"/>
              </a:ext>
            </a:extLst>
          </p:cNvPr>
          <p:cNvGrpSpPr/>
          <p:nvPr/>
        </p:nvGrpSpPr>
        <p:grpSpPr>
          <a:xfrm>
            <a:off x="6096000" y="1284648"/>
            <a:ext cx="4561368" cy="1289553"/>
            <a:chOff x="3968146" y="1424088"/>
            <a:chExt cx="3948112" cy="1133475"/>
          </a:xfrm>
        </p:grpSpPr>
        <p:pic>
          <p:nvPicPr>
            <p:cNvPr id="3" name="Picture 3" descr="txp_fig">
              <a:extLst>
                <a:ext uri="{FF2B5EF4-FFF2-40B4-BE49-F238E27FC236}">
                  <a16:creationId xmlns:a16="http://schemas.microsoft.com/office/drawing/2014/main" id="{BCE1EB1D-AD03-D4D3-F8C1-F7DDFCFA13F2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8146" y="1424088"/>
              <a:ext cx="3948112" cy="1133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AF4254FC-2CDD-6CFB-2903-7FF5B47FC8D4}"/>
                </a:ext>
              </a:extLst>
            </p:cNvPr>
            <p:cNvSpPr txBox="1"/>
            <p:nvPr/>
          </p:nvSpPr>
          <p:spPr>
            <a:xfrm>
              <a:off x="5672471" y="1760605"/>
              <a:ext cx="42353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it-IT" sz="2000" b="1" i="1" dirty="0" err="1"/>
                <a:t>U</a:t>
              </a:r>
              <a:r>
                <a:rPr lang="it-IT" sz="2000" b="1" i="1" baseline="-25000" dirty="0" err="1"/>
                <a:t>f</a:t>
              </a:r>
              <a:endParaRPr lang="it-IT" sz="2000" b="1" i="1" baseline="-25000" dirty="0"/>
            </a:p>
          </p:txBody>
        </p:sp>
      </p:grp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3ABC2606-48E5-1345-729F-703E55EBABC5}"/>
              </a:ext>
            </a:extLst>
          </p:cNvPr>
          <p:cNvCxnSpPr/>
          <p:nvPr/>
        </p:nvCxnSpPr>
        <p:spPr>
          <a:xfrm flipV="1">
            <a:off x="0" y="2697003"/>
            <a:ext cx="12121116" cy="25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7" descr="txp_fig">
            <a:extLst>
              <a:ext uri="{FF2B5EF4-FFF2-40B4-BE49-F238E27FC236}">
                <a16:creationId xmlns:a16="http://schemas.microsoft.com/office/drawing/2014/main" id="{56E34E60-4EFB-9A57-56BC-0182E305478E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88" y="1318154"/>
            <a:ext cx="1931963" cy="122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94998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Deutsch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Algorithm</a:t>
            </a:r>
            <a:endParaRPr lang="it-IT" sz="3600" dirty="0">
              <a:solidFill>
                <a:schemeClr val="bg1"/>
              </a:solidFill>
            </a:endParaRP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CF485F5C-36EF-08B5-A8D3-6AF5A21D4AC2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31" name="Rectangle 2">
              <a:extLst>
                <a:ext uri="{FF2B5EF4-FFF2-40B4-BE49-F238E27FC236}">
                  <a16:creationId xmlns:a16="http://schemas.microsoft.com/office/drawing/2014/main" id="{B431DA85-79A1-CA01-393B-428EE88A3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Deutsch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32" name="Rettangolo smussato 31">
              <a:extLst>
                <a:ext uri="{FF2B5EF4-FFF2-40B4-BE49-F238E27FC236}">
                  <a16:creationId xmlns:a16="http://schemas.microsoft.com/office/drawing/2014/main" id="{65BB75F5-4255-C8D9-DCEC-5148069FBF4F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98032205-83C0-077E-A7D8-CD22ECA12E1D}"/>
              </a:ext>
            </a:extLst>
          </p:cNvPr>
          <p:cNvGrpSpPr/>
          <p:nvPr/>
        </p:nvGrpSpPr>
        <p:grpSpPr>
          <a:xfrm>
            <a:off x="11037867" y="5905647"/>
            <a:ext cx="738963" cy="749597"/>
            <a:chOff x="11037867" y="5905647"/>
            <a:chExt cx="738963" cy="749597"/>
          </a:xfrm>
        </p:grpSpPr>
        <p:sp>
          <p:nvSpPr>
            <p:cNvPr id="34" name="Rettangolo 33">
              <a:hlinkClick r:id="rId3" action="ppaction://hlinksldjump"/>
              <a:extLst>
                <a:ext uri="{FF2B5EF4-FFF2-40B4-BE49-F238E27FC236}">
                  <a16:creationId xmlns:a16="http://schemas.microsoft.com/office/drawing/2014/main" id="{7B0E639D-DDD1-041C-3556-A142444EE59B}"/>
                </a:ext>
              </a:extLst>
            </p:cNvPr>
            <p:cNvSpPr/>
            <p:nvPr/>
          </p:nvSpPr>
          <p:spPr>
            <a:xfrm>
              <a:off x="11037867" y="5905647"/>
              <a:ext cx="738963" cy="7495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3" name="Freccia circolare in su 32">
              <a:extLst>
                <a:ext uri="{FF2B5EF4-FFF2-40B4-BE49-F238E27FC236}">
                  <a16:creationId xmlns:a16="http://schemas.microsoft.com/office/drawing/2014/main" id="{1E683A69-58C6-FFC9-85B4-B013220A4B5D}"/>
                </a:ext>
              </a:extLst>
            </p:cNvPr>
            <p:cNvSpPr/>
            <p:nvPr/>
          </p:nvSpPr>
          <p:spPr>
            <a:xfrm rot="17817266">
              <a:off x="11168117" y="6135024"/>
              <a:ext cx="478465" cy="290844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27680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Searching</a:t>
            </a:r>
            <a:r>
              <a:rPr lang="it-IT" sz="3600" dirty="0">
                <a:solidFill>
                  <a:schemeClr val="bg1"/>
                </a:solidFill>
              </a:rPr>
              <a:t> speed-up: Grover </a:t>
            </a:r>
            <a:r>
              <a:rPr lang="it-IT" sz="3600" dirty="0" err="1">
                <a:solidFill>
                  <a:schemeClr val="bg1"/>
                </a:solidFill>
              </a:rPr>
              <a:t>Algorithm</a:t>
            </a:r>
            <a:endParaRPr lang="it-IT" sz="3600" dirty="0">
              <a:solidFill>
                <a:schemeClr val="bg1"/>
              </a:solidFill>
            </a:endParaRP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4AA85BC7-E4EF-3352-69CC-9F7A92379333}"/>
              </a:ext>
            </a:extLst>
          </p:cNvPr>
          <p:cNvGrpSpPr/>
          <p:nvPr/>
        </p:nvGrpSpPr>
        <p:grpSpPr>
          <a:xfrm>
            <a:off x="1745674" y="2344454"/>
            <a:ext cx="4949789" cy="1020763"/>
            <a:chOff x="3801140" y="1734879"/>
            <a:chExt cx="4949789" cy="1020763"/>
          </a:xfrm>
        </p:grpSpPr>
        <p:grpSp>
          <p:nvGrpSpPr>
            <p:cNvPr id="27" name="Gruppo 26">
              <a:extLst>
                <a:ext uri="{FF2B5EF4-FFF2-40B4-BE49-F238E27FC236}">
                  <a16:creationId xmlns:a16="http://schemas.microsoft.com/office/drawing/2014/main" id="{E6F02CAA-B95E-E33F-69AB-828532E2E020}"/>
                </a:ext>
              </a:extLst>
            </p:cNvPr>
            <p:cNvGrpSpPr/>
            <p:nvPr/>
          </p:nvGrpSpPr>
          <p:grpSpPr>
            <a:xfrm>
              <a:off x="4947279" y="1780916"/>
              <a:ext cx="3803650" cy="974726"/>
              <a:chOff x="5069553" y="1658679"/>
              <a:chExt cx="3803650" cy="974726"/>
            </a:xfrm>
          </p:grpSpPr>
          <p:sp>
            <p:nvSpPr>
              <p:cNvPr id="3" name="AutoShape 3">
                <a:extLst>
                  <a:ext uri="{FF2B5EF4-FFF2-40B4-BE49-F238E27FC236}">
                    <a16:creationId xmlns:a16="http://schemas.microsoft.com/office/drawing/2014/main" id="{20A48C7D-D45A-CC44-9EA3-11F07739C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4378" y="2300030"/>
                <a:ext cx="144462" cy="257175"/>
              </a:xfrm>
              <a:prstGeom prst="leftBrace">
                <a:avLst>
                  <a:gd name="adj1" fmla="val 1483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4" name="AutoShape 4">
                <a:extLst>
                  <a:ext uri="{FF2B5EF4-FFF2-40B4-BE49-F238E27FC236}">
                    <a16:creationId xmlns:a16="http://schemas.microsoft.com/office/drawing/2014/main" id="{72A69FEE-38E5-1808-E7D8-1EE436B0F4E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250778" y="2301618"/>
                <a:ext cx="74612" cy="331787"/>
              </a:xfrm>
              <a:prstGeom prst="leftBrace">
                <a:avLst>
                  <a:gd name="adj1" fmla="val 3705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" name="Line 5">
                <a:extLst>
                  <a:ext uri="{FF2B5EF4-FFF2-40B4-BE49-F238E27FC236}">
                    <a16:creationId xmlns:a16="http://schemas.microsoft.com/office/drawing/2014/main" id="{84557385-71F1-59BD-B46A-853D0785F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0428" y="1734879"/>
                <a:ext cx="1524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7" name="Line 6">
                <a:extLst>
                  <a:ext uri="{FF2B5EF4-FFF2-40B4-BE49-F238E27FC236}">
                    <a16:creationId xmlns:a16="http://schemas.microsoft.com/office/drawing/2014/main" id="{10A4EE99-7E53-6830-C4F8-3A62063804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18840" y="1887279"/>
                <a:ext cx="1524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8" name="Line 7">
                <a:extLst>
                  <a:ext uri="{FF2B5EF4-FFF2-40B4-BE49-F238E27FC236}">
                    <a16:creationId xmlns:a16="http://schemas.microsoft.com/office/drawing/2014/main" id="{35361A39-AA90-AFEA-A6FF-6E66BB980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18840" y="2192079"/>
                <a:ext cx="1524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" name="Line 8">
                <a:extLst>
                  <a:ext uri="{FF2B5EF4-FFF2-40B4-BE49-F238E27FC236}">
                    <a16:creationId xmlns:a16="http://schemas.microsoft.com/office/drawing/2014/main" id="{BEB1E136-6C53-B6E8-7714-7966BE4BD2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0428" y="2423854"/>
                <a:ext cx="1524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9AFF785-5233-0423-6705-98EDA5A1D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01428" y="1661854"/>
                <a:ext cx="762000" cy="89535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0744D9D-5444-D039-B59E-6A801C0F28B6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5"/>
                </p:custDataLst>
              </p:nvPr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8441" y="2023805"/>
                <a:ext cx="288925" cy="244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2" name="AutoShape 11">
                <a:extLst>
                  <a:ext uri="{FF2B5EF4-FFF2-40B4-BE49-F238E27FC236}">
                    <a16:creationId xmlns:a16="http://schemas.microsoft.com/office/drawing/2014/main" id="{6C814255-1150-7558-AB13-90ECAEF84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6440" y="1658679"/>
                <a:ext cx="152400" cy="609600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13" name="AutoShape 12">
                <a:extLst>
                  <a:ext uri="{FF2B5EF4-FFF2-40B4-BE49-F238E27FC236}">
                    <a16:creationId xmlns:a16="http://schemas.microsoft.com/office/drawing/2014/main" id="{46F36D8F-968F-D248-0FBC-C9B89B8E749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242840" y="1658679"/>
                <a:ext cx="152400" cy="609600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807CC-D3FE-F4E0-1C16-5E3A29F5B602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6"/>
                </p:custDataLst>
              </p:nvPr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69553" y="1722373"/>
                <a:ext cx="392112" cy="374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461BE63-F135-E8D6-2144-5704B22FA0C3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7"/>
                </p:custDataLst>
              </p:nvPr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5903" y="2220192"/>
                <a:ext cx="385762" cy="368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384FE4F-299B-5D8C-2D26-47F688772EC1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8"/>
                </p:custDataLst>
              </p:nvPr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6522" y="1757795"/>
                <a:ext cx="392112" cy="374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BFCBB81-352B-F9F0-E885-7C47B6E031C3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9"/>
                </p:custDataLst>
              </p:nvPr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14303" y="2238808"/>
                <a:ext cx="1358900" cy="3317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554D64-8096-C751-4644-DB13E5643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140" y="1734879"/>
              <a:ext cx="11001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 dirty="0">
                  <a:solidFill>
                    <a:srgbClr val="0563C1"/>
                  </a:solidFill>
                </a:rPr>
                <a:t>n</a:t>
              </a:r>
              <a:r>
                <a:rPr lang="en-US" altLang="it-IT" sz="2400" dirty="0"/>
                <a:t> </a:t>
              </a:r>
              <a:r>
                <a:rPr lang="en-US" altLang="it-IT" sz="2400" dirty="0">
                  <a:solidFill>
                    <a:srgbClr val="0563C1"/>
                  </a:solidFill>
                </a:rPr>
                <a:t>qubit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C14A06-D3B0-3014-4945-9E1D8B8B6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940" y="2268279"/>
              <a:ext cx="1016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 dirty="0">
                  <a:solidFill>
                    <a:srgbClr val="0563C1"/>
                  </a:solidFill>
                </a:rPr>
                <a:t>1qubit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36C0C14-8B0C-5090-1EDE-AFDC7B1F2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674" y="1507289"/>
            <a:ext cx="3886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</a:rPr>
              <a:t>Suppose we have a black box:</a:t>
            </a:r>
            <a:endParaRPr lang="en-US" altLang="it-IT" sz="2200" dirty="0">
              <a:solidFill>
                <a:srgbClr val="0563C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D07CA4-879D-84F7-DDC7-6C9D1DCD7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674" y="3901321"/>
            <a:ext cx="24688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</a:rPr>
              <a:t>with the property: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B46E587-C652-6DA3-0A2F-12E1B5EE7CDA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44" y="4285686"/>
            <a:ext cx="2608263" cy="30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B40A1E-0BA8-0263-1280-214535364BC5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43" y="3828486"/>
            <a:ext cx="1430338" cy="30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9" name="Gruppo 28">
            <a:extLst>
              <a:ext uri="{FF2B5EF4-FFF2-40B4-BE49-F238E27FC236}">
                <a16:creationId xmlns:a16="http://schemas.microsoft.com/office/drawing/2014/main" id="{180F0975-A390-3493-B12E-2D721CC94F36}"/>
              </a:ext>
            </a:extLst>
          </p:cNvPr>
          <p:cNvGrpSpPr/>
          <p:nvPr/>
        </p:nvGrpSpPr>
        <p:grpSpPr>
          <a:xfrm>
            <a:off x="1745674" y="4854165"/>
            <a:ext cx="6372129" cy="461665"/>
            <a:chOff x="2200941" y="4249480"/>
            <a:chExt cx="6372129" cy="46166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7E15B06-13AB-0C1F-40A8-07B387EF2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941" y="4249480"/>
              <a:ext cx="637212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it-IT" sz="2400" b="1" dirty="0">
                  <a:solidFill>
                    <a:srgbClr val="FF0000"/>
                  </a:solidFill>
                </a:rPr>
                <a:t>Problem:</a:t>
              </a:r>
              <a:r>
                <a:rPr lang="en-US" altLang="it-IT" sz="2400" b="1" dirty="0">
                  <a:solidFill>
                    <a:srgbClr val="0563C1"/>
                  </a:solidFill>
                </a:rPr>
                <a:t> </a:t>
              </a:r>
              <a:r>
                <a:rPr lang="en-US" altLang="it-IT" sz="2400" dirty="0">
                  <a:solidFill>
                    <a:srgbClr val="0563C1"/>
                  </a:solidFill>
                </a:rPr>
                <a:t>find         with as few queries as possible</a:t>
              </a:r>
              <a:endParaRPr lang="en-US" altLang="it-IT" sz="2400" b="1" dirty="0">
                <a:solidFill>
                  <a:srgbClr val="0563C1"/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441BDA4-4EC7-E14B-CA7B-F348A9550EB1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1022" y="4404872"/>
              <a:ext cx="390525" cy="260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13F4651-005A-739C-A6BA-6D7BDDD9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652" y="4525148"/>
            <a:ext cx="28956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3">
            <a:extLst>
              <a:ext uri="{FF2B5EF4-FFF2-40B4-BE49-F238E27FC236}">
                <a16:creationId xmlns:a16="http://schemas.microsoft.com/office/drawing/2014/main" id="{53609E6C-4C0F-C8CB-165B-7DBF5EAB8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674" y="5693673"/>
            <a:ext cx="67397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b="1" dirty="0">
                <a:solidFill>
                  <a:srgbClr val="FF0000"/>
                </a:solidFill>
              </a:rPr>
              <a:t>Solution</a:t>
            </a:r>
            <a:r>
              <a:rPr lang="en-US" altLang="it-IT" sz="2400" dirty="0">
                <a:solidFill>
                  <a:srgbClr val="FF0000"/>
                </a:solidFill>
              </a:rPr>
              <a:t>:</a:t>
            </a:r>
            <a:r>
              <a:rPr lang="en-US" altLang="it-IT" sz="2400" dirty="0"/>
              <a:t> </a:t>
            </a:r>
            <a:r>
              <a:rPr lang="en-US" altLang="it-IT" sz="2400" dirty="0">
                <a:solidFill>
                  <a:srgbClr val="0563C1"/>
                </a:solidFill>
              </a:rPr>
              <a:t>identify the item in “only”                queries!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CC1D1796-5DBA-E4E4-AD4E-9056485B278E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209" y="5788362"/>
            <a:ext cx="923263" cy="308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88428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Grover Iterate Block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8B32F74-D848-BFB4-8001-61654302FDB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13" y="1314894"/>
            <a:ext cx="4100512" cy="232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F3647C50-592E-0606-6283-E1590270E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25" y="2229294"/>
            <a:ext cx="11945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</a:rPr>
              <a:t>n qubits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32A531C-85D6-ADCD-78E1-402133C6F6F6}"/>
              </a:ext>
            </a:extLst>
          </p:cNvPr>
          <p:cNvSpPr>
            <a:spLocks/>
          </p:cNvSpPr>
          <p:nvPr/>
        </p:nvSpPr>
        <p:spPr bwMode="auto">
          <a:xfrm>
            <a:off x="3763925" y="1391093"/>
            <a:ext cx="228600" cy="2209800"/>
          </a:xfrm>
          <a:prstGeom prst="leftBrace">
            <a:avLst>
              <a:gd name="adj1" fmla="val 80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F1F0C3-0D1E-E92F-B527-6EB6A6010225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08" y="3828270"/>
            <a:ext cx="544830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556CAE-C357-2679-BDD1-2177A1CA1EDE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08" y="4952567"/>
            <a:ext cx="6689725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75904-DD6C-80B6-721B-C3A64FC8F753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08" y="5449557"/>
            <a:ext cx="2627313" cy="87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430FD1-BE83-9890-E255-15B560D7297E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774" y="6419418"/>
            <a:ext cx="2806700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B8B19C-DF49-C563-FB9B-0301DC8F6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9787" y="6328930"/>
            <a:ext cx="21228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</a:rPr>
              <a:t>Grover’s iterate</a:t>
            </a:r>
          </a:p>
        </p:txBody>
      </p:sp>
      <p:pic>
        <p:nvPicPr>
          <p:cNvPr id="12" name="Picture 5" descr="photo">
            <a:extLst>
              <a:ext uri="{FF2B5EF4-FFF2-40B4-BE49-F238E27FC236}">
                <a16:creationId xmlns:a16="http://schemas.microsoft.com/office/drawing/2014/main" id="{0B7EECE1-4828-5714-80BF-9770EA605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7043" y="1391092"/>
            <a:ext cx="1796901" cy="2175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5FAF356-5453-E0A8-65A9-8D545969F166}"/>
              </a:ext>
            </a:extLst>
          </p:cNvPr>
          <p:cNvSpPr txBox="1"/>
          <p:nvPr/>
        </p:nvSpPr>
        <p:spPr>
          <a:xfrm>
            <a:off x="8926033" y="3512794"/>
            <a:ext cx="1897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563C1"/>
                </a:solidFill>
              </a:rPr>
              <a:t>Lov</a:t>
            </a:r>
            <a:r>
              <a:rPr lang="it-IT" dirty="0">
                <a:solidFill>
                  <a:srgbClr val="0563C1"/>
                </a:solidFill>
              </a:rPr>
              <a:t> Grover 1996</a:t>
            </a:r>
          </a:p>
        </p:txBody>
      </p:sp>
    </p:spTree>
    <p:extLst>
      <p:ext uri="{BB962C8B-B14F-4D97-AF65-F5344CB8AC3E}">
        <p14:creationId xmlns:p14="http://schemas.microsoft.com/office/powerpoint/2010/main" val="15175176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Grover </a:t>
            </a:r>
            <a:r>
              <a:rPr lang="it-IT" sz="3600" dirty="0" err="1">
                <a:solidFill>
                  <a:schemeClr val="bg1"/>
                </a:solidFill>
              </a:rPr>
              <a:t>Algorithm</a:t>
            </a:r>
            <a:endParaRPr lang="it-IT" sz="3600" dirty="0">
              <a:solidFill>
                <a:schemeClr val="bg1"/>
              </a:solidFill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C828795D-5EA4-E227-8486-EEB9728D5F77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4A2FE181-B045-F085-CA51-D89298009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Grover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5" name="Rettangolo smussato 4">
              <a:extLst>
                <a:ext uri="{FF2B5EF4-FFF2-40B4-BE49-F238E27FC236}">
                  <a16:creationId xmlns:a16="http://schemas.microsoft.com/office/drawing/2014/main" id="{6A35DE4B-9C2D-1249-36E2-3FF1B931E59F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7" name="Gruppo 6">
            <a:extLst>
              <a:ext uri="{FF2B5EF4-FFF2-40B4-BE49-F238E27FC236}">
                <a16:creationId xmlns:a16="http://schemas.microsoft.com/office/drawing/2014/main" id="{C8A64666-A4F3-0324-C16E-046459FC5356}"/>
              </a:ext>
            </a:extLst>
          </p:cNvPr>
          <p:cNvGrpSpPr/>
          <p:nvPr/>
        </p:nvGrpSpPr>
        <p:grpSpPr>
          <a:xfrm>
            <a:off x="11037867" y="5905647"/>
            <a:ext cx="738963" cy="749597"/>
            <a:chOff x="11037867" y="5905647"/>
            <a:chExt cx="738963" cy="749597"/>
          </a:xfrm>
        </p:grpSpPr>
        <p:sp>
          <p:nvSpPr>
            <p:cNvPr id="11" name="Rettangolo 10">
              <a:hlinkClick r:id="rId3" action="ppaction://hlinksldjump"/>
              <a:extLst>
                <a:ext uri="{FF2B5EF4-FFF2-40B4-BE49-F238E27FC236}">
                  <a16:creationId xmlns:a16="http://schemas.microsoft.com/office/drawing/2014/main" id="{9A2EBF90-3626-0BCB-C0E3-99E48B79B5D2}"/>
                </a:ext>
              </a:extLst>
            </p:cNvPr>
            <p:cNvSpPr/>
            <p:nvPr/>
          </p:nvSpPr>
          <p:spPr>
            <a:xfrm>
              <a:off x="11037867" y="5905647"/>
              <a:ext cx="738963" cy="7495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Freccia circolare in su 11">
              <a:extLst>
                <a:ext uri="{FF2B5EF4-FFF2-40B4-BE49-F238E27FC236}">
                  <a16:creationId xmlns:a16="http://schemas.microsoft.com/office/drawing/2014/main" id="{78DFEE3E-67F9-5DE8-8880-37F54E1FE029}"/>
                </a:ext>
              </a:extLst>
            </p:cNvPr>
            <p:cNvSpPr/>
            <p:nvPr/>
          </p:nvSpPr>
          <p:spPr>
            <a:xfrm rot="17817266">
              <a:off x="11168117" y="6135024"/>
              <a:ext cx="478465" cy="290844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51955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b="1" dirty="0">
                <a:solidFill>
                  <a:schemeClr val="bg1"/>
                </a:solidFill>
                <a:latin typeface="+mn-lt"/>
              </a:rPr>
              <a:t>Q</a:t>
            </a:r>
            <a:r>
              <a:rPr lang="it-IT" sz="3600" dirty="0">
                <a:solidFill>
                  <a:schemeClr val="bg1"/>
                </a:solidFill>
                <a:latin typeface="+mn-lt"/>
              </a:rPr>
              <a:t>uantum </a:t>
            </a:r>
            <a:r>
              <a:rPr lang="it-IT" sz="3600" b="1" dirty="0" err="1">
                <a:solidFill>
                  <a:schemeClr val="bg1"/>
                </a:solidFill>
                <a:latin typeface="+mn-lt"/>
              </a:rPr>
              <a:t>P</a:t>
            </a:r>
            <a:r>
              <a:rPr lang="it-IT" sz="3600" dirty="0" err="1">
                <a:solidFill>
                  <a:schemeClr val="bg1"/>
                </a:solidFill>
                <a:latin typeface="+mn-lt"/>
              </a:rPr>
              <a:t>hase</a:t>
            </a:r>
            <a:r>
              <a:rPr lang="it-IT" sz="3600" dirty="0">
                <a:solidFill>
                  <a:schemeClr val="bg1"/>
                </a:solidFill>
                <a:latin typeface="+mn-lt"/>
              </a:rPr>
              <a:t> </a:t>
            </a:r>
            <a:r>
              <a:rPr lang="it-IT" sz="3600" b="1" dirty="0" err="1">
                <a:solidFill>
                  <a:schemeClr val="bg1"/>
                </a:solidFill>
                <a:latin typeface="+mn-lt"/>
              </a:rPr>
              <a:t>E</a:t>
            </a:r>
            <a:r>
              <a:rPr lang="it-IT" sz="3600" dirty="0" err="1">
                <a:solidFill>
                  <a:schemeClr val="bg1"/>
                </a:solidFill>
                <a:latin typeface="+mn-lt"/>
              </a:rPr>
              <a:t>stimation</a:t>
            </a:r>
            <a:r>
              <a:rPr lang="it-IT" sz="3600" dirty="0">
                <a:solidFill>
                  <a:schemeClr val="bg1"/>
                </a:solidFill>
                <a:latin typeface="+mn-lt"/>
              </a:rPr>
              <a:t> </a:t>
            </a:r>
            <a:r>
              <a:rPr lang="it-IT" sz="3600" dirty="0" err="1">
                <a:solidFill>
                  <a:schemeClr val="bg1"/>
                </a:solidFill>
                <a:latin typeface="+mn-lt"/>
              </a:rPr>
              <a:t>Algorithm</a:t>
            </a:r>
            <a:endParaRPr lang="it-IT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C1E9BB4-B693-E522-E422-0AEA07E1E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67" y="1525078"/>
            <a:ext cx="9968022" cy="549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it-IT" sz="2800" dirty="0">
                <a:solidFill>
                  <a:srgbClr val="0563C1"/>
                </a:solidFill>
                <a:latin typeface="+mn-lt"/>
              </a:rPr>
              <a:t>We </a:t>
            </a:r>
            <a:r>
              <a:rPr lang="en-US" altLang="it-IT" sz="2800" dirty="0" err="1">
                <a:solidFill>
                  <a:srgbClr val="0563C1"/>
                </a:solidFill>
                <a:latin typeface="+mn-lt"/>
              </a:rPr>
              <a:t>wanto</a:t>
            </a:r>
            <a:r>
              <a:rPr lang="en-US" altLang="it-IT" sz="2800" dirty="0">
                <a:solidFill>
                  <a:srgbClr val="0563C1"/>
                </a:solidFill>
                <a:latin typeface="+mn-lt"/>
              </a:rPr>
              <a:t> to estimate a the phase </a:t>
            </a:r>
            <a:r>
              <a:rPr lang="el-GR" altLang="it-IT" sz="2800" dirty="0">
                <a:solidFill>
                  <a:srgbClr val="0563C1"/>
                </a:solidFill>
                <a:latin typeface="+mn-lt"/>
              </a:rPr>
              <a:t>ω</a:t>
            </a:r>
            <a:r>
              <a:rPr lang="en-US" altLang="it-IT" sz="2800" dirty="0">
                <a:solidFill>
                  <a:srgbClr val="0563C1"/>
                </a:solidFill>
                <a:latin typeface="+mn-lt"/>
              </a:rPr>
              <a:t> given the quantum state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1E03FB87-0D54-E3CC-0CDB-8563CC518B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849575"/>
              </p:ext>
            </p:extLst>
          </p:nvPr>
        </p:nvGraphicFramePr>
        <p:xfrm>
          <a:off x="9952997" y="1326167"/>
          <a:ext cx="1671292" cy="935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469900" progId="Equation.3">
                  <p:embed/>
                </p:oleObj>
              </mc:Choice>
              <mc:Fallback>
                <p:oleObj name="Equation" r:id="rId2" imgW="838200" imgH="469900" progId="Equation.3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1E03FB87-0D54-E3CC-0CDB-8563CC518B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2997" y="1326167"/>
                        <a:ext cx="1671292" cy="935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uppo 12">
            <a:extLst>
              <a:ext uri="{FF2B5EF4-FFF2-40B4-BE49-F238E27FC236}">
                <a16:creationId xmlns:a16="http://schemas.microsoft.com/office/drawing/2014/main" id="{DF91852C-8B21-D07C-35D1-FDFFC0103287}"/>
              </a:ext>
            </a:extLst>
          </p:cNvPr>
          <p:cNvGrpSpPr/>
          <p:nvPr/>
        </p:nvGrpSpPr>
        <p:grpSpPr>
          <a:xfrm>
            <a:off x="882367" y="2347975"/>
            <a:ext cx="9372600" cy="1815234"/>
            <a:chOff x="1644502" y="3310870"/>
            <a:chExt cx="9372600" cy="1815234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FBD1816E-F29B-BCF8-2D37-6E3D93073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502" y="3310870"/>
              <a:ext cx="93726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>
                <a:buNone/>
              </a:pPr>
              <a:r>
                <a:rPr lang="en-US" altLang="it-IT" sz="2400" dirty="0">
                  <a:solidFill>
                    <a:srgbClr val="0563C1"/>
                  </a:solidFill>
                  <a:latin typeface="+mn-lt"/>
                </a:rPr>
                <a:t>Note that in binary we can express  		             as:</a:t>
              </a:r>
            </a:p>
          </p:txBody>
        </p:sp>
        <p:graphicFrame>
          <p:nvGraphicFramePr>
            <p:cNvPr id="7" name="Object 8">
              <a:extLst>
                <a:ext uri="{FF2B5EF4-FFF2-40B4-BE49-F238E27FC236}">
                  <a16:creationId xmlns:a16="http://schemas.microsoft.com/office/drawing/2014/main" id="{56A132E6-AD4B-FF90-B895-E73385FD87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2780604"/>
                </p:ext>
              </p:extLst>
            </p:nvPr>
          </p:nvGraphicFramePr>
          <p:xfrm>
            <a:off x="1728715" y="3951481"/>
            <a:ext cx="1956463" cy="420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02865" imgH="215806" progId="Equation.3">
                    <p:embed/>
                  </p:oleObj>
                </mc:Choice>
                <mc:Fallback>
                  <p:oleObj name="Equation" r:id="rId4" imgW="1002865" imgH="215806" progId="Equation.3">
                    <p:embed/>
                    <p:pic>
                      <p:nvPicPr>
                        <p:cNvPr id="7" name="Object 8">
                          <a:extLst>
                            <a:ext uri="{FF2B5EF4-FFF2-40B4-BE49-F238E27FC236}">
                              <a16:creationId xmlns:a16="http://schemas.microsoft.com/office/drawing/2014/main" id="{56A132E6-AD4B-FF90-B895-E73385FD87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715" y="3951481"/>
                          <a:ext cx="1956463" cy="420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9">
              <a:extLst>
                <a:ext uri="{FF2B5EF4-FFF2-40B4-BE49-F238E27FC236}">
                  <a16:creationId xmlns:a16="http://schemas.microsoft.com/office/drawing/2014/main" id="{916C3E0C-F80D-2C14-1AB8-5DBB56A87A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591752"/>
                </p:ext>
              </p:extLst>
            </p:nvPr>
          </p:nvGraphicFramePr>
          <p:xfrm>
            <a:off x="1728715" y="4656000"/>
            <a:ext cx="3738942" cy="470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17700" imgH="241300" progId="Equation.3">
                    <p:embed/>
                  </p:oleObj>
                </mc:Choice>
                <mc:Fallback>
                  <p:oleObj name="Equation" r:id="rId6" imgW="1917700" imgH="241300" progId="Equation.3">
                    <p:embed/>
                    <p:pic>
                      <p:nvPicPr>
                        <p:cNvPr id="11" name="Object 9">
                          <a:extLst>
                            <a:ext uri="{FF2B5EF4-FFF2-40B4-BE49-F238E27FC236}">
                              <a16:creationId xmlns:a16="http://schemas.microsoft.com/office/drawing/2014/main" id="{916C3E0C-F80D-2C14-1AB8-5DBB56A87A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715" y="4656000"/>
                          <a:ext cx="3738942" cy="470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7">
              <a:extLst>
                <a:ext uri="{FF2B5EF4-FFF2-40B4-BE49-F238E27FC236}">
                  <a16:creationId xmlns:a16="http://schemas.microsoft.com/office/drawing/2014/main" id="{A5CD80DC-276B-9AE6-9D56-07BA6A1E8D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6668514"/>
                </p:ext>
              </p:extLst>
            </p:nvPr>
          </p:nvGraphicFramePr>
          <p:xfrm>
            <a:off x="6096000" y="3391586"/>
            <a:ext cx="1944586" cy="4180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02865" imgH="215806" progId="Equation.3">
                    <p:embed/>
                  </p:oleObj>
                </mc:Choice>
                <mc:Fallback>
                  <p:oleObj name="Equation" r:id="rId8" imgW="1002865" imgH="215806" progId="Equation.3">
                    <p:embed/>
                    <p:pic>
                      <p:nvPicPr>
                        <p:cNvPr id="12" name="Object 7">
                          <a:extLst>
                            <a:ext uri="{FF2B5EF4-FFF2-40B4-BE49-F238E27FC236}">
                              <a16:creationId xmlns:a16="http://schemas.microsoft.com/office/drawing/2014/main" id="{A5CD80DC-276B-9AE6-9D56-07BA6A1E8D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0" y="3391586"/>
                          <a:ext cx="1944586" cy="4180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0106A96-DB3F-7D0A-02BD-41B50F6CA1FC}"/>
              </a:ext>
            </a:extLst>
          </p:cNvPr>
          <p:cNvSpPr txBox="1"/>
          <p:nvPr/>
        </p:nvSpPr>
        <p:spPr>
          <a:xfrm>
            <a:off x="882367" y="4372811"/>
            <a:ext cx="7875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it-IT" sz="2400" dirty="0">
                <a:solidFill>
                  <a:srgbClr val="0563C1"/>
                </a:solidFill>
              </a:rPr>
              <a:t>If </a:t>
            </a:r>
            <a:r>
              <a:rPr lang="en-US" altLang="it-IT" sz="2400" dirty="0"/>
              <a:t>ω=0.x</a:t>
            </a:r>
            <a:r>
              <a:rPr lang="en-US" altLang="it-IT" sz="2400" baseline="-25000" dirty="0"/>
              <a:t>1</a:t>
            </a:r>
            <a:r>
              <a:rPr lang="en-US" altLang="it-IT" sz="2400" dirty="0"/>
              <a:t> </a:t>
            </a:r>
            <a:r>
              <a:rPr lang="en-US" altLang="it-IT" sz="2400" dirty="0">
                <a:solidFill>
                  <a:srgbClr val="0563C1"/>
                </a:solidFill>
              </a:rPr>
              <a:t>then we can do the following:</a:t>
            </a:r>
          </a:p>
          <a:p>
            <a:endParaRPr lang="it-IT" dirty="0"/>
          </a:p>
        </p:txBody>
      </p:sp>
      <p:graphicFrame>
        <p:nvGraphicFramePr>
          <p:cNvPr id="20" name="Object 35">
            <a:extLst>
              <a:ext uri="{FF2B5EF4-FFF2-40B4-BE49-F238E27FC236}">
                <a16:creationId xmlns:a16="http://schemas.microsoft.com/office/drawing/2014/main" id="{DEFCBB96-D338-D2D4-F857-4595862D4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710771"/>
              </p:ext>
            </p:extLst>
          </p:nvPr>
        </p:nvGraphicFramePr>
        <p:xfrm>
          <a:off x="882367" y="5024987"/>
          <a:ext cx="1893260" cy="164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54100" imgH="914400" progId="Equation.3">
                  <p:embed/>
                </p:oleObj>
              </mc:Choice>
              <mc:Fallback>
                <p:oleObj name="Equation" r:id="rId10" imgW="1054100" imgH="914400" progId="Equation.3">
                  <p:embed/>
                  <p:pic>
                    <p:nvPicPr>
                      <p:cNvPr id="20" name="Object 35">
                        <a:extLst>
                          <a:ext uri="{FF2B5EF4-FFF2-40B4-BE49-F238E27FC236}">
                            <a16:creationId xmlns:a16="http://schemas.microsoft.com/office/drawing/2014/main" id="{DEFCBB96-D338-D2D4-F857-4595862D4E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367" y="5024987"/>
                        <a:ext cx="1893260" cy="164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uppo 26">
            <a:extLst>
              <a:ext uri="{FF2B5EF4-FFF2-40B4-BE49-F238E27FC236}">
                <a16:creationId xmlns:a16="http://schemas.microsoft.com/office/drawing/2014/main" id="{CBBD1A36-99FB-6194-C02C-28FCBAA1F63F}"/>
              </a:ext>
            </a:extLst>
          </p:cNvPr>
          <p:cNvGrpSpPr/>
          <p:nvPr/>
        </p:nvGrpSpPr>
        <p:grpSpPr>
          <a:xfrm>
            <a:off x="3338623" y="5963814"/>
            <a:ext cx="2254140" cy="619117"/>
            <a:chOff x="3579628" y="5901893"/>
            <a:chExt cx="3001963" cy="738327"/>
          </a:xfrm>
        </p:grpSpPr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86DD6F45-9310-D205-ED57-2DCA54A166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1122392"/>
                </p:ext>
              </p:extLst>
            </p:nvPr>
          </p:nvGraphicFramePr>
          <p:xfrm>
            <a:off x="4386705" y="6059195"/>
            <a:ext cx="409575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02" imgH="177569" progId="Equation.3">
                    <p:embed/>
                  </p:oleObj>
                </mc:Choice>
                <mc:Fallback>
                  <p:oleObj name="Equation" r:id="rId12" imgW="152202" imgH="177569" progId="Equation.3">
                    <p:embed/>
                    <p:pic>
                      <p:nvPicPr>
                        <p:cNvPr id="23" name="Object 22">
                          <a:extLst>
                            <a:ext uri="{FF2B5EF4-FFF2-40B4-BE49-F238E27FC236}">
                              <a16:creationId xmlns:a16="http://schemas.microsoft.com/office/drawing/2014/main" id="{86DD6F45-9310-D205-ED57-2DCA54A166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705" y="6059195"/>
                          <a:ext cx="409575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" name="Gruppo 25">
              <a:extLst>
                <a:ext uri="{FF2B5EF4-FFF2-40B4-BE49-F238E27FC236}">
                  <a16:creationId xmlns:a16="http://schemas.microsoft.com/office/drawing/2014/main" id="{79143F13-33E9-9056-9BA7-6B554B28ED40}"/>
                </a:ext>
              </a:extLst>
            </p:cNvPr>
            <p:cNvGrpSpPr/>
            <p:nvPr/>
          </p:nvGrpSpPr>
          <p:grpSpPr>
            <a:xfrm>
              <a:off x="3579628" y="5901893"/>
              <a:ext cx="3001963" cy="738327"/>
              <a:chOff x="3505200" y="4062273"/>
              <a:chExt cx="3001963" cy="738327"/>
            </a:xfrm>
          </p:grpSpPr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9CE8B1CD-B6B1-6C1B-BB45-E1E886193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1000" y="4114800"/>
                <a:ext cx="685800" cy="6858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Monotype Sorts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100000"/>
                  <a:buChar char="»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Monotype Sorts" pitchFamily="2" charset="2"/>
                  <a:buChar char="l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SzPct val="10000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24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Line 13">
                <a:extLst>
                  <a:ext uri="{FF2B5EF4-FFF2-40B4-BE49-F238E27FC236}">
                    <a16:creationId xmlns:a16="http://schemas.microsoft.com/office/drawing/2014/main" id="{FB64E109-2342-6E09-7FE9-92105000D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4419600"/>
                <a:ext cx="914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graphicFrame>
            <p:nvGraphicFramePr>
              <p:cNvPr id="24" name="Object 30">
                <a:extLst>
                  <a:ext uri="{FF2B5EF4-FFF2-40B4-BE49-F238E27FC236}">
                    <a16:creationId xmlns:a16="http://schemas.microsoft.com/office/drawing/2014/main" id="{F96E60FF-94E4-B6EA-9B8F-ABAAB50AF9F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2540"/>
                  </p:ext>
                </p:extLst>
              </p:nvPr>
            </p:nvGraphicFramePr>
            <p:xfrm>
              <a:off x="5791200" y="4062273"/>
              <a:ext cx="715963" cy="6810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66469" imgH="253780" progId="Equation.3">
                      <p:embed/>
                    </p:oleObj>
                  </mc:Choice>
                  <mc:Fallback>
                    <p:oleObj name="Equation" r:id="rId14" imgW="266469" imgH="253780" progId="Equation.3">
                      <p:embed/>
                      <p:pic>
                        <p:nvPicPr>
                          <p:cNvPr id="24" name="Object 30">
                            <a:extLst>
                              <a:ext uri="{FF2B5EF4-FFF2-40B4-BE49-F238E27FC236}">
                                <a16:creationId xmlns:a16="http://schemas.microsoft.com/office/drawing/2014/main" id="{F96E60FF-94E4-B6EA-9B8F-ABAAB50AF9F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1200" y="4062273"/>
                            <a:ext cx="715963" cy="6810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Line 41">
                <a:extLst>
                  <a:ext uri="{FF2B5EF4-FFF2-40B4-BE49-F238E27FC236}">
                    <a16:creationId xmlns:a16="http://schemas.microsoft.com/office/drawing/2014/main" id="{D4EFE264-4089-C62E-B878-58496E5F6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4419600"/>
                <a:ext cx="6858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54500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b="1" dirty="0">
                <a:solidFill>
                  <a:schemeClr val="bg1"/>
                </a:solidFill>
                <a:latin typeface="+mn-lt"/>
              </a:rPr>
              <a:t>Q</a:t>
            </a:r>
            <a:r>
              <a:rPr lang="it-IT" sz="3600" dirty="0">
                <a:solidFill>
                  <a:schemeClr val="bg1"/>
                </a:solidFill>
                <a:latin typeface="+mn-lt"/>
              </a:rPr>
              <a:t>uantum </a:t>
            </a:r>
            <a:r>
              <a:rPr lang="it-IT" sz="3600" b="1" dirty="0" err="1">
                <a:solidFill>
                  <a:schemeClr val="bg1"/>
                </a:solidFill>
                <a:latin typeface="+mn-lt"/>
              </a:rPr>
              <a:t>P</a:t>
            </a:r>
            <a:r>
              <a:rPr lang="it-IT" sz="3600" dirty="0" err="1">
                <a:solidFill>
                  <a:schemeClr val="bg1"/>
                </a:solidFill>
                <a:latin typeface="+mn-lt"/>
              </a:rPr>
              <a:t>hase</a:t>
            </a:r>
            <a:r>
              <a:rPr lang="it-IT" sz="3600" dirty="0">
                <a:solidFill>
                  <a:schemeClr val="bg1"/>
                </a:solidFill>
                <a:latin typeface="+mn-lt"/>
              </a:rPr>
              <a:t> </a:t>
            </a:r>
            <a:r>
              <a:rPr lang="it-IT" sz="3600" b="1" dirty="0" err="1">
                <a:solidFill>
                  <a:schemeClr val="bg1"/>
                </a:solidFill>
                <a:latin typeface="+mn-lt"/>
              </a:rPr>
              <a:t>E</a:t>
            </a:r>
            <a:r>
              <a:rPr lang="it-IT" sz="3600" dirty="0" err="1">
                <a:solidFill>
                  <a:schemeClr val="bg1"/>
                </a:solidFill>
                <a:latin typeface="+mn-lt"/>
              </a:rPr>
              <a:t>stimation</a:t>
            </a:r>
            <a:r>
              <a:rPr lang="it-IT" sz="3600" dirty="0">
                <a:solidFill>
                  <a:schemeClr val="bg1"/>
                </a:solidFill>
                <a:latin typeface="+mn-lt"/>
              </a:rPr>
              <a:t> </a:t>
            </a:r>
            <a:r>
              <a:rPr lang="it-IT" sz="3600" dirty="0" err="1">
                <a:solidFill>
                  <a:schemeClr val="bg1"/>
                </a:solidFill>
                <a:latin typeface="+mn-lt"/>
              </a:rPr>
              <a:t>Algorithm</a:t>
            </a:r>
            <a:endParaRPr lang="it-IT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C1E9BB4-B693-E522-E422-0AEA07E1E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67" y="1525078"/>
            <a:ext cx="9968022" cy="549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it-IT" altLang="it-IT" sz="2800" dirty="0">
                <a:solidFill>
                  <a:srgbClr val="0563C1"/>
                </a:solidFill>
                <a:latin typeface="+mn-lt"/>
              </a:rPr>
              <a:t>It can be </a:t>
            </a:r>
            <a:r>
              <a:rPr lang="it-IT" altLang="it-IT" sz="2800" dirty="0" err="1">
                <a:solidFill>
                  <a:srgbClr val="0563C1"/>
                </a:solidFill>
                <a:latin typeface="+mn-lt"/>
              </a:rPr>
              <a:t>shown</a:t>
            </a:r>
            <a:r>
              <a:rPr lang="it-IT" altLang="it-IT" sz="2800" dirty="0">
                <a:solidFill>
                  <a:srgbClr val="0563C1"/>
                </a:solidFill>
                <a:latin typeface="+mn-lt"/>
              </a:rPr>
              <a:t> </a:t>
            </a:r>
            <a:r>
              <a:rPr lang="it-IT" altLang="it-IT" sz="2800" dirty="0" err="1">
                <a:solidFill>
                  <a:srgbClr val="0563C1"/>
                </a:solidFill>
                <a:latin typeface="+mn-lt"/>
              </a:rPr>
              <a:t>that</a:t>
            </a:r>
            <a:r>
              <a:rPr lang="it-IT" altLang="it-IT" sz="2800" dirty="0">
                <a:solidFill>
                  <a:srgbClr val="0563C1"/>
                </a:solidFill>
                <a:latin typeface="+mn-lt"/>
              </a:rPr>
              <a:t>:</a:t>
            </a:r>
            <a:endParaRPr lang="en-US" altLang="it-IT" sz="2800" dirty="0">
              <a:solidFill>
                <a:srgbClr val="0563C1"/>
              </a:solidFill>
              <a:latin typeface="+mn-lt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64E1DE7-DE23-A53A-26ED-1E1E240615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01" y="2196896"/>
            <a:ext cx="10666921" cy="142502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96D922A-C0A0-EF8B-C313-4F80B403A0CF}"/>
              </a:ext>
            </a:extLst>
          </p:cNvPr>
          <p:cNvSpPr txBox="1"/>
          <p:nvPr/>
        </p:nvSpPr>
        <p:spPr>
          <a:xfrm>
            <a:off x="882367" y="3805202"/>
            <a:ext cx="7352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it-IT" sz="2800" dirty="0">
                <a:solidFill>
                  <a:srgbClr val="0563C1"/>
                </a:solidFill>
              </a:rPr>
              <a:t>So if </a:t>
            </a:r>
            <a:r>
              <a:rPr lang="en-US" altLang="it-IT" sz="2800" dirty="0"/>
              <a:t>ω=0.x</a:t>
            </a:r>
            <a:r>
              <a:rPr lang="en-US" altLang="it-IT" sz="2800" baseline="-25000" dirty="0"/>
              <a:t>1</a:t>
            </a:r>
            <a:r>
              <a:rPr lang="en-US" altLang="it-IT" sz="2800" dirty="0"/>
              <a:t>x</a:t>
            </a:r>
            <a:r>
              <a:rPr lang="en-US" altLang="it-IT" sz="2800" baseline="-25000" dirty="0"/>
              <a:t>2</a:t>
            </a:r>
            <a:r>
              <a:rPr lang="en-US" altLang="it-IT" sz="2800" dirty="0"/>
              <a:t> </a:t>
            </a:r>
            <a:r>
              <a:rPr lang="en-US" altLang="it-IT" sz="2800" dirty="0">
                <a:solidFill>
                  <a:srgbClr val="0563C1"/>
                </a:solidFill>
              </a:rPr>
              <a:t>then we can do the following:</a:t>
            </a:r>
          </a:p>
        </p:txBody>
      </p: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E7FDF87B-16F1-1F7B-5C82-FC25C46B1FA6}"/>
              </a:ext>
            </a:extLst>
          </p:cNvPr>
          <p:cNvGrpSpPr/>
          <p:nvPr/>
        </p:nvGrpSpPr>
        <p:grpSpPr>
          <a:xfrm>
            <a:off x="988301" y="4652786"/>
            <a:ext cx="5132416" cy="1735373"/>
            <a:chOff x="339795" y="2888559"/>
            <a:chExt cx="7696130" cy="2508941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9421EF9-DBAE-1A7A-5503-AB7FB922A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638" y="3124200"/>
              <a:ext cx="685800" cy="6858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15" name="Line 6">
              <a:extLst>
                <a:ext uri="{FF2B5EF4-FFF2-40B4-BE49-F238E27FC236}">
                  <a16:creationId xmlns:a16="http://schemas.microsoft.com/office/drawing/2014/main" id="{C12C1546-5AC9-FB11-231F-255F79025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438" y="3429000"/>
              <a:ext cx="24685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16" name="Object 7">
              <a:extLst>
                <a:ext uri="{FF2B5EF4-FFF2-40B4-BE49-F238E27FC236}">
                  <a16:creationId xmlns:a16="http://schemas.microsoft.com/office/drawing/2014/main" id="{D80A33F9-D497-A028-D133-0B1ED59C11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1881856"/>
                </p:ext>
              </p:extLst>
            </p:nvPr>
          </p:nvGraphicFramePr>
          <p:xfrm>
            <a:off x="4237038" y="3257550"/>
            <a:ext cx="409575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02" imgH="177569" progId="Equation.3">
                    <p:embed/>
                  </p:oleObj>
                </mc:Choice>
                <mc:Fallback>
                  <p:oleObj name="Equation" r:id="rId4" imgW="152202" imgH="177569" progId="Equation.3">
                    <p:embed/>
                    <p:pic>
                      <p:nvPicPr>
                        <p:cNvPr id="16" name="Object 7">
                          <a:extLst>
                            <a:ext uri="{FF2B5EF4-FFF2-40B4-BE49-F238E27FC236}">
                              <a16:creationId xmlns:a16="http://schemas.microsoft.com/office/drawing/2014/main" id="{D80A33F9-D497-A028-D133-0B1ED59C11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7038" y="3257550"/>
                          <a:ext cx="409575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8">
              <a:extLst>
                <a:ext uri="{FF2B5EF4-FFF2-40B4-BE49-F238E27FC236}">
                  <a16:creationId xmlns:a16="http://schemas.microsoft.com/office/drawing/2014/main" id="{56AABE49-A9E2-CDE0-7325-3456AC5B40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2692240"/>
                </p:ext>
              </p:extLst>
            </p:nvPr>
          </p:nvGraphicFramePr>
          <p:xfrm>
            <a:off x="7251700" y="3048000"/>
            <a:ext cx="784225" cy="68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91973" imgH="253890" progId="Equation.3">
                    <p:embed/>
                  </p:oleObj>
                </mc:Choice>
                <mc:Fallback>
                  <p:oleObj name="Equation" r:id="rId6" imgW="291973" imgH="253890" progId="Equation.3">
                    <p:embed/>
                    <p:pic>
                      <p:nvPicPr>
                        <p:cNvPr id="17" name="Object 8">
                          <a:extLst>
                            <a:ext uri="{FF2B5EF4-FFF2-40B4-BE49-F238E27FC236}">
                              <a16:creationId xmlns:a16="http://schemas.microsoft.com/office/drawing/2014/main" id="{56AABE49-A9E2-CDE0-7325-3456AC5B40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1700" y="3048000"/>
                          <a:ext cx="784225" cy="681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9">
              <a:extLst>
                <a:ext uri="{FF2B5EF4-FFF2-40B4-BE49-F238E27FC236}">
                  <a16:creationId xmlns:a16="http://schemas.microsoft.com/office/drawing/2014/main" id="{24080105-BE76-69E7-3F8B-C2261DC5A8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8450593"/>
                </p:ext>
              </p:extLst>
            </p:nvPr>
          </p:nvGraphicFramePr>
          <p:xfrm>
            <a:off x="346989" y="4203700"/>
            <a:ext cx="2998788" cy="1193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17115" imgH="444307" progId="Equation.3">
                    <p:embed/>
                  </p:oleObj>
                </mc:Choice>
                <mc:Fallback>
                  <p:oleObj name="Equation" r:id="rId8" imgW="1117115" imgH="444307" progId="Equation.3">
                    <p:embed/>
                    <p:pic>
                      <p:nvPicPr>
                        <p:cNvPr id="18" name="Object 9">
                          <a:extLst>
                            <a:ext uri="{FF2B5EF4-FFF2-40B4-BE49-F238E27FC236}">
                              <a16:creationId xmlns:a16="http://schemas.microsoft.com/office/drawing/2014/main" id="{24080105-BE76-69E7-3F8B-C2261DC5A8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989" y="4203700"/>
                          <a:ext cx="2998788" cy="1193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28030972-14AA-6A32-BD06-0C425267C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8838" y="34290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29" name="Object 11">
              <a:extLst>
                <a:ext uri="{FF2B5EF4-FFF2-40B4-BE49-F238E27FC236}">
                  <a16:creationId xmlns:a16="http://schemas.microsoft.com/office/drawing/2014/main" id="{20D48A4D-A87B-A5E4-51BC-FEE6752CD9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0270116"/>
                </p:ext>
              </p:extLst>
            </p:nvPr>
          </p:nvGraphicFramePr>
          <p:xfrm>
            <a:off x="339795" y="2888559"/>
            <a:ext cx="2794000" cy="1193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40948" imgH="444307" progId="Equation.3">
                    <p:embed/>
                  </p:oleObj>
                </mc:Choice>
                <mc:Fallback>
                  <p:oleObj name="Equation" r:id="rId10" imgW="1040948" imgH="444307" progId="Equation.3">
                    <p:embed/>
                    <p:pic>
                      <p:nvPicPr>
                        <p:cNvPr id="29" name="Object 11">
                          <a:extLst>
                            <a:ext uri="{FF2B5EF4-FFF2-40B4-BE49-F238E27FC236}">
                              <a16:creationId xmlns:a16="http://schemas.microsoft.com/office/drawing/2014/main" id="{20D48A4D-A87B-A5E4-51BC-FEE6752CD9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795" y="2888559"/>
                          <a:ext cx="2794000" cy="1193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Rectangle 12">
              <a:extLst>
                <a:ext uri="{FF2B5EF4-FFF2-40B4-BE49-F238E27FC236}">
                  <a16:creationId xmlns:a16="http://schemas.microsoft.com/office/drawing/2014/main" id="{A1F5E235-7A12-33E4-FC6A-E88B9FBCB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4495800"/>
              <a:ext cx="685800" cy="6858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5D26C4D1-DFDE-0FDA-1B33-680E54A7E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5600" y="4800600"/>
              <a:ext cx="487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32" name="Object 14">
              <a:extLst>
                <a:ext uri="{FF2B5EF4-FFF2-40B4-BE49-F238E27FC236}">
                  <a16:creationId xmlns:a16="http://schemas.microsoft.com/office/drawing/2014/main" id="{41F38947-B03B-A441-E7FF-312EF4C7A5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3888575"/>
                </p:ext>
              </p:extLst>
            </p:nvPr>
          </p:nvGraphicFramePr>
          <p:xfrm>
            <a:off x="6172200" y="4629150"/>
            <a:ext cx="409575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02" imgH="177569" progId="Equation.3">
                    <p:embed/>
                  </p:oleObj>
                </mc:Choice>
                <mc:Fallback>
                  <p:oleObj name="Equation" r:id="rId12" imgW="152202" imgH="177569" progId="Equation.3">
                    <p:embed/>
                    <p:pic>
                      <p:nvPicPr>
                        <p:cNvPr id="32" name="Object 14">
                          <a:extLst>
                            <a:ext uri="{FF2B5EF4-FFF2-40B4-BE49-F238E27FC236}">
                              <a16:creationId xmlns:a16="http://schemas.microsoft.com/office/drawing/2014/main" id="{41F38947-B03B-A441-E7FF-312EF4C7A5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2200" y="4629150"/>
                          <a:ext cx="409575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15">
              <a:extLst>
                <a:ext uri="{FF2B5EF4-FFF2-40B4-BE49-F238E27FC236}">
                  <a16:creationId xmlns:a16="http://schemas.microsoft.com/office/drawing/2014/main" id="{F8091C76-0F95-AC44-E23B-59A91E0566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3714843"/>
                </p:ext>
              </p:extLst>
            </p:nvPr>
          </p:nvGraphicFramePr>
          <p:xfrm>
            <a:off x="7239000" y="4419600"/>
            <a:ext cx="715963" cy="68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66469" imgH="253780" progId="Equation.3">
                    <p:embed/>
                  </p:oleObj>
                </mc:Choice>
                <mc:Fallback>
                  <p:oleObj name="Equation" r:id="rId13" imgW="266469" imgH="253780" progId="Equation.3">
                    <p:embed/>
                    <p:pic>
                      <p:nvPicPr>
                        <p:cNvPr id="33" name="Object 15">
                          <a:extLst>
                            <a:ext uri="{FF2B5EF4-FFF2-40B4-BE49-F238E27FC236}">
                              <a16:creationId xmlns:a16="http://schemas.microsoft.com/office/drawing/2014/main" id="{F8091C76-0F95-AC44-E23B-59A91E0566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9000" y="4419600"/>
                          <a:ext cx="715963" cy="681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Line 16">
              <a:extLst>
                <a:ext uri="{FF2B5EF4-FFF2-40B4-BE49-F238E27FC236}">
                  <a16:creationId xmlns:a16="http://schemas.microsoft.com/office/drawing/2014/main" id="{4B9CC9E2-F017-476F-A194-73150B59C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4800600"/>
              <a:ext cx="1524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Oval 17">
              <a:extLst>
                <a:ext uri="{FF2B5EF4-FFF2-40B4-BE49-F238E27FC236}">
                  <a16:creationId xmlns:a16="http://schemas.microsoft.com/office/drawing/2014/main" id="{D8F465A4-B4F8-EFFC-570A-CA8AAD4F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3352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36" name="Line 18">
              <a:extLst>
                <a:ext uri="{FF2B5EF4-FFF2-40B4-BE49-F238E27FC236}">
                  <a16:creationId xmlns:a16="http://schemas.microsoft.com/office/drawing/2014/main" id="{007C6067-75FD-3B73-2A1D-CAA86A40C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3429000"/>
              <a:ext cx="0" cy="990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37" name="Object 20">
              <a:extLst>
                <a:ext uri="{FF2B5EF4-FFF2-40B4-BE49-F238E27FC236}">
                  <a16:creationId xmlns:a16="http://schemas.microsoft.com/office/drawing/2014/main" id="{9CAD845E-8CC2-E432-457B-0A636E04C6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1931304"/>
                </p:ext>
              </p:extLst>
            </p:nvPr>
          </p:nvGraphicFramePr>
          <p:xfrm>
            <a:off x="5026027" y="4458616"/>
            <a:ext cx="550861" cy="685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79279" imgH="241195" progId="Equation.3">
                    <p:embed/>
                  </p:oleObj>
                </mc:Choice>
                <mc:Fallback>
                  <p:oleObj name="Equation" r:id="rId15" imgW="279279" imgH="241195" progId="Equation.3">
                    <p:embed/>
                    <p:pic>
                      <p:nvPicPr>
                        <p:cNvPr id="37" name="Object 20">
                          <a:extLst>
                            <a:ext uri="{FF2B5EF4-FFF2-40B4-BE49-F238E27FC236}">
                              <a16:creationId xmlns:a16="http://schemas.microsoft.com/office/drawing/2014/main" id="{9CAD845E-8CC2-E432-457B-0A636E04C6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6027" y="4458616"/>
                          <a:ext cx="550861" cy="6857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Oval 22">
              <a:extLst>
                <a:ext uri="{FF2B5EF4-FFF2-40B4-BE49-F238E27FC236}">
                  <a16:creationId xmlns:a16="http://schemas.microsoft.com/office/drawing/2014/main" id="{F38602DA-B2C2-2186-5D2E-8D985277B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4419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39" name="Line 23">
              <a:extLst>
                <a:ext uri="{FF2B5EF4-FFF2-40B4-BE49-F238E27FC236}">
                  <a16:creationId xmlns:a16="http://schemas.microsoft.com/office/drawing/2014/main" id="{110CCEFD-779D-3B5D-7879-9C98D7184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8800" y="48006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0864749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b="1" dirty="0">
                <a:solidFill>
                  <a:schemeClr val="bg1"/>
                </a:solidFill>
                <a:latin typeface="+mn-lt"/>
              </a:rPr>
              <a:t>Q</a:t>
            </a:r>
            <a:r>
              <a:rPr lang="it-IT" sz="3600" dirty="0">
                <a:solidFill>
                  <a:schemeClr val="bg1"/>
                </a:solidFill>
                <a:latin typeface="+mn-lt"/>
              </a:rPr>
              <a:t>uantum </a:t>
            </a:r>
            <a:r>
              <a:rPr lang="it-IT" sz="3600" b="1" dirty="0" err="1">
                <a:solidFill>
                  <a:schemeClr val="bg1"/>
                </a:solidFill>
                <a:latin typeface="+mn-lt"/>
              </a:rPr>
              <a:t>P</a:t>
            </a:r>
            <a:r>
              <a:rPr lang="it-IT" sz="3600" dirty="0" err="1">
                <a:solidFill>
                  <a:schemeClr val="bg1"/>
                </a:solidFill>
                <a:latin typeface="+mn-lt"/>
              </a:rPr>
              <a:t>hase</a:t>
            </a:r>
            <a:r>
              <a:rPr lang="it-IT" sz="3600" dirty="0">
                <a:solidFill>
                  <a:schemeClr val="bg1"/>
                </a:solidFill>
                <a:latin typeface="+mn-lt"/>
              </a:rPr>
              <a:t> </a:t>
            </a:r>
            <a:r>
              <a:rPr lang="it-IT" sz="3600" b="1" dirty="0" err="1">
                <a:solidFill>
                  <a:schemeClr val="bg1"/>
                </a:solidFill>
                <a:latin typeface="+mn-lt"/>
              </a:rPr>
              <a:t>E</a:t>
            </a:r>
            <a:r>
              <a:rPr lang="it-IT" sz="3600" dirty="0" err="1">
                <a:solidFill>
                  <a:schemeClr val="bg1"/>
                </a:solidFill>
                <a:latin typeface="+mn-lt"/>
              </a:rPr>
              <a:t>stimation</a:t>
            </a:r>
            <a:r>
              <a:rPr lang="it-IT" sz="3600" dirty="0">
                <a:solidFill>
                  <a:schemeClr val="bg1"/>
                </a:solidFill>
                <a:latin typeface="+mn-lt"/>
              </a:rPr>
              <a:t> </a:t>
            </a:r>
            <a:r>
              <a:rPr lang="it-IT" sz="3600" dirty="0" err="1">
                <a:solidFill>
                  <a:schemeClr val="bg1"/>
                </a:solidFill>
                <a:latin typeface="+mn-lt"/>
              </a:rPr>
              <a:t>Algorithm</a:t>
            </a:r>
            <a:endParaRPr lang="it-IT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96D922A-C0A0-EF8B-C313-4F80B403A0CF}"/>
              </a:ext>
            </a:extLst>
          </p:cNvPr>
          <p:cNvSpPr txBox="1"/>
          <p:nvPr/>
        </p:nvSpPr>
        <p:spPr>
          <a:xfrm>
            <a:off x="838200" y="2008631"/>
            <a:ext cx="7352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it-IT" sz="2800" dirty="0">
                <a:solidFill>
                  <a:srgbClr val="0563C1"/>
                </a:solidFill>
              </a:rPr>
              <a:t>If </a:t>
            </a:r>
            <a:r>
              <a:rPr lang="en-US" altLang="it-IT" sz="2800" dirty="0"/>
              <a:t>ω=0.x</a:t>
            </a:r>
            <a:r>
              <a:rPr lang="en-US" altLang="it-IT" sz="2800" baseline="-25000" dirty="0"/>
              <a:t>1</a:t>
            </a:r>
            <a:r>
              <a:rPr lang="en-US" altLang="it-IT" sz="2800" dirty="0"/>
              <a:t>x</a:t>
            </a:r>
            <a:r>
              <a:rPr lang="en-US" altLang="it-IT" sz="2800" baseline="-25000" dirty="0"/>
              <a:t>2</a:t>
            </a:r>
            <a:r>
              <a:rPr lang="en-US" altLang="it-IT" sz="2800" dirty="0"/>
              <a:t>x</a:t>
            </a:r>
            <a:r>
              <a:rPr lang="en-US" altLang="it-IT" sz="2800" baseline="-25000" dirty="0"/>
              <a:t>3</a:t>
            </a:r>
            <a:r>
              <a:rPr lang="en-US" altLang="it-IT" sz="2800" dirty="0"/>
              <a:t> </a:t>
            </a:r>
            <a:r>
              <a:rPr lang="en-US" altLang="it-IT" sz="2800" dirty="0">
                <a:solidFill>
                  <a:srgbClr val="0563C1"/>
                </a:solidFill>
              </a:rPr>
              <a:t>then we can do the following: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0B6A926B-A7D4-3F32-49D0-8926688EB6A8}"/>
              </a:ext>
            </a:extLst>
          </p:cNvPr>
          <p:cNvGrpSpPr/>
          <p:nvPr/>
        </p:nvGrpSpPr>
        <p:grpSpPr>
          <a:xfrm>
            <a:off x="838200" y="3182682"/>
            <a:ext cx="6726866" cy="2601432"/>
            <a:chOff x="-76200" y="2895600"/>
            <a:chExt cx="9255125" cy="381000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AAF6B8F4-6F35-2BD6-5AA4-C82C541E5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3124200"/>
              <a:ext cx="685800" cy="6858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F8EA0F67-732A-EDC1-3EDA-E6E85C29A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2238" y="3429000"/>
              <a:ext cx="39925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9" name="Object 7">
              <a:extLst>
                <a:ext uri="{FF2B5EF4-FFF2-40B4-BE49-F238E27FC236}">
                  <a16:creationId xmlns:a16="http://schemas.microsoft.com/office/drawing/2014/main" id="{7BE49D76-CDA0-C6E6-C027-456009794A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8515840"/>
                </p:ext>
              </p:extLst>
            </p:nvPr>
          </p:nvGraphicFramePr>
          <p:xfrm>
            <a:off x="3398838" y="3257550"/>
            <a:ext cx="409575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02" imgH="177569" progId="Equation.3">
                    <p:embed/>
                  </p:oleObj>
                </mc:Choice>
                <mc:Fallback>
                  <p:oleObj name="Equation" r:id="rId2" imgW="152202" imgH="177569" progId="Equation.3">
                    <p:embed/>
                    <p:pic>
                      <p:nvPicPr>
                        <p:cNvPr id="9" name="Object 7">
                          <a:extLst>
                            <a:ext uri="{FF2B5EF4-FFF2-40B4-BE49-F238E27FC236}">
                              <a16:creationId xmlns:a16="http://schemas.microsoft.com/office/drawing/2014/main" id="{7BE49D76-CDA0-C6E6-C027-456009794A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8838" y="3257550"/>
                          <a:ext cx="409575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8">
              <a:extLst>
                <a:ext uri="{FF2B5EF4-FFF2-40B4-BE49-F238E27FC236}">
                  <a16:creationId xmlns:a16="http://schemas.microsoft.com/office/drawing/2014/main" id="{71305FB7-0ECB-FEE4-5EFB-246808E12B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9221153"/>
                </p:ext>
              </p:extLst>
            </p:nvPr>
          </p:nvGraphicFramePr>
          <p:xfrm>
            <a:off x="8394700" y="3048000"/>
            <a:ext cx="784225" cy="68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91973" imgH="253890" progId="Equation.3">
                    <p:embed/>
                  </p:oleObj>
                </mc:Choice>
                <mc:Fallback>
                  <p:oleObj name="Equation" r:id="rId4" imgW="291973" imgH="253890" progId="Equation.3">
                    <p:embed/>
                    <p:pic>
                      <p:nvPicPr>
                        <p:cNvPr id="11" name="Object 8">
                          <a:extLst>
                            <a:ext uri="{FF2B5EF4-FFF2-40B4-BE49-F238E27FC236}">
                              <a16:creationId xmlns:a16="http://schemas.microsoft.com/office/drawing/2014/main" id="{71305FB7-0ECB-FEE4-5EFB-246808E12B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4700" y="3048000"/>
                          <a:ext cx="784225" cy="681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9">
              <a:extLst>
                <a:ext uri="{FF2B5EF4-FFF2-40B4-BE49-F238E27FC236}">
                  <a16:creationId xmlns:a16="http://schemas.microsoft.com/office/drawing/2014/main" id="{A9E59140-13BC-3EA7-E31D-50A271B32A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0287755"/>
                </p:ext>
              </p:extLst>
            </p:nvPr>
          </p:nvGraphicFramePr>
          <p:xfrm>
            <a:off x="-15875" y="4191000"/>
            <a:ext cx="3032125" cy="1193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29810" imgH="444307" progId="Equation.3">
                    <p:embed/>
                  </p:oleObj>
                </mc:Choice>
                <mc:Fallback>
                  <p:oleObj name="Equation" r:id="rId6" imgW="1129810" imgH="444307" progId="Equation.3">
                    <p:embed/>
                    <p:pic>
                      <p:nvPicPr>
                        <p:cNvPr id="12" name="Object 9">
                          <a:extLst>
                            <a:ext uri="{FF2B5EF4-FFF2-40B4-BE49-F238E27FC236}">
                              <a16:creationId xmlns:a16="http://schemas.microsoft.com/office/drawing/2014/main" id="{A9E59140-13BC-3EA7-E31D-50A271B32A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5875" y="4191000"/>
                          <a:ext cx="3032125" cy="1193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864B200D-BF74-B3ED-260F-B233BA8933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600" y="3429000"/>
              <a:ext cx="3508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19" name="Object 11">
              <a:extLst>
                <a:ext uri="{FF2B5EF4-FFF2-40B4-BE49-F238E27FC236}">
                  <a16:creationId xmlns:a16="http://schemas.microsoft.com/office/drawing/2014/main" id="{012A3DCD-16B4-BC3B-05D5-E6F84797FD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072410"/>
                </p:ext>
              </p:extLst>
            </p:nvPr>
          </p:nvGraphicFramePr>
          <p:xfrm>
            <a:off x="0" y="2895600"/>
            <a:ext cx="2794000" cy="1193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40948" imgH="444307" progId="Equation.3">
                    <p:embed/>
                  </p:oleObj>
                </mc:Choice>
                <mc:Fallback>
                  <p:oleObj name="Equation" r:id="rId8" imgW="1040948" imgH="444307" progId="Equation.3">
                    <p:embed/>
                    <p:pic>
                      <p:nvPicPr>
                        <p:cNvPr id="19" name="Object 11">
                          <a:extLst>
                            <a:ext uri="{FF2B5EF4-FFF2-40B4-BE49-F238E27FC236}">
                              <a16:creationId xmlns:a16="http://schemas.microsoft.com/office/drawing/2014/main" id="{012A3DCD-16B4-BC3B-05D5-E6F84797FD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895600"/>
                          <a:ext cx="2794000" cy="1193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1981A4D4-90AA-3325-CC8E-27A59A82E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4495800"/>
              <a:ext cx="685800" cy="6858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8A8DBF74-202B-00DC-11C5-9103DBAD8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200" y="4800600"/>
              <a:ext cx="24685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22" name="Object 14">
              <a:extLst>
                <a:ext uri="{FF2B5EF4-FFF2-40B4-BE49-F238E27FC236}">
                  <a16:creationId xmlns:a16="http://schemas.microsoft.com/office/drawing/2014/main" id="{03A6EE23-4CD2-2F13-532E-CC44F035788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2058731"/>
                </p:ext>
              </p:extLst>
            </p:nvPr>
          </p:nvGraphicFramePr>
          <p:xfrm>
            <a:off x="5257800" y="4629150"/>
            <a:ext cx="409575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02" imgH="177569" progId="Equation.3">
                    <p:embed/>
                  </p:oleObj>
                </mc:Choice>
                <mc:Fallback>
                  <p:oleObj name="Equation" r:id="rId10" imgW="152202" imgH="177569" progId="Equation.3">
                    <p:embed/>
                    <p:pic>
                      <p:nvPicPr>
                        <p:cNvPr id="22" name="Object 14">
                          <a:extLst>
                            <a:ext uri="{FF2B5EF4-FFF2-40B4-BE49-F238E27FC236}">
                              <a16:creationId xmlns:a16="http://schemas.microsoft.com/office/drawing/2014/main" id="{03A6EE23-4CD2-2F13-532E-CC44F03578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4629150"/>
                          <a:ext cx="409575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5">
              <a:extLst>
                <a:ext uri="{FF2B5EF4-FFF2-40B4-BE49-F238E27FC236}">
                  <a16:creationId xmlns:a16="http://schemas.microsoft.com/office/drawing/2014/main" id="{05E9CD58-EE5B-4421-66DA-D4A862C36F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4813924"/>
                </p:ext>
              </p:extLst>
            </p:nvPr>
          </p:nvGraphicFramePr>
          <p:xfrm>
            <a:off x="8348663" y="4419600"/>
            <a:ext cx="784225" cy="68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91973" imgH="253890" progId="Equation.3">
                    <p:embed/>
                  </p:oleObj>
                </mc:Choice>
                <mc:Fallback>
                  <p:oleObj name="Equation" r:id="rId11" imgW="291973" imgH="253890" progId="Equation.3">
                    <p:embed/>
                    <p:pic>
                      <p:nvPicPr>
                        <p:cNvPr id="23" name="Object 15">
                          <a:extLst>
                            <a:ext uri="{FF2B5EF4-FFF2-40B4-BE49-F238E27FC236}">
                              <a16:creationId xmlns:a16="http://schemas.microsoft.com/office/drawing/2014/main" id="{05E9CD58-EE5B-4421-66DA-D4A862C36F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48663" y="4419600"/>
                          <a:ext cx="784225" cy="681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B998ADF4-E606-D8EC-2DFD-366B49603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4800600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Oval 17">
              <a:extLst>
                <a:ext uri="{FF2B5EF4-FFF2-40B4-BE49-F238E27FC236}">
                  <a16:creationId xmlns:a16="http://schemas.microsoft.com/office/drawing/2014/main" id="{572CCC8D-E041-740E-4542-8213E9E93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352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264A2497-BBE6-9967-7A0B-F02ED9C08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0" y="3429000"/>
              <a:ext cx="0" cy="990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27" name="Object 19">
              <a:extLst>
                <a:ext uri="{FF2B5EF4-FFF2-40B4-BE49-F238E27FC236}">
                  <a16:creationId xmlns:a16="http://schemas.microsoft.com/office/drawing/2014/main" id="{8EAEFCAE-99C4-0E03-A9FE-9F63FDB6A0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9120226"/>
                </p:ext>
              </p:extLst>
            </p:nvPr>
          </p:nvGraphicFramePr>
          <p:xfrm>
            <a:off x="4162429" y="4503229"/>
            <a:ext cx="485771" cy="646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79279" imgH="241195" progId="Equation.3">
                    <p:embed/>
                  </p:oleObj>
                </mc:Choice>
                <mc:Fallback>
                  <p:oleObj name="Equation" r:id="rId13" imgW="279279" imgH="241195" progId="Equation.3">
                    <p:embed/>
                    <p:pic>
                      <p:nvPicPr>
                        <p:cNvPr id="27" name="Object 19">
                          <a:extLst>
                            <a:ext uri="{FF2B5EF4-FFF2-40B4-BE49-F238E27FC236}">
                              <a16:creationId xmlns:a16="http://schemas.microsoft.com/office/drawing/2014/main" id="{8EAEFCAE-99C4-0E03-A9FE-9F63FDB6A0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2429" y="4503229"/>
                          <a:ext cx="485771" cy="646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Oval 20">
              <a:extLst>
                <a:ext uri="{FF2B5EF4-FFF2-40B4-BE49-F238E27FC236}">
                  <a16:creationId xmlns:a16="http://schemas.microsoft.com/office/drawing/2014/main" id="{6DEC6295-7494-40B7-7387-406204B05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44196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42" name="Line 21">
              <a:extLst>
                <a:ext uri="{FF2B5EF4-FFF2-40B4-BE49-F238E27FC236}">
                  <a16:creationId xmlns:a16="http://schemas.microsoft.com/office/drawing/2014/main" id="{2C1E3AD1-2DFE-F81F-965D-64538B4C5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600" y="48006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43" name="Object 23">
              <a:extLst>
                <a:ext uri="{FF2B5EF4-FFF2-40B4-BE49-F238E27FC236}">
                  <a16:creationId xmlns:a16="http://schemas.microsoft.com/office/drawing/2014/main" id="{F17808CB-2FF1-AC07-4DEC-13EB32BC69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4416322"/>
                </p:ext>
              </p:extLst>
            </p:nvPr>
          </p:nvGraphicFramePr>
          <p:xfrm>
            <a:off x="-76200" y="5511800"/>
            <a:ext cx="3238500" cy="1193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05977" imgH="444307" progId="Equation.3">
                    <p:embed/>
                  </p:oleObj>
                </mc:Choice>
                <mc:Fallback>
                  <p:oleObj name="Equation" r:id="rId15" imgW="1205977" imgH="444307" progId="Equation.3">
                    <p:embed/>
                    <p:pic>
                      <p:nvPicPr>
                        <p:cNvPr id="43" name="Object 23">
                          <a:extLst>
                            <a:ext uri="{FF2B5EF4-FFF2-40B4-BE49-F238E27FC236}">
                              <a16:creationId xmlns:a16="http://schemas.microsoft.com/office/drawing/2014/main" id="{F17808CB-2FF1-AC07-4DEC-13EB32BC69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0" y="5511800"/>
                          <a:ext cx="3238500" cy="1193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Rectangle 24">
              <a:extLst>
                <a:ext uri="{FF2B5EF4-FFF2-40B4-BE49-F238E27FC236}">
                  <a16:creationId xmlns:a16="http://schemas.microsoft.com/office/drawing/2014/main" id="{C0603787-8A18-A912-0C3D-654467E84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3638" y="5816600"/>
              <a:ext cx="685800" cy="6858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5" name="Object 26">
              <a:extLst>
                <a:ext uri="{FF2B5EF4-FFF2-40B4-BE49-F238E27FC236}">
                  <a16:creationId xmlns:a16="http://schemas.microsoft.com/office/drawing/2014/main" id="{A90CBF16-2733-D8EB-804B-EAB9E3027E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3729596"/>
                </p:ext>
              </p:extLst>
            </p:nvPr>
          </p:nvGraphicFramePr>
          <p:xfrm>
            <a:off x="7666038" y="5949950"/>
            <a:ext cx="409575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02" imgH="177569" progId="Equation.3">
                    <p:embed/>
                  </p:oleObj>
                </mc:Choice>
                <mc:Fallback>
                  <p:oleObj name="Equation" r:id="rId10" imgW="152202" imgH="177569" progId="Equation.3">
                    <p:embed/>
                    <p:pic>
                      <p:nvPicPr>
                        <p:cNvPr id="45" name="Object 26">
                          <a:extLst>
                            <a:ext uri="{FF2B5EF4-FFF2-40B4-BE49-F238E27FC236}">
                              <a16:creationId xmlns:a16="http://schemas.microsoft.com/office/drawing/2014/main" id="{A90CBF16-2733-D8EB-804B-EAB9E3027E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66038" y="5949950"/>
                          <a:ext cx="409575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27">
              <a:extLst>
                <a:ext uri="{FF2B5EF4-FFF2-40B4-BE49-F238E27FC236}">
                  <a16:creationId xmlns:a16="http://schemas.microsoft.com/office/drawing/2014/main" id="{5674BCB9-7C16-B151-20DA-62F4120ACD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4527151"/>
                </p:ext>
              </p:extLst>
            </p:nvPr>
          </p:nvGraphicFramePr>
          <p:xfrm>
            <a:off x="8382000" y="5740400"/>
            <a:ext cx="715963" cy="68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66469" imgH="253780" progId="Equation.3">
                    <p:embed/>
                  </p:oleObj>
                </mc:Choice>
                <mc:Fallback>
                  <p:oleObj name="Equation" r:id="rId17" imgW="266469" imgH="253780" progId="Equation.3">
                    <p:embed/>
                    <p:pic>
                      <p:nvPicPr>
                        <p:cNvPr id="46" name="Object 27">
                          <a:extLst>
                            <a:ext uri="{FF2B5EF4-FFF2-40B4-BE49-F238E27FC236}">
                              <a16:creationId xmlns:a16="http://schemas.microsoft.com/office/drawing/2014/main" id="{5674BCB9-7C16-B151-20DA-62F4120ACD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2000" y="5740400"/>
                          <a:ext cx="715963" cy="681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Line 32">
              <a:extLst>
                <a:ext uri="{FF2B5EF4-FFF2-40B4-BE49-F238E27FC236}">
                  <a16:creationId xmlns:a16="http://schemas.microsoft.com/office/drawing/2014/main" id="{B0A01800-E8D6-5B26-8215-6F307D35A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6172200"/>
              <a:ext cx="2362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Oval 33">
              <a:extLst>
                <a:ext uri="{FF2B5EF4-FFF2-40B4-BE49-F238E27FC236}">
                  <a16:creationId xmlns:a16="http://schemas.microsoft.com/office/drawing/2014/main" id="{4F940EB8-ADE6-5CCD-C752-8B5EE0D94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4724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49" name="Line 34">
              <a:extLst>
                <a:ext uri="{FF2B5EF4-FFF2-40B4-BE49-F238E27FC236}">
                  <a16:creationId xmlns:a16="http://schemas.microsoft.com/office/drawing/2014/main" id="{DEFBAB89-3584-8056-85E6-1D273CEAF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0400" y="4800600"/>
              <a:ext cx="0" cy="990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50" name="Object 35">
              <a:extLst>
                <a:ext uri="{FF2B5EF4-FFF2-40B4-BE49-F238E27FC236}">
                  <a16:creationId xmlns:a16="http://schemas.microsoft.com/office/drawing/2014/main" id="{7B395051-8607-A389-49B6-C9451DF39B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6379856"/>
                </p:ext>
              </p:extLst>
            </p:nvPr>
          </p:nvGraphicFramePr>
          <p:xfrm>
            <a:off x="6721162" y="5865017"/>
            <a:ext cx="528318" cy="646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79279" imgH="241195" progId="Equation.3">
                    <p:embed/>
                  </p:oleObj>
                </mc:Choice>
                <mc:Fallback>
                  <p:oleObj name="Equation" r:id="rId19" imgW="279279" imgH="241195" progId="Equation.3">
                    <p:embed/>
                    <p:pic>
                      <p:nvPicPr>
                        <p:cNvPr id="50" name="Object 35">
                          <a:extLst>
                            <a:ext uri="{FF2B5EF4-FFF2-40B4-BE49-F238E27FC236}">
                              <a16:creationId xmlns:a16="http://schemas.microsoft.com/office/drawing/2014/main" id="{7B395051-8607-A389-49B6-C9451DF39B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1162" y="5865017"/>
                          <a:ext cx="528318" cy="646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Oval 36">
              <a:extLst>
                <a:ext uri="{FF2B5EF4-FFF2-40B4-BE49-F238E27FC236}">
                  <a16:creationId xmlns:a16="http://schemas.microsoft.com/office/drawing/2014/main" id="{830A338B-AF6D-5ED3-2798-A4EC37998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57912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52" name="Line 37">
              <a:extLst>
                <a:ext uri="{FF2B5EF4-FFF2-40B4-BE49-F238E27FC236}">
                  <a16:creationId xmlns:a16="http://schemas.microsoft.com/office/drawing/2014/main" id="{ABA23387-3882-8822-E0BA-92C01B0B2D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99438" y="6172200"/>
              <a:ext cx="1825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graphicFrame>
          <p:nvGraphicFramePr>
            <p:cNvPr id="53" name="Object 38">
              <a:extLst>
                <a:ext uri="{FF2B5EF4-FFF2-40B4-BE49-F238E27FC236}">
                  <a16:creationId xmlns:a16="http://schemas.microsoft.com/office/drawing/2014/main" id="{085AD5D3-9304-AFAB-C7C4-1B37AB5913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9333073"/>
                </p:ext>
              </p:extLst>
            </p:nvPr>
          </p:nvGraphicFramePr>
          <p:xfrm>
            <a:off x="5839785" y="5882575"/>
            <a:ext cx="454651" cy="646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79279" imgH="241195" progId="Equation.3">
                    <p:embed/>
                  </p:oleObj>
                </mc:Choice>
                <mc:Fallback>
                  <p:oleObj name="Equation" r:id="rId20" imgW="279279" imgH="241195" progId="Equation.3">
                    <p:embed/>
                    <p:pic>
                      <p:nvPicPr>
                        <p:cNvPr id="53" name="Object 38">
                          <a:extLst>
                            <a:ext uri="{FF2B5EF4-FFF2-40B4-BE49-F238E27FC236}">
                              <a16:creationId xmlns:a16="http://schemas.microsoft.com/office/drawing/2014/main" id="{085AD5D3-9304-AFAB-C7C4-1B37AB5913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9785" y="5882575"/>
                          <a:ext cx="454651" cy="646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Oval 39">
              <a:extLst>
                <a:ext uri="{FF2B5EF4-FFF2-40B4-BE49-F238E27FC236}">
                  <a16:creationId xmlns:a16="http://schemas.microsoft.com/office/drawing/2014/main" id="{AEEE5B45-A322-D295-6B46-714F4C016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579120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55" name="Line 40">
              <a:extLst>
                <a:ext uri="{FF2B5EF4-FFF2-40B4-BE49-F238E27FC236}">
                  <a16:creationId xmlns:a16="http://schemas.microsoft.com/office/drawing/2014/main" id="{0DB05F6F-D3A6-FC44-340F-58AD7A89A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6838" y="6172200"/>
              <a:ext cx="1825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6" name="Line 41">
              <a:extLst>
                <a:ext uri="{FF2B5EF4-FFF2-40B4-BE49-F238E27FC236}">
                  <a16:creationId xmlns:a16="http://schemas.microsoft.com/office/drawing/2014/main" id="{F71B00C2-C60F-4A4F-A3FC-79FEB0DDB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6172200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Oval 42">
              <a:extLst>
                <a:ext uri="{FF2B5EF4-FFF2-40B4-BE49-F238E27FC236}">
                  <a16:creationId xmlns:a16="http://schemas.microsoft.com/office/drawing/2014/main" id="{3CB20041-6DF9-D3AB-96AC-092719463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352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>
                <a:solidFill>
                  <a:schemeClr val="accent2"/>
                </a:solidFill>
              </a:endParaRPr>
            </a:p>
          </p:txBody>
        </p:sp>
        <p:sp>
          <p:nvSpPr>
            <p:cNvPr id="58" name="Line 43">
              <a:extLst>
                <a:ext uri="{FF2B5EF4-FFF2-40B4-BE49-F238E27FC236}">
                  <a16:creationId xmlns:a16="http://schemas.microsoft.com/office/drawing/2014/main" id="{130FDAEA-C8AD-C8F2-3691-03DC0773D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3429000"/>
              <a:ext cx="0" cy="2362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2645833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b="1" dirty="0">
                <a:solidFill>
                  <a:schemeClr val="bg1"/>
                </a:solidFill>
              </a:rPr>
              <a:t>Q</a:t>
            </a:r>
            <a:r>
              <a:rPr lang="it-IT" sz="3600" dirty="0">
                <a:solidFill>
                  <a:schemeClr val="bg1"/>
                </a:solidFill>
              </a:rPr>
              <a:t>uantum </a:t>
            </a:r>
            <a:r>
              <a:rPr lang="it-IT" sz="3600" b="1" dirty="0" err="1">
                <a:solidFill>
                  <a:schemeClr val="bg1"/>
                </a:solidFill>
              </a:rPr>
              <a:t>P</a:t>
            </a:r>
            <a:r>
              <a:rPr lang="it-IT" sz="3600" dirty="0" err="1">
                <a:solidFill>
                  <a:schemeClr val="bg1"/>
                </a:solidFill>
              </a:rPr>
              <a:t>hase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b="1" dirty="0" err="1">
                <a:solidFill>
                  <a:schemeClr val="bg1"/>
                </a:solidFill>
              </a:rPr>
              <a:t>E</a:t>
            </a:r>
            <a:r>
              <a:rPr lang="it-IT" sz="3600" dirty="0" err="1">
                <a:solidFill>
                  <a:schemeClr val="bg1"/>
                </a:solidFill>
              </a:rPr>
              <a:t>stimation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Algorithm</a:t>
            </a:r>
            <a:endParaRPr lang="it-IT" sz="3600" dirty="0">
              <a:solidFill>
                <a:schemeClr val="bg1"/>
              </a:solidFill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51BEB7C6-48B9-B3F7-5F89-D5B714C9AB96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7F178816-3170-18A8-51D9-726DC07D2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QPE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5" name="Rettangolo smussato 4">
              <a:extLst>
                <a:ext uri="{FF2B5EF4-FFF2-40B4-BE49-F238E27FC236}">
                  <a16:creationId xmlns:a16="http://schemas.microsoft.com/office/drawing/2014/main" id="{059BFF4D-72CB-8B76-F766-856B081AA13E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7" name="Gruppo 6">
            <a:extLst>
              <a:ext uri="{FF2B5EF4-FFF2-40B4-BE49-F238E27FC236}">
                <a16:creationId xmlns:a16="http://schemas.microsoft.com/office/drawing/2014/main" id="{7298F55D-D6DF-6647-E5FF-0E41A76DAB0D}"/>
              </a:ext>
            </a:extLst>
          </p:cNvPr>
          <p:cNvGrpSpPr/>
          <p:nvPr/>
        </p:nvGrpSpPr>
        <p:grpSpPr>
          <a:xfrm>
            <a:off x="11037867" y="5905647"/>
            <a:ext cx="738963" cy="749597"/>
            <a:chOff x="11037867" y="5905647"/>
            <a:chExt cx="738963" cy="749597"/>
          </a:xfrm>
        </p:grpSpPr>
        <p:sp>
          <p:nvSpPr>
            <p:cNvPr id="11" name="Rettangolo 10">
              <a:hlinkClick r:id="rId3" action="ppaction://hlinksldjump"/>
              <a:extLst>
                <a:ext uri="{FF2B5EF4-FFF2-40B4-BE49-F238E27FC236}">
                  <a16:creationId xmlns:a16="http://schemas.microsoft.com/office/drawing/2014/main" id="{0491A194-30C8-49EB-BCD2-875DC9ACA578}"/>
                </a:ext>
              </a:extLst>
            </p:cNvPr>
            <p:cNvSpPr/>
            <p:nvPr/>
          </p:nvSpPr>
          <p:spPr>
            <a:xfrm>
              <a:off x="11037867" y="5905647"/>
              <a:ext cx="738963" cy="7495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Freccia circolare in su 11">
              <a:extLst>
                <a:ext uri="{FF2B5EF4-FFF2-40B4-BE49-F238E27FC236}">
                  <a16:creationId xmlns:a16="http://schemas.microsoft.com/office/drawing/2014/main" id="{A6FE9194-0758-0846-DA38-074DA27AE408}"/>
                </a:ext>
              </a:extLst>
            </p:cNvPr>
            <p:cNvSpPr/>
            <p:nvPr/>
          </p:nvSpPr>
          <p:spPr>
            <a:xfrm rot="17817266">
              <a:off x="11168117" y="6135024"/>
              <a:ext cx="478465" cy="290844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78071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o 23">
            <a:extLst>
              <a:ext uri="{FF2B5EF4-FFF2-40B4-BE49-F238E27FC236}">
                <a16:creationId xmlns:a16="http://schemas.microsoft.com/office/drawing/2014/main" id="{65433942-3CE6-16D3-26E2-8C0C531CA6C4}"/>
              </a:ext>
            </a:extLst>
          </p:cNvPr>
          <p:cNvGrpSpPr/>
          <p:nvPr/>
        </p:nvGrpSpPr>
        <p:grpSpPr>
          <a:xfrm>
            <a:off x="715925" y="2220803"/>
            <a:ext cx="11128744" cy="4228654"/>
            <a:chOff x="689344" y="2220803"/>
            <a:chExt cx="11128744" cy="4228654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406356BE-608C-32FD-C55B-46E45C5FB7AB}"/>
                </a:ext>
              </a:extLst>
            </p:cNvPr>
            <p:cNvSpPr txBox="1"/>
            <p:nvPr/>
          </p:nvSpPr>
          <p:spPr>
            <a:xfrm>
              <a:off x="689344" y="2220803"/>
              <a:ext cx="1112874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it-IT" u="sng" dirty="0">
                  <a:solidFill>
                    <a:srgbClr val="0563C1"/>
                  </a:solidFill>
                </a:rPr>
                <a:t>Step 1.</a:t>
              </a:r>
              <a:r>
                <a:rPr lang="it-IT" dirty="0"/>
                <a:t> </a:t>
              </a:r>
              <a:r>
                <a:rPr lang="en-US" dirty="0">
                  <a:solidFill>
                    <a:srgbClr val="0563C1"/>
                  </a:solidFill>
                </a:rPr>
                <a:t>Choose a random positive integer m. Use the polynomial time Euclidean algorithm  to compute the greatest common divisor </a:t>
              </a:r>
              <a:r>
                <a:rPr lang="en-US" dirty="0" err="1"/>
                <a:t>gcd</a:t>
              </a:r>
              <a:r>
                <a:rPr lang="en-US" dirty="0"/>
                <a:t> (m, N )</a:t>
              </a:r>
              <a:r>
                <a:rPr lang="en-US" dirty="0">
                  <a:solidFill>
                    <a:srgbClr val="0563C1"/>
                  </a:solidFill>
                </a:rPr>
                <a:t> of m and N. If the greatest common divisor</a:t>
              </a:r>
              <a:r>
                <a:rPr lang="en-US" dirty="0"/>
                <a:t> </a:t>
              </a:r>
              <a:r>
                <a:rPr lang="en-US" dirty="0" err="1"/>
                <a:t>gcd</a:t>
              </a:r>
              <a:r>
                <a:rPr lang="en-US" dirty="0"/>
                <a:t> (m, N) = 1</a:t>
              </a:r>
              <a:r>
                <a:rPr lang="en-US" dirty="0">
                  <a:solidFill>
                    <a:srgbClr val="0563C1"/>
                  </a:solidFill>
                </a:rPr>
                <a:t>, then we have found a non-trivial factor of N , and we are done. If, on the other hand, </a:t>
              </a:r>
              <a:r>
                <a:rPr lang="en-US" dirty="0" err="1"/>
                <a:t>gcd</a:t>
              </a:r>
              <a:r>
                <a:rPr lang="en-US" dirty="0"/>
                <a:t> (m, N ) ≠ 1</a:t>
              </a:r>
              <a:r>
                <a:rPr lang="en-US" dirty="0">
                  <a:solidFill>
                    <a:srgbClr val="0563C1"/>
                  </a:solidFill>
                </a:rPr>
                <a:t>, then proceed to STEP 2.</a:t>
              </a:r>
              <a:endParaRPr lang="it-IT" dirty="0">
                <a:solidFill>
                  <a:srgbClr val="0563C1"/>
                </a:solidFill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FD5BA75E-79A0-A5A2-151F-4C8C5EB1778A}"/>
                </a:ext>
              </a:extLst>
            </p:cNvPr>
            <p:cNvSpPr txBox="1"/>
            <p:nvPr/>
          </p:nvSpPr>
          <p:spPr>
            <a:xfrm>
              <a:off x="689344" y="3263374"/>
              <a:ext cx="11128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u="sng" dirty="0">
                  <a:solidFill>
                    <a:srgbClr val="0563C1"/>
                  </a:solidFill>
                </a:rPr>
                <a:t>Step 2.</a:t>
              </a:r>
              <a:r>
                <a:rPr lang="en-US" dirty="0">
                  <a:solidFill>
                    <a:srgbClr val="0563C1"/>
                  </a:solidFill>
                </a:rPr>
                <a:t> Use QUANTUM PHASE ESTIMATION to determine the unknown period P of the function</a:t>
              </a: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15DB9E3F-0AF9-3B54-E600-1DB68573CA8B}"/>
                </a:ext>
              </a:extLst>
            </p:cNvPr>
            <p:cNvSpPr txBox="1"/>
            <p:nvPr/>
          </p:nvSpPr>
          <p:spPr>
            <a:xfrm>
              <a:off x="689344" y="4173286"/>
              <a:ext cx="11128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u="sng" dirty="0">
                  <a:solidFill>
                    <a:srgbClr val="0563C1"/>
                  </a:solidFill>
                </a:rPr>
                <a:t>Step 3.</a:t>
              </a:r>
              <a:r>
                <a:rPr lang="en-US" dirty="0">
                  <a:solidFill>
                    <a:srgbClr val="0563C1"/>
                  </a:solidFill>
                </a:rPr>
                <a:t> If P is an odd integer then </a:t>
              </a:r>
              <a:r>
                <a:rPr lang="en-US" dirty="0" err="1">
                  <a:solidFill>
                    <a:srgbClr val="0563C1"/>
                  </a:solidFill>
                </a:rPr>
                <a:t>goto</a:t>
              </a:r>
              <a:r>
                <a:rPr lang="en-US" dirty="0">
                  <a:solidFill>
                    <a:srgbClr val="0563C1"/>
                  </a:solidFill>
                </a:rPr>
                <a:t> Step 1. If P is even then </a:t>
              </a:r>
              <a:r>
                <a:rPr lang="en-US" dirty="0" err="1">
                  <a:solidFill>
                    <a:srgbClr val="0563C1"/>
                  </a:solidFill>
                </a:rPr>
                <a:t>goto</a:t>
              </a:r>
              <a:r>
                <a:rPr lang="en-US" dirty="0">
                  <a:solidFill>
                    <a:srgbClr val="0563C1"/>
                  </a:solidFill>
                </a:rPr>
                <a:t> Step 4.</a:t>
              </a:r>
              <a:endParaRPr lang="en-US" u="sng" dirty="0">
                <a:solidFill>
                  <a:srgbClr val="0563C1"/>
                </a:solidFill>
              </a:endParaRP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98D01D6B-2ECB-218F-57A8-A69B5626CCD7}"/>
                </a:ext>
              </a:extLst>
            </p:cNvPr>
            <p:cNvSpPr txBox="1"/>
            <p:nvPr/>
          </p:nvSpPr>
          <p:spPr>
            <a:xfrm>
              <a:off x="689344" y="4896247"/>
              <a:ext cx="111287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u="sng" dirty="0">
                  <a:solidFill>
                    <a:srgbClr val="0563C1"/>
                  </a:solidFill>
                </a:rPr>
                <a:t>Step 4.</a:t>
              </a:r>
              <a:r>
                <a:rPr lang="en-US" dirty="0">
                  <a:solidFill>
                    <a:srgbClr val="0563C1"/>
                  </a:solidFill>
                </a:rPr>
                <a:t> Since P is even, we have:</a:t>
              </a:r>
              <a:r>
                <a:rPr lang="en-US" dirty="0"/>
                <a:t> (</a:t>
              </a:r>
              <a:r>
                <a:rPr lang="en-US" sz="1800" b="0" i="0" u="none" strike="noStrike" baseline="0" dirty="0" err="1">
                  <a:latin typeface="CMMI10"/>
                </a:rPr>
                <a:t>m</a:t>
              </a:r>
              <a:r>
                <a:rPr lang="en-US" sz="1800" b="0" i="0" u="none" strike="noStrike" baseline="30000" dirty="0" err="1">
                  <a:latin typeface="CMMI8"/>
                </a:rPr>
                <a:t>P</a:t>
              </a:r>
              <a:r>
                <a:rPr lang="en-US" sz="1800" b="0" i="0" u="none" strike="noStrike" baseline="30000" dirty="0">
                  <a:latin typeface="CMMI8"/>
                </a:rPr>
                <a:t>/</a:t>
              </a:r>
              <a:r>
                <a:rPr lang="en-US" sz="1800" b="0" i="0" u="none" strike="noStrike" baseline="30000" dirty="0">
                  <a:latin typeface="CMR8"/>
                </a:rPr>
                <a:t>2</a:t>
              </a:r>
              <a:r>
                <a:rPr lang="en-US" sz="1800" b="0" i="0" u="none" strike="noStrike" baseline="0" dirty="0">
                  <a:latin typeface="CMR8"/>
                </a:rPr>
                <a:t> </a:t>
              </a:r>
              <a:r>
                <a:rPr lang="en-US" sz="1800" b="0" i="0" u="none" strike="noStrike" baseline="0" dirty="0">
                  <a:latin typeface="CMR10"/>
                </a:rPr>
                <a:t>+ 1) (</a:t>
              </a:r>
              <a:r>
                <a:rPr lang="en-US" sz="1800" b="0" i="0" u="none" strike="noStrike" baseline="0" dirty="0" err="1">
                  <a:latin typeface="CMMI10"/>
                </a:rPr>
                <a:t>m</a:t>
              </a:r>
              <a:r>
                <a:rPr lang="en-US" sz="1800" b="0" i="0" u="none" strike="noStrike" baseline="30000" dirty="0" err="1">
                  <a:latin typeface="CMMI8"/>
                </a:rPr>
                <a:t>P</a:t>
              </a:r>
              <a:r>
                <a:rPr lang="en-US" sz="1800" b="0" i="0" u="none" strike="noStrike" baseline="30000" dirty="0">
                  <a:latin typeface="CMMI8"/>
                </a:rPr>
                <a:t>/</a:t>
              </a:r>
              <a:r>
                <a:rPr lang="en-US" sz="1800" b="0" i="0" u="none" strike="noStrike" baseline="30000" dirty="0">
                  <a:latin typeface="CMR8"/>
                </a:rPr>
                <a:t>2</a:t>
              </a:r>
              <a:r>
                <a:rPr lang="en-US" sz="1800" b="0" i="0" u="none" strike="noStrike" baseline="0" dirty="0">
                  <a:latin typeface="CMR8"/>
                </a:rPr>
                <a:t> </a:t>
              </a:r>
              <a:r>
                <a:rPr lang="en-US" dirty="0">
                  <a:latin typeface="CMR10"/>
                </a:rPr>
                <a:t>–</a:t>
              </a:r>
              <a:r>
                <a:rPr lang="en-US" sz="1800" b="0" i="0" u="none" strike="noStrike" baseline="0" dirty="0">
                  <a:latin typeface="CMR10"/>
                </a:rPr>
                <a:t> 1) = </a:t>
              </a:r>
              <a:r>
                <a:rPr lang="en-US" sz="1800" b="0" i="0" u="none" strike="noStrike" baseline="0" dirty="0" err="1">
                  <a:latin typeface="CMMI10"/>
                </a:rPr>
                <a:t>m</a:t>
              </a:r>
              <a:r>
                <a:rPr lang="en-US" sz="1800" b="0" i="0" u="none" strike="noStrike" baseline="30000" dirty="0" err="1">
                  <a:latin typeface="CMMI8"/>
                </a:rPr>
                <a:t>P</a:t>
              </a:r>
              <a:r>
                <a:rPr lang="en-US" sz="1800" b="0" i="0" u="none" strike="noStrike" baseline="0" dirty="0">
                  <a:latin typeface="CMR8"/>
                </a:rPr>
                <a:t> </a:t>
              </a:r>
              <a:r>
                <a:rPr lang="en-US" dirty="0">
                  <a:latin typeface="CMR10"/>
                </a:rPr>
                <a:t>–</a:t>
              </a:r>
              <a:r>
                <a:rPr lang="en-US" sz="1800" b="0" i="0" u="none" strike="noStrike" baseline="0" dirty="0">
                  <a:latin typeface="CMR10"/>
                </a:rPr>
                <a:t> 1 = 0 mod N</a:t>
              </a:r>
              <a:endParaRPr lang="en-US" baseline="30000" dirty="0">
                <a:solidFill>
                  <a:srgbClr val="0563C1"/>
                </a:solidFill>
              </a:endParaRPr>
            </a:p>
            <a:p>
              <a:pPr algn="just"/>
              <a:r>
                <a:rPr lang="en-US" sz="1800" b="0" i="0" u="none" strike="noStrike" baseline="0" dirty="0">
                  <a:solidFill>
                    <a:srgbClr val="0563C1"/>
                  </a:solidFill>
                  <a:latin typeface="CMR10"/>
                </a:rPr>
                <a:t>If </a:t>
              </a:r>
              <a:r>
                <a:rPr lang="en-US" sz="1800" b="0" i="0" u="none" strike="noStrike" baseline="0" dirty="0" err="1">
                  <a:latin typeface="CMMI10"/>
                </a:rPr>
                <a:t>m</a:t>
              </a:r>
              <a:r>
                <a:rPr lang="en-US" sz="1800" b="0" i="0" u="none" strike="noStrike" baseline="30000" dirty="0" err="1">
                  <a:latin typeface="CMMI8"/>
                </a:rPr>
                <a:t>P</a:t>
              </a:r>
              <a:r>
                <a:rPr lang="en-US" sz="1800" b="0" i="0" u="none" strike="noStrike" baseline="30000" dirty="0">
                  <a:latin typeface="CMMI8"/>
                </a:rPr>
                <a:t>/</a:t>
              </a:r>
              <a:r>
                <a:rPr lang="en-US" sz="1800" b="0" i="0" u="none" strike="noStrike" baseline="30000" dirty="0">
                  <a:latin typeface="CMR8"/>
                </a:rPr>
                <a:t>2</a:t>
              </a:r>
              <a:r>
                <a:rPr lang="en-US" sz="1800" b="0" i="0" u="none" strike="noStrike" baseline="0" dirty="0">
                  <a:latin typeface="CMR8"/>
                </a:rPr>
                <a:t> </a:t>
              </a:r>
              <a:r>
                <a:rPr lang="en-US" sz="1800" b="0" i="0" u="none" strike="noStrike" baseline="0" dirty="0">
                  <a:latin typeface="CMR10"/>
                </a:rPr>
                <a:t>+ 1 = 0 mod </a:t>
              </a:r>
              <a:r>
                <a:rPr lang="en-US" sz="1800" b="0" i="0" u="none" strike="noStrike" baseline="0" dirty="0">
                  <a:latin typeface="CMMI10"/>
                </a:rPr>
                <a:t>N</a:t>
              </a:r>
              <a:r>
                <a:rPr lang="en-US" sz="1800" b="0" i="0" u="none" strike="noStrike" baseline="0" dirty="0">
                  <a:solidFill>
                    <a:srgbClr val="0563C1"/>
                  </a:solidFill>
                  <a:latin typeface="CMMI10"/>
                </a:rPr>
                <a:t>  then </a:t>
              </a:r>
              <a:r>
                <a:rPr lang="en-US" sz="1800" b="0" i="0" u="none" strike="noStrike" baseline="0" dirty="0" err="1">
                  <a:solidFill>
                    <a:srgbClr val="0563C1"/>
                  </a:solidFill>
                  <a:latin typeface="CMMI10"/>
                </a:rPr>
                <a:t>goto</a:t>
              </a:r>
              <a:r>
                <a:rPr lang="en-US" sz="1800" b="0" i="0" u="none" strike="noStrike" baseline="0" dirty="0">
                  <a:solidFill>
                    <a:srgbClr val="0563C1"/>
                  </a:solidFill>
                  <a:latin typeface="CMMI10"/>
                </a:rPr>
                <a:t> Step 1. else </a:t>
              </a:r>
              <a:r>
                <a:rPr lang="en-US" sz="1800" b="0" i="0" u="none" strike="noStrike" baseline="0" dirty="0" err="1">
                  <a:solidFill>
                    <a:srgbClr val="0563C1"/>
                  </a:solidFill>
                  <a:latin typeface="CMMI10"/>
                </a:rPr>
                <a:t>goto</a:t>
              </a:r>
              <a:r>
                <a:rPr lang="en-US" sz="1800" b="0" i="0" u="none" strike="noStrike" baseline="0" dirty="0">
                  <a:solidFill>
                    <a:srgbClr val="0563C1"/>
                  </a:solidFill>
                  <a:latin typeface="CMMI10"/>
                </a:rPr>
                <a:t> Step 5.</a:t>
              </a:r>
              <a:endParaRPr lang="en-US" u="sng" dirty="0">
                <a:solidFill>
                  <a:srgbClr val="0563C1"/>
                </a:solidFill>
              </a:endParaRP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BD7C621C-B019-2F01-85DF-89054515991D}"/>
                </a:ext>
              </a:extLst>
            </p:cNvPr>
            <p:cNvSpPr txBox="1"/>
            <p:nvPr/>
          </p:nvSpPr>
          <p:spPr>
            <a:xfrm>
              <a:off x="689344" y="5803126"/>
              <a:ext cx="111287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u="sng" dirty="0">
                  <a:solidFill>
                    <a:srgbClr val="0563C1"/>
                  </a:solidFill>
                </a:rPr>
                <a:t>Step 5.</a:t>
              </a:r>
              <a:r>
                <a:rPr lang="en-US" dirty="0">
                  <a:solidFill>
                    <a:srgbClr val="0563C1"/>
                  </a:solidFill>
                </a:rPr>
                <a:t> Use the Euclidean algorithm to compute </a:t>
              </a:r>
              <a:r>
                <a:rPr lang="en-US" dirty="0"/>
                <a:t>d = </a:t>
              </a:r>
              <a:r>
                <a:rPr lang="en-US" dirty="0" err="1"/>
                <a:t>gcd</a:t>
              </a:r>
              <a:r>
                <a:rPr lang="en-US" dirty="0">
                  <a:solidFill>
                    <a:srgbClr val="0563C1"/>
                  </a:solidFill>
                </a:rPr>
                <a:t>(</a:t>
              </a:r>
              <a:r>
                <a:rPr lang="en-US" sz="1800" b="0" i="0" u="none" strike="noStrike" baseline="0" dirty="0" err="1">
                  <a:latin typeface="CMMI10"/>
                </a:rPr>
                <a:t>m</a:t>
              </a:r>
              <a:r>
                <a:rPr lang="en-US" sz="1800" b="0" i="0" u="none" strike="noStrike" baseline="30000" dirty="0" err="1">
                  <a:latin typeface="CMMI8"/>
                </a:rPr>
                <a:t>P</a:t>
              </a:r>
              <a:r>
                <a:rPr lang="en-US" sz="1800" b="0" i="0" u="none" strike="noStrike" baseline="30000" dirty="0">
                  <a:latin typeface="CMMI8"/>
                </a:rPr>
                <a:t>/</a:t>
              </a:r>
              <a:r>
                <a:rPr lang="en-US" sz="1800" b="0" i="0" u="none" strike="noStrike" baseline="30000" dirty="0">
                  <a:latin typeface="CMR8"/>
                </a:rPr>
                <a:t>2</a:t>
              </a:r>
              <a:r>
                <a:rPr lang="en-US" sz="1800" b="0" i="0" u="none" strike="noStrike" baseline="0" dirty="0">
                  <a:latin typeface="CMR8"/>
                </a:rPr>
                <a:t> </a:t>
              </a:r>
              <a:r>
                <a:rPr lang="en-US" dirty="0">
                  <a:latin typeface="CMR10"/>
                </a:rPr>
                <a:t>–</a:t>
              </a:r>
              <a:r>
                <a:rPr lang="en-US" sz="1800" b="0" i="0" u="none" strike="noStrike" baseline="0" dirty="0">
                  <a:latin typeface="CMR10"/>
                </a:rPr>
                <a:t> 1, N)</a:t>
              </a:r>
              <a:r>
                <a:rPr lang="en-US" sz="1800" b="0" i="0" u="none" strike="noStrike" baseline="0" dirty="0">
                  <a:solidFill>
                    <a:srgbClr val="0563C1"/>
                  </a:solidFill>
                  <a:latin typeface="CMR10"/>
                </a:rPr>
                <a:t>. Since </a:t>
              </a:r>
              <a:r>
                <a:rPr lang="en-US" sz="1800" b="0" i="0" u="none" strike="noStrike" baseline="0" dirty="0" err="1">
                  <a:latin typeface="CMMI10"/>
                </a:rPr>
                <a:t>m</a:t>
              </a:r>
              <a:r>
                <a:rPr lang="en-US" sz="1800" b="0" i="0" u="none" strike="noStrike" baseline="30000" dirty="0" err="1">
                  <a:latin typeface="CMMI8"/>
                </a:rPr>
                <a:t>P</a:t>
              </a:r>
              <a:r>
                <a:rPr lang="en-US" sz="1800" b="0" i="0" u="none" strike="noStrike" baseline="30000" dirty="0">
                  <a:latin typeface="CMMI8"/>
                </a:rPr>
                <a:t>/</a:t>
              </a:r>
              <a:r>
                <a:rPr lang="en-US" sz="1800" b="0" i="0" u="none" strike="noStrike" baseline="30000" dirty="0">
                  <a:latin typeface="CMR8"/>
                </a:rPr>
                <a:t>2</a:t>
              </a:r>
              <a:r>
                <a:rPr lang="en-US" sz="1800" b="0" i="0" u="none" strike="noStrike" baseline="0" dirty="0">
                  <a:latin typeface="CMR8"/>
                </a:rPr>
                <a:t> </a:t>
              </a:r>
              <a:r>
                <a:rPr lang="en-US" sz="1800" b="0" i="0" u="none" strike="noStrike" baseline="0" dirty="0">
                  <a:latin typeface="CMR10"/>
                </a:rPr>
                <a:t>+ 1 </a:t>
              </a:r>
              <a:r>
                <a:rPr lang="en-US" dirty="0"/>
                <a:t>≠</a:t>
              </a:r>
              <a:r>
                <a:rPr lang="en-US" sz="1800" b="0" i="0" u="none" strike="noStrike" baseline="0" dirty="0">
                  <a:latin typeface="CMR10"/>
                </a:rPr>
                <a:t> 0 mod N </a:t>
              </a:r>
              <a:r>
                <a:rPr lang="en-US" sz="1800" b="0" i="0" u="none" strike="noStrike" baseline="0" dirty="0">
                  <a:solidFill>
                    <a:srgbClr val="0563C1"/>
                  </a:solidFill>
                  <a:latin typeface="CMR10"/>
                </a:rPr>
                <a:t>it can easily be shown that d is a non-trivial factor of N. Exit with the answer d.   </a:t>
              </a:r>
              <a:endParaRPr lang="en-US" u="sng" dirty="0">
                <a:solidFill>
                  <a:srgbClr val="0563C1"/>
                </a:solidFill>
              </a:endParaRPr>
            </a:p>
          </p:txBody>
        </p:sp>
      </p:grpSp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Shor’s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Algorithm</a:t>
            </a:r>
            <a:endParaRPr lang="it-IT" sz="3600" dirty="0">
              <a:solidFill>
                <a:schemeClr val="bg1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BA9CD1-9516-E6FC-DA88-4DC06BF238D1}"/>
              </a:ext>
            </a:extLst>
          </p:cNvPr>
          <p:cNvSpPr txBox="1"/>
          <p:nvPr/>
        </p:nvSpPr>
        <p:spPr>
          <a:xfrm>
            <a:off x="758455" y="1160565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rgbClr val="0563C1"/>
                </a:solidFill>
                <a:hlinkClick r:id="rId2"/>
              </a:rPr>
              <a:t>A </a:t>
            </a:r>
            <a:r>
              <a:rPr lang="it-IT" sz="3600" u="sng" dirty="0" err="1">
                <a:solidFill>
                  <a:srgbClr val="0563C1"/>
                </a:solidFill>
                <a:hlinkClick r:id="rId2"/>
              </a:rPr>
              <a:t>lecture</a:t>
            </a:r>
            <a:r>
              <a:rPr lang="it-IT" sz="3600" u="sng" dirty="0">
                <a:solidFill>
                  <a:srgbClr val="0563C1"/>
                </a:solidFill>
                <a:hlinkClick r:id="rId2"/>
              </a:rPr>
              <a:t> on </a:t>
            </a:r>
            <a:r>
              <a:rPr lang="it-IT" sz="3600" u="sng" dirty="0" err="1">
                <a:solidFill>
                  <a:srgbClr val="0563C1"/>
                </a:solidFill>
                <a:hlinkClick r:id="rId2"/>
              </a:rPr>
              <a:t>Shor’s</a:t>
            </a:r>
            <a:r>
              <a:rPr lang="it-IT" sz="3600" u="sng" dirty="0">
                <a:solidFill>
                  <a:srgbClr val="0563C1"/>
                </a:solidFill>
                <a:hlinkClick r:id="rId2"/>
              </a:rPr>
              <a:t> quantum factoring </a:t>
            </a:r>
            <a:r>
              <a:rPr lang="it-IT" sz="3600" u="sng" dirty="0" err="1">
                <a:solidFill>
                  <a:srgbClr val="0563C1"/>
                </a:solidFill>
                <a:hlinkClick r:id="rId2"/>
              </a:rPr>
              <a:t>algorithm</a:t>
            </a:r>
            <a:endParaRPr lang="it-IT" sz="3600" u="sng" dirty="0">
              <a:solidFill>
                <a:srgbClr val="0563C1"/>
              </a:solidFill>
            </a:endParaRPr>
          </a:p>
          <a:p>
            <a:r>
              <a:rPr lang="it-IT" sz="2400" dirty="0">
                <a:solidFill>
                  <a:srgbClr val="0563C1"/>
                </a:solidFill>
              </a:rPr>
              <a:t>Samuel J. Lomonaco Jr.</a:t>
            </a:r>
          </a:p>
        </p:txBody>
      </p:sp>
      <p:pic>
        <p:nvPicPr>
          <p:cNvPr id="16" name="Immagine 15" descr="Immagine che contiene testo, uomo, persona, indossando&#10;&#10;Descrizione generata automaticamente">
            <a:extLst>
              <a:ext uri="{FF2B5EF4-FFF2-40B4-BE49-F238E27FC236}">
                <a16:creationId xmlns:a16="http://schemas.microsoft.com/office/drawing/2014/main" id="{518BF691-676E-CBF4-1730-750E73248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829" y="3817339"/>
            <a:ext cx="2857500" cy="1600200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D9B3C8C-3A33-CF21-447A-934ED97715B5}"/>
              </a:ext>
            </a:extLst>
          </p:cNvPr>
          <p:cNvSpPr txBox="1"/>
          <p:nvPr/>
        </p:nvSpPr>
        <p:spPr>
          <a:xfrm>
            <a:off x="8038213" y="5398913"/>
            <a:ext cx="1738424" cy="372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563C1"/>
                </a:solidFill>
              </a:rPr>
              <a:t>Peter </a:t>
            </a:r>
            <a:r>
              <a:rPr lang="it-IT" dirty="0" err="1">
                <a:solidFill>
                  <a:srgbClr val="0563C1"/>
                </a:solidFill>
              </a:rPr>
              <a:t>Shor</a:t>
            </a:r>
            <a:r>
              <a:rPr lang="it-IT" dirty="0">
                <a:solidFill>
                  <a:srgbClr val="0563C1"/>
                </a:solidFill>
              </a:rPr>
              <a:t> 1994</a:t>
            </a:r>
          </a:p>
        </p:txBody>
      </p:sp>
      <p:pic>
        <p:nvPicPr>
          <p:cNvPr id="7" name="Immagine 6" descr="Immagine che contiene testo, orologio&#10;&#10;Descrizione generata automaticamente">
            <a:extLst>
              <a:ext uri="{FF2B5EF4-FFF2-40B4-BE49-F238E27FC236}">
                <a16:creationId xmlns:a16="http://schemas.microsoft.com/office/drawing/2014/main" id="{013FEB8F-9E13-18A1-1D10-8154565F4D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637" y="3072734"/>
            <a:ext cx="2076630" cy="7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998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 err="1">
                <a:solidFill>
                  <a:schemeClr val="bg1"/>
                </a:solidFill>
              </a:rPr>
              <a:t>Shor’s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Algorithm</a:t>
            </a:r>
            <a:endParaRPr lang="it-IT" sz="3600" dirty="0">
              <a:solidFill>
                <a:schemeClr val="bg1"/>
              </a:solidFill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C828795D-5EA4-E227-8486-EEB9728D5F77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4A2FE181-B045-F085-CA51-D89298009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Shor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5" name="Rettangolo smussato 4">
              <a:extLst>
                <a:ext uri="{FF2B5EF4-FFF2-40B4-BE49-F238E27FC236}">
                  <a16:creationId xmlns:a16="http://schemas.microsoft.com/office/drawing/2014/main" id="{6A35DE4B-9C2D-1249-36E2-3FF1B931E59F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7" name="Gruppo 6">
            <a:extLst>
              <a:ext uri="{FF2B5EF4-FFF2-40B4-BE49-F238E27FC236}">
                <a16:creationId xmlns:a16="http://schemas.microsoft.com/office/drawing/2014/main" id="{C8A64666-A4F3-0324-C16E-046459FC5356}"/>
              </a:ext>
            </a:extLst>
          </p:cNvPr>
          <p:cNvGrpSpPr/>
          <p:nvPr/>
        </p:nvGrpSpPr>
        <p:grpSpPr>
          <a:xfrm>
            <a:off x="11037867" y="5905647"/>
            <a:ext cx="738963" cy="749597"/>
            <a:chOff x="11037867" y="5905647"/>
            <a:chExt cx="738963" cy="749597"/>
          </a:xfrm>
        </p:grpSpPr>
        <p:sp>
          <p:nvSpPr>
            <p:cNvPr id="11" name="Rettangolo 10">
              <a:hlinkClick r:id="rId3" action="ppaction://hlinksldjump"/>
              <a:extLst>
                <a:ext uri="{FF2B5EF4-FFF2-40B4-BE49-F238E27FC236}">
                  <a16:creationId xmlns:a16="http://schemas.microsoft.com/office/drawing/2014/main" id="{9A2EBF90-3626-0BCB-C0E3-99E48B79B5D2}"/>
                </a:ext>
              </a:extLst>
            </p:cNvPr>
            <p:cNvSpPr/>
            <p:nvPr/>
          </p:nvSpPr>
          <p:spPr>
            <a:xfrm>
              <a:off x="11037867" y="5905647"/>
              <a:ext cx="738963" cy="7495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Freccia circolare in su 11">
              <a:extLst>
                <a:ext uri="{FF2B5EF4-FFF2-40B4-BE49-F238E27FC236}">
                  <a16:creationId xmlns:a16="http://schemas.microsoft.com/office/drawing/2014/main" id="{78DFEE3E-67F9-5DE8-8880-37F54E1FE029}"/>
                </a:ext>
              </a:extLst>
            </p:cNvPr>
            <p:cNvSpPr/>
            <p:nvPr/>
          </p:nvSpPr>
          <p:spPr>
            <a:xfrm rot="17817266">
              <a:off x="11168117" y="6135024"/>
              <a:ext cx="478465" cy="290844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38044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Quantum </a:t>
            </a:r>
            <a:r>
              <a:rPr lang="it-IT" sz="3600" dirty="0" err="1">
                <a:solidFill>
                  <a:schemeClr val="bg1"/>
                </a:solidFill>
              </a:rPr>
              <a:t>Cryptography</a:t>
            </a:r>
            <a:r>
              <a:rPr lang="it-IT" sz="3600" dirty="0">
                <a:solidFill>
                  <a:schemeClr val="bg1"/>
                </a:solidFill>
              </a:rPr>
              <a:t>: </a:t>
            </a:r>
            <a:r>
              <a:rPr lang="it-IT" sz="3600" dirty="0" err="1">
                <a:solidFill>
                  <a:schemeClr val="bg1"/>
                </a:solidFill>
              </a:rPr>
              <a:t>Threat</a:t>
            </a:r>
            <a:r>
              <a:rPr lang="it-IT" sz="3600" dirty="0">
                <a:solidFill>
                  <a:schemeClr val="bg1"/>
                </a:solidFill>
              </a:rPr>
              <a:t> or </a:t>
            </a:r>
            <a:r>
              <a:rPr lang="it-IT" sz="3600" dirty="0" err="1">
                <a:solidFill>
                  <a:schemeClr val="bg1"/>
                </a:solidFill>
              </a:rPr>
              <a:t>Opportunity</a:t>
            </a:r>
            <a:r>
              <a:rPr lang="it-IT" sz="36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0D3034D-9DA8-3B0C-5FCF-44292293FF24}"/>
              </a:ext>
            </a:extLst>
          </p:cNvPr>
          <p:cNvSpPr txBox="1"/>
          <p:nvPr/>
        </p:nvSpPr>
        <p:spPr>
          <a:xfrm>
            <a:off x="836427" y="1910406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563C1"/>
                </a:solidFill>
              </a:rPr>
              <a:t>RSA </a:t>
            </a:r>
            <a:r>
              <a:rPr lang="it-IT" sz="3600" dirty="0" err="1">
                <a:solidFill>
                  <a:srgbClr val="0563C1"/>
                </a:solidFill>
              </a:rPr>
              <a:t>Cryptography</a:t>
            </a:r>
            <a:r>
              <a:rPr lang="it-IT" sz="3600" dirty="0">
                <a:solidFill>
                  <a:srgbClr val="0563C1"/>
                </a:solidFill>
              </a:rPr>
              <a:t> </a:t>
            </a:r>
            <a:r>
              <a:rPr lang="it-IT" sz="3600" dirty="0" err="1">
                <a:solidFill>
                  <a:srgbClr val="0563C1"/>
                </a:solidFill>
              </a:rPr>
              <a:t>is</a:t>
            </a:r>
            <a:r>
              <a:rPr lang="it-IT" sz="3600" dirty="0">
                <a:solidFill>
                  <a:srgbClr val="0563C1"/>
                </a:solidFill>
              </a:rPr>
              <a:t> </a:t>
            </a:r>
            <a:r>
              <a:rPr lang="it-IT" sz="3600" dirty="0" err="1">
                <a:solidFill>
                  <a:srgbClr val="0563C1"/>
                </a:solidFill>
              </a:rPr>
              <a:t>based</a:t>
            </a:r>
            <a:r>
              <a:rPr lang="it-IT" sz="3600" dirty="0">
                <a:solidFill>
                  <a:srgbClr val="0563C1"/>
                </a:solidFill>
              </a:rPr>
              <a:t> on modular </a:t>
            </a:r>
            <a:r>
              <a:rPr lang="it-IT" sz="3600" dirty="0" err="1">
                <a:solidFill>
                  <a:srgbClr val="0563C1"/>
                </a:solidFill>
              </a:rPr>
              <a:t>arithmetic</a:t>
            </a:r>
            <a:r>
              <a:rPr lang="it-IT" sz="3600" dirty="0">
                <a:solidFill>
                  <a:srgbClr val="0563C1"/>
                </a:solidFill>
              </a:rPr>
              <a:t> and theory of </a:t>
            </a:r>
            <a:r>
              <a:rPr lang="it-IT" sz="3600" dirty="0" err="1">
                <a:solidFill>
                  <a:srgbClr val="0563C1"/>
                </a:solidFill>
              </a:rPr>
              <a:t>numbers</a:t>
            </a:r>
            <a:endParaRPr lang="it-IT" sz="3600" dirty="0">
              <a:solidFill>
                <a:srgbClr val="0563C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7ECDBFF-AC13-EC1E-132A-74FCF65A36BA}"/>
              </a:ext>
            </a:extLst>
          </p:cNvPr>
          <p:cNvSpPr txBox="1"/>
          <p:nvPr/>
        </p:nvSpPr>
        <p:spPr>
          <a:xfrm>
            <a:off x="836427" y="3387733"/>
            <a:ext cx="10379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563C1"/>
                </a:solidFill>
              </a:rPr>
              <a:t>RSA </a:t>
            </a:r>
            <a:r>
              <a:rPr lang="it-IT" sz="3600" dirty="0" err="1">
                <a:solidFill>
                  <a:srgbClr val="0563C1"/>
                </a:solidFill>
              </a:rPr>
              <a:t>robustness</a:t>
            </a:r>
            <a:r>
              <a:rPr lang="it-IT" sz="3600" dirty="0">
                <a:solidFill>
                  <a:srgbClr val="0563C1"/>
                </a:solidFill>
              </a:rPr>
              <a:t> </a:t>
            </a:r>
            <a:r>
              <a:rPr lang="it-IT" sz="3600" dirty="0" err="1">
                <a:solidFill>
                  <a:srgbClr val="0563C1"/>
                </a:solidFill>
              </a:rPr>
              <a:t>is</a:t>
            </a:r>
            <a:r>
              <a:rPr lang="it-IT" sz="3600" dirty="0">
                <a:solidFill>
                  <a:srgbClr val="0563C1"/>
                </a:solidFill>
              </a:rPr>
              <a:t> </a:t>
            </a:r>
            <a:r>
              <a:rPr lang="it-IT" sz="3600" dirty="0" err="1">
                <a:solidFill>
                  <a:srgbClr val="0563C1"/>
                </a:solidFill>
              </a:rPr>
              <a:t>based</a:t>
            </a:r>
            <a:r>
              <a:rPr lang="it-IT" sz="3600" dirty="0">
                <a:solidFill>
                  <a:srgbClr val="0563C1"/>
                </a:solidFill>
              </a:rPr>
              <a:t> on </a:t>
            </a:r>
            <a:r>
              <a:rPr lang="it-IT" sz="3600" dirty="0" err="1">
                <a:solidFill>
                  <a:srgbClr val="0563C1"/>
                </a:solidFill>
              </a:rPr>
              <a:t>impossibility</a:t>
            </a:r>
            <a:r>
              <a:rPr lang="it-IT" sz="3600" dirty="0">
                <a:solidFill>
                  <a:srgbClr val="0563C1"/>
                </a:solidFill>
              </a:rPr>
              <a:t> of factoring big </a:t>
            </a:r>
            <a:r>
              <a:rPr lang="it-IT" sz="3600" dirty="0" err="1">
                <a:solidFill>
                  <a:srgbClr val="0563C1"/>
                </a:solidFill>
              </a:rPr>
              <a:t>numbers</a:t>
            </a:r>
            <a:endParaRPr lang="it-IT" sz="3600" dirty="0">
              <a:solidFill>
                <a:srgbClr val="0563C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21ACA01-1001-4572-7862-CE696801E174}"/>
              </a:ext>
            </a:extLst>
          </p:cNvPr>
          <p:cNvSpPr txBox="1"/>
          <p:nvPr/>
        </p:nvSpPr>
        <p:spPr>
          <a:xfrm>
            <a:off x="836427" y="4828605"/>
            <a:ext cx="10382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600" dirty="0" err="1">
                <a:solidFill>
                  <a:srgbClr val="0563C1"/>
                </a:solidFill>
              </a:rPr>
              <a:t>Shor’s</a:t>
            </a:r>
            <a:r>
              <a:rPr lang="it-IT" sz="3600" dirty="0">
                <a:solidFill>
                  <a:srgbClr val="0563C1"/>
                </a:solidFill>
              </a:rPr>
              <a:t> quantum </a:t>
            </a:r>
            <a:r>
              <a:rPr lang="it-IT" sz="3600" dirty="0" err="1">
                <a:solidFill>
                  <a:srgbClr val="0563C1"/>
                </a:solidFill>
              </a:rPr>
              <a:t>algorithm</a:t>
            </a:r>
            <a:r>
              <a:rPr lang="it-IT" sz="3600" dirty="0">
                <a:solidFill>
                  <a:srgbClr val="0563C1"/>
                </a:solidFill>
              </a:rPr>
              <a:t> </a:t>
            </a:r>
            <a:r>
              <a:rPr lang="it-IT" sz="3600" dirty="0" err="1">
                <a:solidFill>
                  <a:srgbClr val="0563C1"/>
                </a:solidFill>
              </a:rPr>
              <a:t>potentially</a:t>
            </a:r>
            <a:r>
              <a:rPr lang="it-IT" sz="3600" dirty="0">
                <a:solidFill>
                  <a:srgbClr val="0563C1"/>
                </a:solidFill>
              </a:rPr>
              <a:t> breaks the </a:t>
            </a:r>
            <a:r>
              <a:rPr lang="it-IT" sz="3600" dirty="0" err="1">
                <a:solidFill>
                  <a:srgbClr val="0563C1"/>
                </a:solidFill>
              </a:rPr>
              <a:t>barrier</a:t>
            </a:r>
            <a:endParaRPr lang="it-IT" sz="3600" dirty="0">
              <a:solidFill>
                <a:srgbClr val="0563C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4248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RSA </a:t>
            </a:r>
            <a:r>
              <a:rPr lang="it-IT" sz="3600" dirty="0" err="1">
                <a:solidFill>
                  <a:schemeClr val="bg1"/>
                </a:solidFill>
              </a:rPr>
              <a:t>Algorithm</a:t>
            </a:r>
            <a:r>
              <a:rPr lang="it-IT" sz="3600" dirty="0">
                <a:solidFill>
                  <a:schemeClr val="bg1"/>
                </a:solidFill>
              </a:rPr>
              <a:t>	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537C9321-D136-E385-09DD-C384FBF87FBD}"/>
              </a:ext>
            </a:extLst>
          </p:cNvPr>
          <p:cNvGrpSpPr/>
          <p:nvPr/>
        </p:nvGrpSpPr>
        <p:grpSpPr>
          <a:xfrm>
            <a:off x="2466516" y="2877963"/>
            <a:ext cx="7258969" cy="2069637"/>
            <a:chOff x="2466515" y="2287262"/>
            <a:chExt cx="7258969" cy="206963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CC92618B-3599-AF40-E1BE-E6BD0A487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515" y="2910349"/>
              <a:ext cx="7258969" cy="144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it-IT" sz="4400" b="1" dirty="0">
                  <a:solidFill>
                    <a:srgbClr val="FF0000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 RSA</a:t>
              </a:r>
              <a:endParaRPr lang="en-US" altLang="it-IT" sz="4400" b="1" dirty="0">
                <a:solidFill>
                  <a:srgbClr val="FF0000"/>
                </a:solidFill>
              </a:endParaRPr>
            </a:p>
            <a:p>
              <a:pPr algn="ctr"/>
              <a:endParaRPr lang="en-US" altLang="it-IT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Rettangolo smussato 6">
              <a:extLst>
                <a:ext uri="{FF2B5EF4-FFF2-40B4-BE49-F238E27FC236}">
                  <a16:creationId xmlns:a16="http://schemas.microsoft.com/office/drawing/2014/main" id="{C986E5CA-CC5B-3BA5-9FC9-AB01B3A14DD2}"/>
                </a:ext>
              </a:extLst>
            </p:cNvPr>
            <p:cNvSpPr/>
            <p:nvPr/>
          </p:nvSpPr>
          <p:spPr>
            <a:xfrm>
              <a:off x="3281516" y="2287262"/>
              <a:ext cx="5476567" cy="2015613"/>
            </a:xfrm>
            <a:prstGeom prst="bevel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6974725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Breaking RSA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DCDAB67-111C-9F8C-6098-542C37425238}"/>
              </a:ext>
            </a:extLst>
          </p:cNvPr>
          <p:cNvSpPr txBox="1"/>
          <p:nvPr/>
        </p:nvSpPr>
        <p:spPr>
          <a:xfrm>
            <a:off x="2302835" y="1966786"/>
            <a:ext cx="758633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dirty="0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</a:t>
            </a:r>
            <a:r>
              <a:rPr lang="it-IT" sz="3600" dirty="0" err="1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factor</a:t>
            </a:r>
            <a:r>
              <a:rPr lang="it-IT" sz="3600" dirty="0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2048 bit RSA </a:t>
            </a:r>
            <a:r>
              <a:rPr lang="it-IT" sz="3600" dirty="0" err="1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integers</a:t>
            </a:r>
            <a:r>
              <a:rPr lang="it-IT" sz="3600" dirty="0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8 hours </a:t>
            </a:r>
            <a:r>
              <a:rPr lang="it-IT" sz="3600" dirty="0" err="1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using</a:t>
            </a:r>
            <a:endParaRPr lang="it-IT" sz="3600" dirty="0">
              <a:solidFill>
                <a:srgbClr val="0563C1"/>
              </a:solidFill>
              <a:latin typeface="IBM Plex Sans" panose="020B060402020202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it-IT" sz="3600" dirty="0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 </a:t>
            </a:r>
            <a:r>
              <a:rPr lang="it-IT" sz="3600" dirty="0" err="1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million</a:t>
            </a:r>
            <a:r>
              <a:rPr lang="it-IT" sz="3600" dirty="0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sz="3600" dirty="0" err="1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noisy</a:t>
            </a:r>
            <a:r>
              <a:rPr lang="it-IT" sz="3600" dirty="0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sz="3600" dirty="0" err="1">
                <a:solidFill>
                  <a:srgbClr val="0563C1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qubits</a:t>
            </a:r>
            <a:endParaRPr lang="it-IT" sz="3600" dirty="0">
              <a:solidFill>
                <a:srgbClr val="0563C1"/>
              </a:solidFill>
              <a:latin typeface="IBM Plex Sans" panose="020B0604020202020204" pitchFamily="34" charset="0"/>
            </a:endParaRPr>
          </a:p>
          <a:p>
            <a:pPr algn="ctr"/>
            <a:r>
              <a:rPr lang="it-IT" sz="2800" dirty="0">
                <a:solidFill>
                  <a:srgbClr val="0070C0"/>
                </a:solidFill>
              </a:rPr>
              <a:t>Craig Gidney</a:t>
            </a:r>
            <a:r>
              <a:rPr lang="it-IT" sz="2800" baseline="30000" dirty="0">
                <a:solidFill>
                  <a:srgbClr val="0070C0"/>
                </a:solidFill>
              </a:rPr>
              <a:t>1 </a:t>
            </a:r>
            <a:r>
              <a:rPr lang="it-IT" sz="2800" dirty="0">
                <a:solidFill>
                  <a:srgbClr val="0070C0"/>
                </a:solidFill>
              </a:rPr>
              <a:t>and Martin Ekera</a:t>
            </a:r>
            <a:r>
              <a:rPr lang="it-IT" sz="2800" baseline="30000" dirty="0">
                <a:solidFill>
                  <a:srgbClr val="0070C0"/>
                </a:solidFill>
              </a:rPr>
              <a:t>2</a:t>
            </a:r>
          </a:p>
          <a:p>
            <a:pPr algn="ctr"/>
            <a:endParaRPr lang="it-IT" baseline="30000" dirty="0">
              <a:solidFill>
                <a:srgbClr val="0070C0"/>
              </a:solidFill>
            </a:endParaRPr>
          </a:p>
          <a:p>
            <a:pPr algn="ctr"/>
            <a:r>
              <a:rPr lang="it-IT" baseline="30000" dirty="0">
                <a:solidFill>
                  <a:srgbClr val="0070C0"/>
                </a:solidFill>
              </a:rPr>
              <a:t>1</a:t>
            </a:r>
            <a:r>
              <a:rPr lang="it-IT" dirty="0">
                <a:solidFill>
                  <a:srgbClr val="0070C0"/>
                </a:solidFill>
              </a:rPr>
              <a:t>Google Inc., Santa Barbara, California 93117, USA</a:t>
            </a:r>
          </a:p>
          <a:p>
            <a:pPr algn="ctr"/>
            <a:r>
              <a:rPr lang="it-IT" baseline="30000" dirty="0">
                <a:solidFill>
                  <a:srgbClr val="0070C0"/>
                </a:solidFill>
              </a:rPr>
              <a:t>2</a:t>
            </a:r>
            <a:r>
              <a:rPr lang="it-IT" dirty="0">
                <a:solidFill>
                  <a:srgbClr val="0070C0"/>
                </a:solidFill>
              </a:rPr>
              <a:t>KTH Royal Institute of Technology, SE-100 44 </a:t>
            </a:r>
            <a:r>
              <a:rPr lang="it-IT" dirty="0" err="1">
                <a:solidFill>
                  <a:srgbClr val="0070C0"/>
                </a:solidFill>
              </a:rPr>
              <a:t>Stockholm</a:t>
            </a:r>
            <a:r>
              <a:rPr lang="it-IT" dirty="0">
                <a:solidFill>
                  <a:srgbClr val="0070C0"/>
                </a:solidFill>
              </a:rPr>
              <a:t>, </a:t>
            </a:r>
            <a:r>
              <a:rPr lang="it-IT" dirty="0" err="1">
                <a:solidFill>
                  <a:srgbClr val="0070C0"/>
                </a:solidFill>
              </a:rPr>
              <a:t>Sweden</a:t>
            </a:r>
            <a:endParaRPr lang="it-IT" dirty="0">
              <a:solidFill>
                <a:srgbClr val="0070C0"/>
              </a:solidFill>
            </a:endParaRPr>
          </a:p>
          <a:p>
            <a:pPr algn="ctr"/>
            <a:r>
              <a:rPr lang="it-IT" dirty="0" err="1">
                <a:solidFill>
                  <a:srgbClr val="0070C0"/>
                </a:solidFill>
              </a:rPr>
              <a:t>Swedish</a:t>
            </a:r>
            <a:r>
              <a:rPr lang="it-IT" dirty="0">
                <a:solidFill>
                  <a:srgbClr val="0070C0"/>
                </a:solidFill>
              </a:rPr>
              <a:t> NCSA, </a:t>
            </a:r>
            <a:r>
              <a:rPr lang="it-IT" dirty="0" err="1">
                <a:solidFill>
                  <a:srgbClr val="0070C0"/>
                </a:solidFill>
              </a:rPr>
              <a:t>Swedish</a:t>
            </a:r>
            <a:r>
              <a:rPr lang="it-IT" dirty="0">
                <a:solidFill>
                  <a:srgbClr val="0070C0"/>
                </a:solidFill>
              </a:rPr>
              <a:t> </a:t>
            </a:r>
            <a:r>
              <a:rPr lang="it-IT" dirty="0" err="1">
                <a:solidFill>
                  <a:srgbClr val="0070C0"/>
                </a:solidFill>
              </a:rPr>
              <a:t>Armed</a:t>
            </a:r>
            <a:r>
              <a:rPr lang="it-IT" dirty="0">
                <a:solidFill>
                  <a:srgbClr val="0070C0"/>
                </a:solidFill>
              </a:rPr>
              <a:t> </a:t>
            </a:r>
            <a:r>
              <a:rPr lang="it-IT" dirty="0" err="1">
                <a:solidFill>
                  <a:srgbClr val="0070C0"/>
                </a:solidFill>
              </a:rPr>
              <a:t>Forces</a:t>
            </a:r>
            <a:r>
              <a:rPr lang="it-IT" dirty="0">
                <a:solidFill>
                  <a:srgbClr val="0070C0"/>
                </a:solidFill>
              </a:rPr>
              <a:t>, SE-107 85 </a:t>
            </a:r>
            <a:r>
              <a:rPr lang="it-IT" dirty="0" err="1">
                <a:solidFill>
                  <a:srgbClr val="0070C0"/>
                </a:solidFill>
              </a:rPr>
              <a:t>Stockholm</a:t>
            </a:r>
            <a:r>
              <a:rPr lang="it-IT" dirty="0">
                <a:solidFill>
                  <a:srgbClr val="0070C0"/>
                </a:solidFill>
              </a:rPr>
              <a:t>, </a:t>
            </a:r>
            <a:r>
              <a:rPr lang="it-IT" dirty="0" err="1">
                <a:solidFill>
                  <a:srgbClr val="0070C0"/>
                </a:solidFill>
              </a:rPr>
              <a:t>Sweden</a:t>
            </a:r>
            <a:endParaRPr lang="it-IT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8280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dirty="0">
                <a:solidFill>
                  <a:schemeClr val="bg1"/>
                </a:solidFill>
              </a:rPr>
              <a:t>Breaking RSA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3457B1-5CAF-A3E9-A828-DD197B9F72BC}"/>
              </a:ext>
            </a:extLst>
          </p:cNvPr>
          <p:cNvSpPr txBox="1"/>
          <p:nvPr/>
        </p:nvSpPr>
        <p:spPr>
          <a:xfrm>
            <a:off x="946298" y="1791586"/>
            <a:ext cx="991486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i="0" dirty="0">
                <a:solidFill>
                  <a:srgbClr val="0070C0"/>
                </a:solidFill>
                <a:effectLst/>
                <a:latin typeface="IBM Plex Sans" panose="020B0604020202020204" pitchFamily="34" charset="0"/>
              </a:rPr>
              <a:t>Have Chinese scientists really cracked RSA encryption with a quantum computer?</a:t>
            </a:r>
          </a:p>
          <a:p>
            <a:pPr algn="l"/>
            <a:endParaRPr lang="en-US" b="1" i="0" dirty="0">
              <a:solidFill>
                <a:srgbClr val="0070C0"/>
              </a:solidFill>
              <a:effectLst/>
              <a:latin typeface="IBM Plex Sans" panose="020B0604020202020204" pitchFamily="34" charset="0"/>
            </a:endParaRPr>
          </a:p>
          <a:p>
            <a:pPr algn="ctr"/>
            <a:r>
              <a:rPr lang="en-US" sz="2800" b="0" i="0" dirty="0">
                <a:solidFill>
                  <a:srgbClr val="0070C0"/>
                </a:solidFill>
                <a:effectLst/>
                <a:latin typeface="IBM Plex Sans" panose="020B0604020202020204" pitchFamily="34" charset="0"/>
              </a:rPr>
              <a:t>The researchers say they could crack 2048-bit RSA using a quantum computer with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IBM Plex Sans" panose="020B0604020202020204" pitchFamily="34" charset="0"/>
              </a:rPr>
              <a:t>a few hundred qubits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IBM Plex Sans" panose="020B0604020202020204" pitchFamily="34" charset="0"/>
              </a:rPr>
              <a:t>. </a:t>
            </a:r>
            <a:br>
              <a:rPr lang="en-US" sz="2800" b="0" i="0" dirty="0">
                <a:solidFill>
                  <a:schemeClr val="bg1"/>
                </a:solidFill>
                <a:effectLst/>
                <a:latin typeface="IBM Plex Sans" panose="020B0604020202020204" pitchFamily="34" charset="0"/>
              </a:rPr>
            </a:br>
            <a:r>
              <a:rPr lang="en-US" sz="2800" b="0" i="0" dirty="0">
                <a:solidFill>
                  <a:srgbClr val="0070C0"/>
                </a:solidFill>
                <a:effectLst/>
                <a:latin typeface="IBM Plex Sans" panose="020B0604020202020204" pitchFamily="34" charset="0"/>
              </a:rPr>
              <a:t>Not everyone is convinced.</a:t>
            </a:r>
          </a:p>
          <a:p>
            <a:pPr algn="ctr"/>
            <a:endParaRPr lang="en-US" sz="2800" dirty="0">
              <a:solidFill>
                <a:srgbClr val="0070C0"/>
              </a:solidFill>
              <a:latin typeface="IBM Plex Sans" panose="020B0604020202020204" pitchFamily="34" charset="0"/>
            </a:endParaRPr>
          </a:p>
          <a:p>
            <a:pPr algn="ctr"/>
            <a:r>
              <a:rPr lang="it-IT" sz="2800" dirty="0">
                <a:solidFill>
                  <a:srgbClr val="0070C0"/>
                </a:solidFill>
                <a:latin typeface="IBM Plex Sans" panose="020B0604020202020204" pitchFamily="34" charset="0"/>
              </a:rPr>
              <a:t>By </a:t>
            </a:r>
            <a:r>
              <a:rPr lang="it-IT" sz="2800" dirty="0">
                <a:solidFill>
                  <a:srgbClr val="0070C0"/>
                </a:solidFill>
                <a:latin typeface="IBM Plex Sans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Ryan Morrison</a:t>
            </a:r>
            <a:endParaRPr lang="it-IT" sz="2800" dirty="0">
              <a:solidFill>
                <a:srgbClr val="0070C0"/>
              </a:solidFill>
              <a:latin typeface="IBM Plex Sans" panose="020B0604020202020204" pitchFamily="34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IBM Plex Sans" panose="020B0604020202020204" pitchFamily="34" charset="0"/>
                <a:hlinkClick r:id="rId4"/>
              </a:rPr>
              <a:t>techmonitor.ai</a:t>
            </a:r>
            <a:endParaRPr lang="en-US" sz="2800" dirty="0">
              <a:solidFill>
                <a:schemeClr val="bg1"/>
              </a:solidFill>
              <a:latin typeface="IBM Plex Sans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6443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it-IT" sz="3600" b="1" dirty="0">
                <a:solidFill>
                  <a:schemeClr val="bg1"/>
                </a:solidFill>
              </a:rPr>
              <a:t>Basic </a:t>
            </a:r>
            <a:r>
              <a:rPr lang="it-IT" sz="3600" b="1" dirty="0" err="1">
                <a:solidFill>
                  <a:schemeClr val="bg1"/>
                </a:solidFill>
              </a:rPr>
              <a:t>References</a:t>
            </a:r>
            <a:endParaRPr lang="it-IT" sz="3600" dirty="0">
              <a:solidFill>
                <a:schemeClr val="bg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4772EF2-238A-6CFB-34C3-4EB3D574068F}"/>
              </a:ext>
            </a:extLst>
          </p:cNvPr>
          <p:cNvSpPr txBox="1"/>
          <p:nvPr/>
        </p:nvSpPr>
        <p:spPr>
          <a:xfrm>
            <a:off x="925033" y="2402957"/>
            <a:ext cx="104287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3200" i="0" u="sng" dirty="0">
                <a:solidFill>
                  <a:srgbClr val="0563C1"/>
                </a:solidFill>
                <a:effectLst/>
                <a:latin typeface="Arial" panose="020B0604020202020204" pitchFamily="34" charset="0"/>
              </a:rPr>
              <a:t>Quantum </a:t>
            </a:r>
            <a:r>
              <a:rPr lang="it-IT" sz="3200" i="0" u="sng" dirty="0" err="1">
                <a:solidFill>
                  <a:srgbClr val="0563C1"/>
                </a:solidFill>
                <a:effectLst/>
                <a:latin typeface="Arial" panose="020B0604020202020204" pitchFamily="34" charset="0"/>
              </a:rPr>
              <a:t>Computation</a:t>
            </a:r>
            <a:r>
              <a:rPr lang="it-IT" sz="3200" i="0" u="sng" dirty="0">
                <a:solidFill>
                  <a:srgbClr val="0563C1"/>
                </a:solidFill>
                <a:effectLst/>
                <a:latin typeface="Arial" panose="020B0604020202020204" pitchFamily="34" charset="0"/>
              </a:rPr>
              <a:t> and Quantum Information </a:t>
            </a:r>
            <a:br>
              <a:rPr lang="it-IT" sz="3200" i="0" dirty="0">
                <a:solidFill>
                  <a:srgbClr val="0563C1"/>
                </a:solidFill>
                <a:effectLst/>
                <a:latin typeface="Arial" panose="020B0604020202020204" pitchFamily="34" charset="0"/>
              </a:rPr>
            </a:br>
            <a:r>
              <a:rPr lang="it-IT" sz="2400" i="0" dirty="0">
                <a:solidFill>
                  <a:srgbClr val="0563C1"/>
                </a:solidFill>
                <a:effectLst/>
                <a:latin typeface="Arial" panose="020B0604020202020204" pitchFamily="34" charset="0"/>
              </a:rPr>
              <a:t>Michael </a:t>
            </a:r>
            <a:r>
              <a:rPr lang="it-IT" sz="2400" i="0" dirty="0" err="1">
                <a:solidFill>
                  <a:srgbClr val="0563C1"/>
                </a:solidFill>
                <a:effectLst/>
                <a:latin typeface="Arial" panose="020B0604020202020204" pitchFamily="34" charset="0"/>
              </a:rPr>
              <a:t>A.Nielsen</a:t>
            </a:r>
            <a:r>
              <a:rPr lang="it-IT" sz="2400" i="0" dirty="0">
                <a:solidFill>
                  <a:srgbClr val="0563C1"/>
                </a:solidFill>
                <a:effectLst/>
                <a:latin typeface="Arial" panose="020B0604020202020204" pitchFamily="34" charset="0"/>
              </a:rPr>
              <a:t> – Isaac </a:t>
            </a:r>
            <a:r>
              <a:rPr lang="it-IT" sz="2400" i="0" dirty="0" err="1">
                <a:solidFill>
                  <a:srgbClr val="0563C1"/>
                </a:solidFill>
                <a:effectLst/>
                <a:latin typeface="Arial" panose="020B0604020202020204" pitchFamily="34" charset="0"/>
              </a:rPr>
              <a:t>L.Chuang</a:t>
            </a:r>
            <a:r>
              <a:rPr lang="it-IT" sz="2400" i="0" dirty="0">
                <a:solidFill>
                  <a:srgbClr val="0563C1"/>
                </a:solidFill>
                <a:effectLst/>
                <a:latin typeface="Arial" panose="020B0604020202020204" pitchFamily="34" charset="0"/>
              </a:rPr>
              <a:t> – Cambridge Press</a:t>
            </a:r>
            <a:endParaRPr lang="it-IT" sz="3200" i="0" dirty="0">
              <a:solidFill>
                <a:srgbClr val="0563C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3B90E7-E99A-D046-0055-870069733FCA}"/>
              </a:ext>
            </a:extLst>
          </p:cNvPr>
          <p:cNvSpPr txBox="1"/>
          <p:nvPr/>
        </p:nvSpPr>
        <p:spPr>
          <a:xfrm>
            <a:off x="925033" y="3905692"/>
            <a:ext cx="104287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u="sng" dirty="0">
                <a:solidFill>
                  <a:srgbClr val="0563C1"/>
                </a:solidFill>
                <a:latin typeface="Arial" panose="020B0604020202020204" pitchFamily="34" charset="0"/>
              </a:rPr>
              <a:t>An Introduction to Quantum Computing </a:t>
            </a:r>
            <a:br>
              <a:rPr lang="en-US" sz="3200" dirty="0">
                <a:solidFill>
                  <a:srgbClr val="0563C1"/>
                </a:solidFill>
                <a:latin typeface="Arial" panose="020B0604020202020204" pitchFamily="34" charset="0"/>
              </a:rPr>
            </a:br>
            <a:r>
              <a:rPr lang="en-US" sz="2400" dirty="0">
                <a:solidFill>
                  <a:srgbClr val="0563C1"/>
                </a:solidFill>
                <a:latin typeface="Arial" panose="020B0604020202020204" pitchFamily="34" charset="0"/>
              </a:rPr>
              <a:t>Philippe Kaye – Raymond Laflamme – Michele </a:t>
            </a:r>
            <a:r>
              <a:rPr lang="en-US" sz="2400" dirty="0" err="1">
                <a:solidFill>
                  <a:srgbClr val="0563C1"/>
                </a:solidFill>
                <a:latin typeface="Arial" panose="020B0604020202020204" pitchFamily="34" charset="0"/>
              </a:rPr>
              <a:t>Mosca</a:t>
            </a:r>
            <a:r>
              <a:rPr lang="en-US" sz="2400" dirty="0">
                <a:solidFill>
                  <a:srgbClr val="0563C1"/>
                </a:solidFill>
                <a:latin typeface="Arial" panose="020B0604020202020204" pitchFamily="34" charset="0"/>
              </a:rPr>
              <a:t> – Oxford University Press</a:t>
            </a:r>
            <a:endParaRPr lang="en-US" sz="3200" dirty="0">
              <a:solidFill>
                <a:srgbClr val="0563C1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D71ED397-3508-B702-FADA-7C5EF0442460}"/>
              </a:ext>
            </a:extLst>
          </p:cNvPr>
          <p:cNvGrpSpPr/>
          <p:nvPr/>
        </p:nvGrpSpPr>
        <p:grpSpPr>
          <a:xfrm>
            <a:off x="11037867" y="5905647"/>
            <a:ext cx="738963" cy="749597"/>
            <a:chOff x="11037867" y="5905647"/>
            <a:chExt cx="738963" cy="749597"/>
          </a:xfrm>
        </p:grpSpPr>
        <p:sp>
          <p:nvSpPr>
            <p:cNvPr id="7" name="Rettangolo 6">
              <a:hlinkClick r:id="rId2" action="ppaction://hlinksldjump"/>
              <a:extLst>
                <a:ext uri="{FF2B5EF4-FFF2-40B4-BE49-F238E27FC236}">
                  <a16:creationId xmlns:a16="http://schemas.microsoft.com/office/drawing/2014/main" id="{0FEFCD2C-F27A-E485-1AA4-EF7A94761802}"/>
                </a:ext>
              </a:extLst>
            </p:cNvPr>
            <p:cNvSpPr/>
            <p:nvPr/>
          </p:nvSpPr>
          <p:spPr>
            <a:xfrm>
              <a:off x="11037867" y="5905647"/>
              <a:ext cx="738963" cy="7495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Freccia circolare in su 7">
              <a:extLst>
                <a:ext uri="{FF2B5EF4-FFF2-40B4-BE49-F238E27FC236}">
                  <a16:creationId xmlns:a16="http://schemas.microsoft.com/office/drawing/2014/main" id="{E81D2F84-4D0C-FF1A-0897-7F4A5E6957C8}"/>
                </a:ext>
              </a:extLst>
            </p:cNvPr>
            <p:cNvSpPr/>
            <p:nvPr/>
          </p:nvSpPr>
          <p:spPr>
            <a:xfrm rot="17817266">
              <a:off x="11168117" y="6135024"/>
              <a:ext cx="478465" cy="290844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45347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F05CA53-A894-4A63-BA61-C18171213F07}"/>
              </a:ext>
            </a:extLst>
          </p:cNvPr>
          <p:cNvSpPr/>
          <p:nvPr/>
        </p:nvSpPr>
        <p:spPr>
          <a:xfrm>
            <a:off x="0" y="0"/>
            <a:ext cx="12192000" cy="1153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1AC283-D065-4D32-AA74-A2BBD412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069"/>
            <a:ext cx="10515600" cy="603250"/>
          </a:xfrm>
          <a:solidFill>
            <a:srgbClr val="C00000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The Very End!</a:t>
            </a:r>
            <a:endParaRPr lang="it-IT" sz="3600" dirty="0">
              <a:solidFill>
                <a:schemeClr val="bg1"/>
              </a:solidFill>
            </a:endParaRPr>
          </a:p>
        </p:txBody>
      </p:sp>
      <p:pic>
        <p:nvPicPr>
          <p:cNvPr id="4" name="Immagine 3" descr="Immagine che contiene stella, oggetto da esterni&#10;&#10;Descrizione generata automaticamente">
            <a:extLst>
              <a:ext uri="{FF2B5EF4-FFF2-40B4-BE49-F238E27FC236}">
                <a16:creationId xmlns:a16="http://schemas.microsoft.com/office/drawing/2014/main" id="{64D32E73-B03D-33B8-4654-2935948BE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2167"/>
            <a:ext cx="10515600" cy="507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602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gate{H} &amp; \qw  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03.875"/>
  <p:tag name="PICTUREFILESIZE" val="555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|\psi\rangle&#10;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24"/>
  <p:tag name="PICTUREFILESIZE" val="977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H|\psi\rangle&#10;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43.875"/>
  <p:tag name="PICTUREFILESIZE" val="1708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\gate{X} &amp; \qw&#10;} = \left[\begin{array}{cc} 0 &amp; 1 \\ 1 &amp; 0 \end{array}  \right]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206.875"/>
  <p:tag name="PICTUREFILESIZE" val="18770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\gate{Y} &amp; \qw&#10;} = \left[\begin{array}{cc} 0 &amp; -i \\ i &amp; 0 \end{array}  \right]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217"/>
  <p:tag name="PICTUREFILESIZE" val="19634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\gate{Z} &amp; \qw&#10;} = \left[\begin{array}{cc} 1 &amp; 0 \\ 0 &amp; -1 \end{array}  \right]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220.75"/>
  <p:tag name="PICTUREFILESIZE" val="19979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\gate{X} &amp; \gate{Y} &amp; \qw&#10;} = \left[\begin{array}{cc} 0 &amp; -i \\ i &amp; 0 \end{array}  \right]\left[\begin{array}{cc} 0 &amp; 1 \\ 1 &amp; 0 \end{array}  \right]=\left[\begin{array}{cc} -i&amp; 0 \\ 0 &amp; i \end{array}  \right]=&#10;\Qcircuit @C=1.4em @R=1em &#10;{ &amp;\gate{-iZ}  &amp; \qw&#10;} $$ 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643"/>
  <p:tag name="PICTUREFILESIZE" val="59067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\gate{Y} &amp; \gate{X} &amp; \qw&#10;} = \left[\begin{array}{cc} 0 &amp; 1 \\ 1 &amp; 0 \end{array}  \right]\left[\begin{array}{cc} 0 &amp; -i \\ i &amp; 0 \end{array}  \right]=\left[\begin{array}{cc} i&amp; 0 \\ 0 &amp; -i \end{array}  \right]=&#10;\Qcircuit @C=1.4em @R=1em &#10;{ &amp;\gate{iZ}  &amp; \qw&#10;} $$ 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626.875"/>
  <p:tag name="PICTUREFILESIZE" val="5757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\lstick{|0\rangle}&amp;\gate{X} &amp; \rstick{|1\rangle }\qw&#10;}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77.875"/>
  <p:tag name="PICTUREFILESIZE" val="9407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\lstick{|1\rangle}&amp;\gate{X} &amp; \rstick{|0\rangle }\qw&#10;}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77.875"/>
  <p:tag name="PICTUREFILESIZE" val="9407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sigma_1=X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72"/>
  <p:tag name="PICTUREFILESIZE" val="2477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sigma_0=I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63.875"/>
  <p:tag name="PICTUREFILESIZE" val="2225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sigma_2=Y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69.875"/>
  <p:tag name="PICTUREFILESIZE" val="2414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sigma_3=Z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68.875"/>
  <p:tag name="PICTUREFILESIZE" val="238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sigma_j^2=I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63.875"/>
  <p:tag name="PICTUREFILESIZE" val="3323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\gate{H} &amp; \qw&#10;} = \left[\begin{array}{cc} {1 \over \sqrt{2}} &amp; {1 \over \sqrt{2}} \\ {1 \over \sqrt{2}} &amp; -{1 \over \sqrt{2}} \end{array}  \right]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255.875"/>
  <p:tag name="PICTUREFILESIZE" val="29477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H^2=I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70.75"/>
  <p:tag name="PICTUREFILESIZE" val="2564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\gate{H} &amp; \gate{Z} &amp; \gate{H} &amp; \qw&#10;} = \left[\begin{array}{cc} {1 \over \sqrt{2}} &amp; {1 \over \sqrt{2}} \\ {1 \over \sqrt{2}} &amp; -{1 \over \sqrt{2}} \end{array}  \right]&#10;\left[\begin{array}{cc} 1 &amp; 0\\ 0&amp; -1 \end{array}  \right]&#10;\left[\begin{array}{cc} {1 \over \sqrt{2}} &amp; {1 \over \sqrt{2}} \\ {1 \over \sqrt{2}} &amp; -{1 \over \sqrt{2}} \end{array}  \right]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614.875"/>
  <p:tag name="PICTUREFILESIZE" val="70617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 = \left[\begin{array}{cc} {1 \over \sqrt{2}} &amp; {-1 \over \sqrt{2}} \\ {1 \over \sqrt{2}} &amp; {1 \over \sqrt{2}} \end{array}  \right]&#10;\left[\begin{array}{cc} {1 \over \sqrt{2}} &amp; {1 \over \sqrt{2}} \\ {1 \over \sqrt{2}} &amp; -{1 \over \sqrt{2}} \end{array}  \right]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258"/>
  <p:tag name="PICTUREFILESIZE" val="29697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 = \left[\begin{array}{cc} 0&amp;1\\ 1&amp; 0 \end{array}  \right]=\Qcircuit @C=1.4em @R=1em &#10;{ &amp;\gate{X} &amp; \qw&#10;}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235.875"/>
  <p:tag name="PICTUREFILESIZE" val="21362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\gate{H} &amp; \gate{Z} &amp; \gate{H} &amp; \qw&#10;} = \Qcircuit @C=1.4em @R=1em &#10;{ &amp;\gate{X} &amp; \qw&#10;}  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372"/>
  <p:tag name="PICTUREFILESIZE" val="19507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gate{U} &amp; \qw  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02"/>
  <p:tag name="PICTUREFILESIZE" val="5457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multigate{1}{U} &amp; \qw \\ &amp; \ghost{U} &amp; \qw  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11.875"/>
  <p:tag name="PICTUREFILESIZE" val="13913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ctrl{1} &amp; \qw \\ &amp; \targ &amp; \qw  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90"/>
  <p:tag name="PICTUREFILESIZE" val="8229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=\left[\begin{array}{cccc}  1 &amp; 0 &amp; 0 &amp; 0 \\ 0 &amp; 1 &amp; 0 &amp; 0 \\ 0 &amp; 0 &amp; 0 &amp; 1 \\ 0 &amp; 0 &amp; 1 &amp; 0\end{array} \right]&#10;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54.75"/>
  <p:tag name="PICTUREFILESIZE" val="25444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|00\rangle \rightarrow |00\rangle&#10;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05.875"/>
  <p:tag name="PICTUREFILESIZE" val="3970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|01\rangle \rightarrow |01\rangle&#10;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05.875"/>
  <p:tag name="PICTUREFILESIZE" val="3970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|10\rangle \rightarrow |11\rangle&#10;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05.875"/>
  <p:tag name="PICTUREFILESIZE" val="3970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|11\rangle \rightarrow |10\rangle&#10;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05.875"/>
  <p:tag name="PICTUREFILESIZE" val="3970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ctrl{1} &amp; \qw \\ &amp; \gate{U} &amp; \qw  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02"/>
  <p:tag name="PICTUREFILESIZE" val="10979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=\left[\begin{array}{cccc}  1 &amp; 0 &amp; 0 &amp; 0 \\ 0 &amp; 1 &amp; 0 &amp; 0 \\ 0 &amp; 0 &amp; U_{00} &amp; U_{01} \\ 0 &amp; 0 &amp; U_{10} &amp; U_{11}\end{array} \right]&#10;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201.875"/>
  <p:tag name="PICTUREFILESIZE" val="33108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meter 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79.875"/>
  <p:tag name="PICTUREFILESIZE" val="5282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|0\rangle, |1\rangle&#10;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57.875"/>
  <p:tag name="PICTUREFILESIZE" val="2230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amsfonts}\begin{document}&#10;\def\bmath#1{\mbox{\boldmath$#1$}}&#10;$$|\psi\rangle=\alpha |0\rangle+\beta|1\rangle 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63.875"/>
  <p:tag name="PICTUREFILESIZE" val="6058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amsfonts}\begin{document}&#10;\def\bmath#1{\mbox{\boldmath$#1$}}&#10;$$|\psi\rangle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24"/>
  <p:tag name="PICTUREFILESIZE" val="977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{1 \over \sqrt{2}}(|00\rangle+|11\rangle)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534"/>
  <p:tag name="BOXHEIGHT" val="301"/>
  <p:tag name="BOXFONT" val="10"/>
  <p:tag name="BOXWRAP" val="True"/>
  <p:tag name="WORKAROUNDTRANSPARENCYBUG" val="False"/>
  <p:tag name="ALLOWFONTSUBSTITUTION" val="False"/>
  <p:tag name="BITMAPFORMAT" val="bmp256"/>
  <p:tag name="ORIGWIDTH" val="154.75"/>
  <p:tag name="PICTUREFILESIZE" val="12484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|\psi\rangle=\alpha|0\rangle+\beta |1\rangle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534"/>
  <p:tag name="BOXHEIGHT" val="301"/>
  <p:tag name="BOXFONT" val="10"/>
  <p:tag name="BOXWRAP" val="True"/>
  <p:tag name="WORKAROUNDTRANSPARENCYBUG" val="False"/>
  <p:tag name="ALLOWFONTSUBSTITUTION" val="False"/>
  <p:tag name="BITMAPFORMAT" val="bmp256"/>
  <p:tag name="ORIGWIDTH" val="163.875"/>
  <p:tag name="PICTUREFILESIZE" val="6058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|\psi\rangle \otimes {1 \over \sqrt{2}}(|00\rangle+|11\rangle)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534"/>
  <p:tag name="BOXHEIGHT" val="301"/>
  <p:tag name="BOXFONT" val="10"/>
  <p:tag name="BOXWRAP" val="True"/>
  <p:tag name="WORKAROUNDTRANSPARENCYBUG" val="False"/>
  <p:tag name="ALLOWFONTSUBSTITUTION" val="False"/>
  <p:tag name="BITMAPFORMAT" val="bmp256"/>
  <p:tag name="ORIGWIDTH" val="207.875"/>
  <p:tag name="PICTUREFILESIZE" val="16686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f: \{0,1\} \rightarrow \{0,1\}&#10;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72.75"/>
  <p:tag name="PICTUREFILESIZE" val="637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f(0)=f(1)=0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62"/>
  <p:tag name="PICTUREFILESIZE" val="5718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f(0)=f(1)=1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60.75"/>
  <p:tag name="PICTUREFILESIZE" val="5685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f(0)=0,f(1)=1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82.875"/>
  <p:tag name="PICTUREFILESIZE" val="6449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&#10;f(0)=1,f(1)=0$$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256"/>
  <p:tag name="ORIGWIDTH" val="182.875"/>
  <p:tag name="PICTUREFILESIZE" val="6449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 &amp; \multigate{1}{U}  &amp;  \qw \\ &amp;  \ghost{U} &amp;   \qw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11.875"/>
  <p:tag name="PICTUREFILESIZE" val="13913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\lstick{|0\rangle}&amp; \gate{H} &amp; \multigate{1}{U} &amp; \gate{H} &amp; \meter \\   \lstick{|1\rangle}&amp;  \gate{H}&amp; \ghost{U}&amp;\gate{H} &amp;   \meter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330"/>
  <p:tag name="PICTUREFILESIZE" val="54459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qw &amp;  \qw \\  &amp; \qw &amp; \qw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69.875"/>
  <p:tag name="PICTUREFILESIZE" val="3261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qw &amp;  \qw \\  &amp; \gate{X} &amp;   \qw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03.875"/>
  <p:tag name="PICTUREFILESIZE" val="9917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ctrl{1} &amp;  \qw \\  &amp; \targ &amp;  \qw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90"/>
  <p:tag name="PICTUREFILESIZE" val="8229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ctrl{1} &amp;  \qw  &amp; \qw\\  &amp; \targ &amp; \gate{X} &amp;  \qw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57.875"/>
  <p:tag name="PICTUREFILESIZE" val="1687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\lstick{|0\rangle}&amp; \qw &amp; \rstick{|0\rangle} \qw \\ \lstick{|1\rangle} &amp; \qw &amp;\rstick{|1\rangle} \qw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42.75"/>
  <p:tag name="PICTUREFILESIZE" val="11253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\lstick{|0\rangle} &amp; \qw &amp; \rstick{|0\rangle}  \qw \\ \lstick{|1\rangle} &amp; \gate{Z} &amp;\rstick{-|1\rangle}   \qw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89.875"/>
  <p:tag name="PICTUREFILESIZE" val="21175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 \lstick{|0\rangle }&amp; \targ  &amp; \rstick{|1\rangle}\qw \\ \lstick{|1\rangle}  &amp; \ctrl{-1} &amp; \rstick{|1\rangle} \qw  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163.875"/>
  <p:tag name="PICTUREFILESIZE" val="16318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 \lstick{|0\rangle} &amp; \targ  &amp; \qw &amp; \rstick{|1\rangle} \qw \\ \lstick{|0\rangle} &amp; \ctrl{-1} &amp; \gate{Z}&amp; \rstick{-|1\rangle}\qw  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244.75"/>
  <p:tag name="PICTUREFILESIZE" val="31523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=0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36"/>
  <p:tag name="PICTUREFILESIZE" val="1050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=1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256"/>
  <p:tag name="ORIGWIDTH" val="34.75"/>
  <p:tag name="PICTUREFILESIZE" val="966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\forall x \neq x_0, f(x)=0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172.75"/>
  <p:tag name="PICTUREFILESIZE" val="769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f(x_0)=1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94.75"/>
  <p:tag name="PICTUREFILESIZE" val="437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O(  \sqrt{2^n})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True"/>
  <p:tag name="WORKAROUNDTRANSPARENCYBUG" val="False"/>
  <p:tag name="ALLOWFONTSUBSTITUTION" val="False"/>
  <p:tag name="BITMAPFORMAT" val="bmpmono"/>
  <p:tag name="ORIGWIDTH" val="74.875"/>
  <p:tag name="PICTUREFILESIZE" val="422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x_0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65.25"/>
  <p:tag name="PICTUREFILESIZE" val="75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{\bf U}_f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256"/>
  <p:tag name="DEBUGINTERACTIVE" val="True"/>
  <p:tag name="ORIGWIDTH" val="26.875"/>
  <p:tag name="PICTUREFILESIZE" val="117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|x\rangle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68.25"/>
  <p:tag name="PICTUREFILESIZE" val="110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|y\rangle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68.25"/>
  <p:tag name="PICTUREFILESIZE" val="110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|x\rangle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68.25"/>
  <p:tag name="PICTUREFILESIZE" val="110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|y \oplus f(x)\rangle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90"/>
  <p:tag name="PICTUREFILESIZE" val="443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usepackage{paralist}&#10;\input{Qcircuit}&#10;\begin{document}&#10;\def\bmath#1{\mbox{\boldmath$#1$}}&#10;$$&#10;\Qcircuit @C=1.4em @R=1em &#10;{ &amp; \multigate{3}{G} &amp; \gate{H} &amp; \multigate{3}{P} &amp; \gate{H} &amp; \qw \\&#10; &amp; \ghost{G} &amp; \gate{H} &amp; \ghost{P} &amp; \gate{H} &amp; \qw \\&#10; &amp; \ghost{G} &amp; &amp; \ghost{P} &amp;  &amp; \\&#10; &amp; \ghost{G} &amp; \gate{H} &amp; \ghost{P} &amp; \gate{H} &amp; \qw&#10;}  &#10;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439"/>
  <p:tag name="BOXHEIGHT" val="271"/>
  <p:tag name="BOXFONT" val="10"/>
  <p:tag name="BOXWRAP" val="True"/>
  <p:tag name="WORKAROUNDTRANSPARENCYBUG" val="False"/>
  <p:tag name="ALLOWFONTSUBSTITUTION" val="False"/>
  <p:tag name="BITMAPFORMAT" val="bmp256"/>
  <p:tag name="ORIGWIDTH" val="324"/>
  <p:tag name="PICTUREFILESIZE" val="103671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P=\sum_{x=0}^{2^n}-(-1)^{\delta_{x,0}}|x\rangle \langle x|=2|0\rangle \langle 0| -I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364.75"/>
  <p:tag name="PICTUREFILESIZE" val="4633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H^{\otimes n} P H^{\otimes n}=H^{\otimes n}|0\rangle \langle 0 | H^{\otimes n} - I=2|\psi\rangle \langle \psi | -I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447.875"/>
  <p:tag name="PICTUREFILESIZE" val="2366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|\psi\rangle={1 \over \sqrt{2^n}} \sum_{x=0}^{2^n-1} |x\rangle 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175.875"/>
  <p:tag name="PICTUREFILESIZE" val="2260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\usepackage{color}&#10;\begin{document}&#10;\def\bmath#1{\mbox{\boldmath$#1$}}&#10;$$R=(2|\psi\rangle \langle \psi|-I) G$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354"/>
  <p:tag name="BOXHEIGHT" val="264"/>
  <p:tag name="BOXFONT" val="10"/>
  <p:tag name="BOXWRAP" val="False"/>
  <p:tag name="WORKAROUNDTRANSPARENCYBUG" val="False"/>
  <p:tag name="ALLOWFONTSUBSTITUTION" val="False"/>
  <p:tag name="BITMAPFORMAT" val="bmpmono"/>
  <p:tag name="ORIGWIDTH" val="187.875"/>
  <p:tag name="PICTUREFILESIZE" val="916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8.9164"/>
  <p:tag name="ORIGINALWIDTH" val="5007.124"/>
  <p:tag name="LATEXADDIN" val="\documentclass{article}&#10;\usepackage{amsmath}&#10;\pagestyle{empty}&#10;\begin{document}&#10;\begin{align*}&#10;&amp;\sum^{2^n-1}_{y=0} e^{2\pi\omega y}\left|y\right\rangle = \left(|0\rangle +e^{2\pi i (2^{n-1}\omega)}|1\rangle \right) \otimes \left(|0\rangle +e^{2\pi i (2^{n-2}\omega)}|1\rangle \right)\otimes \cdots \otimes \left(|0\rangle &#10;+e^{2\pi i (\omega)}|1\rangle \right)\\&#10;&amp;=\left(|0\rangle +e^{2pi i (0.x_nx_{n+1}...)}|1\rangle \right)\otimes \left(|0\rangle &#10;+e^{2\pi i  (0.x_{n-1}x_nx_{n+1}...)}|1\rangle \right)\otimes \cdots \otimes \left(|0\rangle &#10;+e^{2\pi i (0.x_1x_2...)}|1\rangle \right)&#10;\end{align*}&#10;\end{document}&#10;"/>
  <p:tag name="IGUANATEXSIZE" val="20"/>
  <p:tag name="IGUANATEXCURSOR" val="365"/>
  <p:tag name="TRANSPARENCY" val="Falso"/>
  <p:tag name="FILENAME" val=""/>
  <p:tag name="LATEXENGINEID" val="0"/>
  <p:tag name="TEMPFOLDER" val="C:\LatexTemp\"/>
  <p:tag name="LATEXFORMHEIGHT" val="552"/>
  <p:tag name="LATEXFORMWIDTH" val="740.4"/>
  <p:tag name="LATEXFORMWRAP" val="Vero"/>
  <p:tag name="BITMAPVECTOR" val="0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21304</TotalTime>
  <Words>2120</Words>
  <Application>Microsoft Office PowerPoint</Application>
  <PresentationFormat>Widescreen</PresentationFormat>
  <Paragraphs>329</Paragraphs>
  <Slides>61</Slides>
  <Notes>25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12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61</vt:i4>
      </vt:variant>
    </vt:vector>
  </HeadingPairs>
  <TitlesOfParts>
    <vt:vector size="75" baseType="lpstr">
      <vt:lpstr>Arial</vt:lpstr>
      <vt:lpstr>Calibri</vt:lpstr>
      <vt:lpstr>Calibri Light</vt:lpstr>
      <vt:lpstr>Calibri Light (Titoli)</vt:lpstr>
      <vt:lpstr>CMMI10</vt:lpstr>
      <vt:lpstr>CMMI8</vt:lpstr>
      <vt:lpstr>CMR10</vt:lpstr>
      <vt:lpstr>CMR8</vt:lpstr>
      <vt:lpstr>IBM Plex Sans</vt:lpstr>
      <vt:lpstr>IBMPlexSans</vt:lpstr>
      <vt:lpstr>Quicksand</vt:lpstr>
      <vt:lpstr>Roboto</vt:lpstr>
      <vt:lpstr>Tema di Office</vt:lpstr>
      <vt:lpstr>Equation</vt:lpstr>
      <vt:lpstr>Quantum Computing  Industry Perspective</vt:lpstr>
      <vt:lpstr>Quantum Computer: what’s that?</vt:lpstr>
      <vt:lpstr>Quantum Computer: what’s that?</vt:lpstr>
      <vt:lpstr>Quantum Computer: what’s that?</vt:lpstr>
      <vt:lpstr>Quantum Computer: what’s that?</vt:lpstr>
      <vt:lpstr>IBM Resource Dashboard </vt:lpstr>
      <vt:lpstr>European Quantum Flagship</vt:lpstr>
      <vt:lpstr>Why Quantum?</vt:lpstr>
      <vt:lpstr>Why Quantum?</vt:lpstr>
      <vt:lpstr>Why Quantum Now?</vt:lpstr>
      <vt:lpstr>Why Quantum Now?</vt:lpstr>
      <vt:lpstr>What does Quantum Computing rely on?</vt:lpstr>
      <vt:lpstr>What does Quantum Computing rely on?</vt:lpstr>
      <vt:lpstr>Gates and  Circuits</vt:lpstr>
      <vt:lpstr>Important Qubit Gates</vt:lpstr>
      <vt:lpstr>Important Qubit Unitaries</vt:lpstr>
      <vt:lpstr>Quantum Circuit Elements</vt:lpstr>
      <vt:lpstr>Quantum Composer</vt:lpstr>
      <vt:lpstr>Qiskit Introduction</vt:lpstr>
      <vt:lpstr>Main Algorithms as «Lego Bricks»</vt:lpstr>
      <vt:lpstr>Quantum Teleportation</vt:lpstr>
      <vt:lpstr>Quantum Teleportation</vt:lpstr>
      <vt:lpstr>Quantum Teleportation</vt:lpstr>
      <vt:lpstr>Quantum Teleportation</vt:lpstr>
      <vt:lpstr>Quantum Teleportation</vt:lpstr>
      <vt:lpstr>More algorithms?</vt:lpstr>
      <vt:lpstr>Quantum Computing in the Real World</vt:lpstr>
      <vt:lpstr>Anche i Qubit sbagliano: errori T1 e T2</vt:lpstr>
      <vt:lpstr>Presentazione standard di PowerPoint</vt:lpstr>
      <vt:lpstr>Presentazione standard di PowerPoint</vt:lpstr>
      <vt:lpstr>Presentazione standard di PowerPoint</vt:lpstr>
      <vt:lpstr>QC Superconduttivo: come sarà</vt:lpstr>
      <vt:lpstr>Presentazione standard di PowerPoint</vt:lpstr>
      <vt:lpstr>Un passo indietro: le Reti Neurali classiche</vt:lpstr>
      <vt:lpstr>The Frontier: CNN vs Quantum Machine Learning</vt:lpstr>
      <vt:lpstr>CNN Schema</vt:lpstr>
      <vt:lpstr>CNN ON MNIST</vt:lpstr>
      <vt:lpstr>CNN AT WORK</vt:lpstr>
      <vt:lpstr>The Frontier: Quantum Machine Learning</vt:lpstr>
      <vt:lpstr>Pennylane Quanvolution</vt:lpstr>
      <vt:lpstr>Questions &amp; Answers</vt:lpstr>
      <vt:lpstr>Thanks for your attention!</vt:lpstr>
      <vt:lpstr>Appendix</vt:lpstr>
      <vt:lpstr>«Oracle» Problems: Deutsch Algorithm</vt:lpstr>
      <vt:lpstr>Quantum Deutsch </vt:lpstr>
      <vt:lpstr>Deutsch Algorithm</vt:lpstr>
      <vt:lpstr>Searching speed-up: Grover Algorithm</vt:lpstr>
      <vt:lpstr>Grover Iterate Block</vt:lpstr>
      <vt:lpstr>Grover Algorithm</vt:lpstr>
      <vt:lpstr>Quantum Phase Estimation Algorithm</vt:lpstr>
      <vt:lpstr>Quantum Phase Estimation Algorithm</vt:lpstr>
      <vt:lpstr>Quantum Phase Estimation Algorithm</vt:lpstr>
      <vt:lpstr>Quantum Phase Estimation Algorithm</vt:lpstr>
      <vt:lpstr>Shor’s Algorithm</vt:lpstr>
      <vt:lpstr>Shor’s Algorithm</vt:lpstr>
      <vt:lpstr>Quantum Cryptography: Threat or Opportunity?</vt:lpstr>
      <vt:lpstr>RSA Algorithm </vt:lpstr>
      <vt:lpstr>Breaking RSA</vt:lpstr>
      <vt:lpstr>Breaking RSA</vt:lpstr>
      <vt:lpstr>Basic References</vt:lpstr>
      <vt:lpstr>The Very End!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Roberto Cappuccio</dc:creator>
  <cp:lastModifiedBy>Roberto Cappuccio</cp:lastModifiedBy>
  <cp:revision>293</cp:revision>
  <dcterms:created xsi:type="dcterms:W3CDTF">2019-03-01T08:27:46Z</dcterms:created>
  <dcterms:modified xsi:type="dcterms:W3CDTF">2026-01-06T23:38:30Z</dcterms:modified>
</cp:coreProperties>
</file>