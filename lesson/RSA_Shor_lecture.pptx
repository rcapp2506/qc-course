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563C1"/>
    <a:srgbClr val="FFFFFF"/>
    <a:srgbClr val="002060"/>
    <a:srgbClr val="E127D4"/>
    <a:srgbClr val="2943DF"/>
    <a:srgbClr val="4472C4"/>
    <a:srgbClr val="000000"/>
    <a:srgbClr val="1096E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87707" autoAdjust="0"/>
  </p:normalViewPr>
  <p:slideViewPr>
    <p:cSldViewPr snapToGrid="0" showGuides="1">
      <p:cViewPr varScale="1">
        <p:scale>
          <a:sx n="66" d="100"/>
          <a:sy n="66" d="100"/>
        </p:scale>
        <p:origin x="1709" y="261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3216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63" Type="http://schemas.openxmlformats.org/officeDocument/2006/relationships/notesMaster" Target="notesMasters/notesMaster1.xml"/><Relationship Id="rId64" Type="http://schemas.openxmlformats.org/officeDocument/2006/relationships/presProps" Target="presProps.xml"/><Relationship Id="rId65" Type="http://schemas.openxmlformats.org/officeDocument/2006/relationships/viewProps" Target="viewProps.xml"/><Relationship Id="rId66" Type="http://schemas.openxmlformats.org/officeDocument/2006/relationships/theme" Target="theme/theme1.xml"/><Relationship Id="rId6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1129D86-317A-4DEE-A176-7C8D4858C8A5}" type="datetimeFigureOut">
              <a:rPr lang="it-IT" smtClean="0"/>
              <a:t>06/01/2026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837D003-1A53-4382-87BB-216A7F5F801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271687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Lecture for the Quantum Computing course (MSc Physics). Companion to lesson/rsa_shor_lesson.pdf and the shor.ipynb notebooks (IBM Aer / IQM).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blocks, ~90 minutes. The number theory is the toolbox; RSA is the construction; Shor is the demolition. The last block is hands-on with the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Symmetric ciphers are fast but need a shared secret: n parties need n(n-1)/2 keys. Public-key cryptography (Diffie-Hellman 1976, RSA 1977) removes the problem: encrypt with the public key, decrypt with the private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RSA's trapdoor is the factorisation of the modulus. Multiplying is easy, factoring is believed hard classically. Shor's algorithm removes the asymmetry: that is the whole story of this 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Everything in RSA lives in Z/NZ. Bézout gives the modular inverse, computed by the extended Euclidean algorithm in O(log) steps. This is exactly how the public exponent e becomes the private exponent 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units form a group of order phi(n). For a product of two distinct primes phi(pq) = (p-1)(q-1): inclusion-exclusion on the multiples of p and 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Lagrange: the order of an element divides the order of the group. That is the whole proof of Euler's theorem; Fermat is the special case n = p. This is the engine of RSA: exponents can be reduced modulo phi(N).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CRT is used twice: to prove RSA correct (combine the mod p and mod q congruences) and to speed up real RSA decryption by about 4x.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steps. The security-relevant secrets are p, q and phi(N); knowing any one of them breaks the scheme. Note the role of each theorem: Bezout gives d, Euler/CRT will prove correctness.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65537 = 2^16 + 1 is the fourth Fermat prime F4. Its binary expansion has only two 1 bits, so square-and-multiply costs 16 squarings and one multiplication. Being prime, gcd(e, phi(N)) = 1 unless 65537 divides phi(N). It is large enough to avoid the low-exponent attacks that bite e = 3, and it is the value fixed by the standards, so every library agrees.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 = 1 + k phi(N). Modulo p: either p | m (trivial) or Fermat gives m^(p-1) = 1 and (p-1) divides phi(N). Same modulo q. CRT combines. Note that the proof covers m not coprime to N as well.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Small enough to do live on the board. Decryption uses CRT and Fermat to keep the numbers tiny: 3^27 mod 5 reduces the exponent mod 4, 2^27 mod 11 reduces it mod 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Knowing phi(N) is equivalent to factoring: p+q = N - phi(N) + 1 and p, q are the roots of a quadratic. So everything rests on factoring. The best classical algorithm, GNFS, is sub-exponential; the record is RSA-250 (829 bits, 2020, ~2700 core-years).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Structure first: a classical reduction (factoring to order finding) wrapping a single quantum subroutine (order finding by phase estimation). Polynomial in log N, versus sub-exponential for GNFS.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whole quantum part is only needed to find r. The theorem is elementary: N divides (x-1)(x+1) but neither factor, so its primes split between the two gcds.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With k distinct odd prime factors the two conditions hold with probability at least 1 - 2^(-k) &gt;= 1/2 for a random a. Example on the board: a = 3, N = 35, r = 12. The plot is the periodic function 3^x mod 35 from the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 is a permutation of the residues, hence unitary. Its eigenphases are s/r: the order sits in the spectrum. We cannot prepare a single eigenstate, but |1&gt; is their uniform superposition, and that is all QPE needs.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 counting qubits in |+&gt;, work register in |1&gt;, controlled U^(2^j), inverse QFT, measure. The read-out y/2^t approximates s/r. With t ~ 2 log2 N + 1 the estimate is sharp enough for continued fractions. The circuit shown is the notebook's for N = 15, a = 7 with t =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QPE returns a binary fraction close to s/r. The continued-fraction theorem says s/r is a convergent of phi provided the error is below 1/(2 r^2). In Python it is one call: Fraction(phi).limit_denominator(N). Three failure modes, all cheaply detected.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shor_factor(N) in the notebook, line by line. Steps 1, 2, 4, 5 are classical; only step 3 is quantum.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Ideal Aer simulation of the notebook circuit with 8 counting qubits: four equally likely outcomes 0, 64, 128, 192 i.e. phases 0, 1/4, 1/2, 3/4. Two of the four outcomes succeed. The histogram is exactly what the notebook shows.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Transpiled to IQM's native PRX + CZ gate set with Garnet's square-lattice connectivity: 12 qubits, about 600 native instructions, depth about 350. The four peaks survive but most shots land elsewhere. shor_factor still succeeds after a few retries. The user can run this on IQM Emerald via the TARGET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to end: from public data only, Shor recovers p and q, then phi, then d, then the message. This is the last section of shor.ipynb. N = 21 with a = 2 is the second worked example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Never build U^(2^j) by repeating U: a^(2^j) mod N is computed classically by repeated squaring and the circuit does one multiplication. Our own notebook measured the difference: 69 914 vs 650 native instructions on the IQM transpiler. Beauregard: 2n+3 qubits, O(n^3) gates.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Gidney &amp; Ekera 2019: 20 million noisy physical qubits, 8 hours. Gidney 2025 lowered the estimate to under a million noisy qubits running for less than a week. Today's chips: IQM Garnet 20, Emerald 54, the largest superconducting processors around a thousand physical qubits, with error rates that still need heavy error correction. Hence the notebooks factor 15 and 21.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NIST finalised FIPS 203/204/205 in August 2024. ML-KEM and ML-DSA are lattice-based: their security does not reduce to factoring or discrete logs, i.e. to period finding, which is what Shor exploits. Migration is under way in TLS and SSH.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time. Each piece of the lecture is a named function in shor.ipynb. Run on the Aer simulator first; the IQM copy switches to Garnet/Emerald with the TARGET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Exercises from the lesson; 4 and 5 are meant to be done with the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9FF46BD-BCFA-415A-8B86-800B31A5FA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97A4C227-57E3-4D04-8470-19EFECE8A1F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9EF0C94-75B4-4472-BD97-1E60B97576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B062CB-D4E4-4B0C-91DA-32E9ADED18FE}" type="datetimeFigureOut">
              <a:rPr lang="it-IT" smtClean="0"/>
              <a:t>06/01/2026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EAF20231-E372-4672-BD15-9F30DD5BD6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BCA2DFF-7727-4FFD-8535-46E79849A7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7A8F7B-8BE7-49E4-9CFB-F9F9973826C3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840844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62FE9B3-8B5B-4AA0-98BC-97E6901EA2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55F5629-7F5F-433B-ACB5-09CDBE5A78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D70276AE-6126-4332-93F9-898F5730DC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B062CB-D4E4-4B0C-91DA-32E9ADED18FE}" type="datetimeFigureOut">
              <a:rPr lang="it-IT" smtClean="0"/>
              <a:t>06/01/2026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5A1812E-9B6A-42C6-B414-1319888BB6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34C7943-2341-4BCE-BC0A-69E39A62DB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7A8F7B-8BE7-49E4-9CFB-F9F9973826C3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559976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98E4D8C-55F0-465E-A36D-4066AACB50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DBD67F9D-80E4-4793-8EE5-418C476862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Modifica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6D28579-0841-4B08-9822-FB23280728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B062CB-D4E4-4B0C-91DA-32E9ADED18FE}" type="datetimeFigureOut">
              <a:rPr lang="it-IT" smtClean="0"/>
              <a:t>06/01/2026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5976B1F6-7C50-4E0D-8350-8F18ED8C70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963E5D8-B6A4-430B-B96B-6EDB6AF891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7A8F7B-8BE7-49E4-9CFB-F9F9973826C3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775495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0784C23-BD13-46C7-9E4E-AAC094BE79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7D295B4-0294-4F6A-ACB5-E31901F9CF3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9F3E596C-77A9-43FF-AE6D-141DE97CC0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9B03E59E-DC1B-4209-B32F-5701E12F3D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B062CB-D4E4-4B0C-91DA-32E9ADED18FE}" type="datetimeFigureOut">
              <a:rPr lang="it-IT" smtClean="0"/>
              <a:t>06/01/2026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6F93548A-77EC-49DB-B97B-93B0BFC8F9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AAD6DE9A-29C4-4CAC-9463-A18B8DEF93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7A8F7B-8BE7-49E4-9CFB-F9F9973826C3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044895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0852660-29D3-4F20-86EF-85F85F4965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9DA373D8-A7AE-489F-A051-E19A3A521C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Modifica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EF47990E-6623-47A7-8ADC-211AA41B0E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ED7D70BA-AC93-4BBA-A077-A377BA5EDC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Modifica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75D89742-E54E-4461-940B-DE7D3269D80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F3DDAF5C-EBEB-4D2B-A672-A6EF45136A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B062CB-D4E4-4B0C-91DA-32E9ADED18FE}" type="datetimeFigureOut">
              <a:rPr lang="it-IT" smtClean="0"/>
              <a:t>06/01/2026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B3D18FA7-60D5-43A4-8D5C-198CDF9E35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C0B8BA0A-C61A-4927-A31B-E25CC75009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7A8F7B-8BE7-49E4-9CFB-F9F9973826C3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342856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69E5E56-0D2C-4565-82E8-B6B6B62A16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614948D4-0552-426A-9F50-DBDCD07285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B062CB-D4E4-4B0C-91DA-32E9ADED18FE}" type="datetimeFigureOut">
              <a:rPr lang="it-IT" smtClean="0"/>
              <a:t>06/01/2026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E7999D21-F06A-471D-90D6-300B38A600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6A9D9E1F-3FFC-4506-8F10-AF93480F09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7A8F7B-8BE7-49E4-9CFB-F9F9973826C3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842550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228341DB-E813-4816-9BB1-CB5789B034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B062CB-D4E4-4B0C-91DA-32E9ADED18FE}" type="datetimeFigureOut">
              <a:rPr lang="it-IT" smtClean="0"/>
              <a:t>06/01/2026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7D063AEF-0E34-4A8B-9241-8F6D2C0155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35EC1D92-C2EF-4404-9EEA-1E5DF357C7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7A8F7B-8BE7-49E4-9CFB-F9F9973826C3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54927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D2BA9F8-83FA-45DE-B564-43A501D1E3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B8E7862-5265-48D3-BADC-EF8ADB1953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3E426A2F-C0A5-4FF8-B470-F23BCAC035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Modifica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A9199EDF-F9AE-46D1-BC41-8CBE7B9D86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B062CB-D4E4-4B0C-91DA-32E9ADED18FE}" type="datetimeFigureOut">
              <a:rPr lang="it-IT" smtClean="0"/>
              <a:t>06/01/2026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C6FB0608-4E77-405B-835E-F6649405C4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E2B1B622-CA94-4826-96DC-A5ACC44287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7A8F7B-8BE7-49E4-9CFB-F9F9973826C3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46384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13B9EF0-4CB2-46A5-8546-08C898FF7E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ED376F27-4EC0-4526-A3DF-18EE8A5EF53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0C65D8C1-BC98-4D9B-9ACE-29F05A9CF6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Modifica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4DFA0919-618C-489F-A9D7-5590F991D8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B062CB-D4E4-4B0C-91DA-32E9ADED18FE}" type="datetimeFigureOut">
              <a:rPr lang="it-IT" smtClean="0"/>
              <a:t>06/01/2026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84A24380-63C1-4076-8DA6-7A553A1305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17EBCF58-902F-4E7B-A343-7D0B70871D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7A8F7B-8BE7-49E4-9CFB-F9F9973826C3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384064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D24F1E3-20C6-43BF-9F33-63D480E7A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BD7B2A0C-CF04-45D8-A1D3-1A3A731728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69FDDF3-9CFB-43F8-B76B-FD96863720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B062CB-D4E4-4B0C-91DA-32E9ADED18FE}" type="datetimeFigureOut">
              <a:rPr lang="it-IT" smtClean="0"/>
              <a:t>06/01/2026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D2158D3-9AB2-483A-B866-540D75E173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C35DF79-4822-4A75-9881-16ABA3291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7A8F7B-8BE7-49E4-9CFB-F9F9973826C3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127554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16860BF0-22E7-43BE-BA53-275E8FD2AA0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97681A66-A894-49A0-AAE5-D3B54AB1FA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D34702F-A1B0-4BC3-8A43-E509A12F6A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B062CB-D4E4-4B0C-91DA-32E9ADED18FE}" type="datetimeFigureOut">
              <a:rPr lang="it-IT" smtClean="0"/>
              <a:t>06/01/2026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11B36BC-7704-42AC-8D08-ABC666EB65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CF04BBF-D335-44FE-A12F-8CF755DB63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7A8F7B-8BE7-49E4-9CFB-F9F9973826C3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7560699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B795C8F3-EFF7-41A7-9F00-88CCCD9DB8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14371020-45E0-45D8-9FCE-01B89116A4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B14A0CA8-695F-46CE-A460-111F7D25181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B062CB-D4E4-4B0C-91DA-32E9ADED18FE}" type="datetimeFigureOut">
              <a:rPr lang="it-IT" smtClean="0"/>
              <a:t>06/01/2026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AA58FBF-42D8-45C7-92BF-368829F5CF8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D03ECFA-5D1B-4A2C-B5D7-1F34538A3D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E7A8F7B-8BE7-49E4-9CFB-F9F9973826C3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88126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github.com/rcapp2506/QC-Course/blob/main/IBM/shor.ipynb" TargetMode="External"/><Relationship Id="rId4" Type="http://schemas.openxmlformats.org/officeDocument/2006/relationships/hyperlink" Target="https://github.com/rcapp2506/QC-Course/blob/main/IQM/shor.ipynb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arxiv.org/abs/quant-ph/9508027" TargetMode="External"/><Relationship Id="rId3" Type="http://schemas.openxmlformats.org/officeDocument/2006/relationships/hyperlink" Target="https://arxiv.org/abs/quant-ph/0205095" TargetMode="External"/><Relationship Id="rId4" Type="http://schemas.openxmlformats.org/officeDocument/2006/relationships/hyperlink" Target="https://arxiv.org/abs/1905.09749" TargetMode="External"/><Relationship Id="rId5" Type="http://schemas.openxmlformats.org/officeDocument/2006/relationships/hyperlink" Target="https://arxiv.org/abs/2505.15917" TargetMode="External"/><Relationship Id="rId6" Type="http://schemas.openxmlformats.org/officeDocument/2006/relationships/hyperlink" Target="https://csrc.nist.gov/projects/post-quantum-cryptography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Band"/>
          <p:cNvSpPr/>
          <p:nvPr/>
        </p:nvSpPr>
        <p:spPr>
          <a:xfrm>
            <a:off x="0" y="-45720"/>
            <a:ext cx="12192000" cy="3429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365760"/>
            <a:ext cx="10533888" cy="2651760"/>
          </a:xfrm>
          <a:solidFill>
            <a:srgbClr val="C00000"/>
          </a:solidFill>
          <a:ln w="9525">
            <a:solidFill>
              <a:srgbClr val="FFFFFF"/>
            </a:solidFill>
          </a:ln>
        </p:spPr>
        <p:txBody>
          <a:bodyPr anchor="ctr">
            <a:normAutofit/>
          </a:bodyPr>
          <a:lstStyle/>
          <a:p>
            <a:pPr algn="ctr"/>
            <a:r>
              <a:rPr sz="4000" b="1">
                <a:solidFill>
                  <a:srgbClr val="FFFFFF"/>
                </a:solidFill>
              </a:rPr>
              <a:t>RSA and Shor’s Algorithm</a:t>
            </a:r>
          </a:p>
          <a:p>
            <a:pPr algn="ctr"/>
            <a:r>
              <a:rPr sz="2800">
                <a:solidFill>
                  <a:srgbClr val="FFFFFF"/>
                </a:solidFill>
              </a:rPr>
              <a:t>Public-key cryptography, and how a quantum computer breaks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3794760"/>
            <a:ext cx="10954512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>
                <a:solidFill>
                  <a:srgbClr val="0563C1"/>
                </a:solidFill>
              </a:rPr>
              <a:t>Roberto Cappuccio</a:t>
            </a:r>
          </a:p>
          <a:p>
            <a:pPr algn="ctr">
              <a:spcAft>
                <a:spcPts val="600"/>
              </a:spcAft>
            </a:pPr>
            <a:r>
              <a:rPr sz="2400">
                <a:solidFill>
                  <a:srgbClr val="0563C1"/>
                </a:solidFill>
              </a:rPr>
              <a:t>Istituto Nazionale di Fisica Nucleare - Pisa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5394960"/>
            <a:ext cx="1095451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>
                <a:solidFill>
                  <a:srgbClr val="404040"/>
                </a:solidFill>
              </a:rPr>
              <a:t>Quantum Computing course 2026-27  ·  Laurea Magistrale in Fisica</a:t>
            </a:r>
          </a:p>
          <a:p>
            <a:pPr algn="ctr">
              <a:spcAft>
                <a:spcPts val="600"/>
              </a:spcAft>
            </a:pPr>
            <a:r>
              <a:rPr sz="1400">
                <a:solidFill>
                  <a:srgbClr val="404040"/>
                </a:solidFill>
              </a:rPr>
              <a:t>Companion material: rsa_shor_lesson.pdf  ·  shor.ipynb (IBM Aer simulator / IQM Garnet &amp; Emerald)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Band"/>
          <p:cNvSpPr/>
          <p:nvPr/>
        </p:nvSpPr>
        <p:spPr>
          <a:xfrm>
            <a:off x="0" y="0"/>
            <a:ext cx="12192000" cy="1153391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5069"/>
            <a:ext cx="10515600" cy="603250"/>
          </a:xfrm>
          <a:solidFill>
            <a:srgbClr val="C00000"/>
          </a:solidFill>
          <a:ln w="9525">
            <a:solidFill>
              <a:srgbClr val="FFFFFF"/>
            </a:solidFill>
          </a:ln>
        </p:spPr>
        <p:txBody>
          <a:bodyPr>
            <a:normAutofit/>
          </a:bodyPr>
          <a:lstStyle/>
          <a:p>
            <a:pPr algn="ctr"/>
            <a:r>
              <a:rPr sz="3600">
                <a:solidFill>
                  <a:srgbClr val="FFFFFF"/>
                </a:solidFill>
              </a:rPr>
              <a:t>Roadmap</a:t>
            </a:r>
          </a:p>
        </p:txBody>
      </p:sp>
      <p:sp>
        <p:nvSpPr>
          <p:cNvPr id="4" name="Step1"/>
          <p:cNvSpPr/>
          <p:nvPr/>
        </p:nvSpPr>
        <p:spPr>
          <a:xfrm>
            <a:off x="822960" y="1508760"/>
            <a:ext cx="777240" cy="77724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22960" y="1508760"/>
            <a:ext cx="777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Right Arrow 5"/>
          <p:cNvSpPr/>
          <p:nvPr/>
        </p:nvSpPr>
        <p:spPr>
          <a:xfrm>
            <a:off x="1828800" y="1664207"/>
            <a:ext cx="822960" cy="457200"/>
          </a:xfrm>
          <a:prstGeom prst="rightArrow">
            <a:avLst/>
          </a:prstGeom>
          <a:solidFill>
            <a:srgbClr val="0563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2834640" y="1463039"/>
            <a:ext cx="8595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0563C1"/>
                </a:solidFill>
              </a:rPr>
              <a:t>Public-key cryptography</a:t>
            </a:r>
          </a:p>
          <a:p>
            <a:pPr algn="l">
              <a:spcAft>
                <a:spcPts val="600"/>
              </a:spcAft>
            </a:pPr>
            <a:r>
              <a:rPr sz="1800">
                <a:solidFill>
                  <a:srgbClr val="404040"/>
                </a:solidFill>
              </a:rPr>
              <a:t>the key-distribution problem, trapdoor one-way functions</a:t>
            </a:r>
          </a:p>
        </p:txBody>
      </p:sp>
      <p:sp>
        <p:nvSpPr>
          <p:cNvPr id="8" name="Step2"/>
          <p:cNvSpPr/>
          <p:nvPr/>
        </p:nvSpPr>
        <p:spPr>
          <a:xfrm>
            <a:off x="822960" y="2697480"/>
            <a:ext cx="777240" cy="77724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60" y="2697480"/>
            <a:ext cx="777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1828800" y="2852928"/>
            <a:ext cx="822960" cy="457200"/>
          </a:xfrm>
          <a:prstGeom prst="rightArrow">
            <a:avLst/>
          </a:prstGeom>
          <a:solidFill>
            <a:srgbClr val="0563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2834640" y="2651760"/>
            <a:ext cx="8595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0563C1"/>
                </a:solidFill>
              </a:rPr>
              <a:t>Number-theory toolbox</a:t>
            </a:r>
          </a:p>
          <a:p>
            <a:pPr algn="l">
              <a:spcAft>
                <a:spcPts val="600"/>
              </a:spcAft>
            </a:pPr>
            <a:r>
              <a:rPr sz="1800">
                <a:solidFill>
                  <a:srgbClr val="404040"/>
                </a:solidFill>
              </a:rPr>
              <a:t>Bézout &amp; modular inverses, Euler’s φ, Fermat/Euler theorems, CRT</a:t>
            </a:r>
          </a:p>
        </p:txBody>
      </p:sp>
      <p:sp>
        <p:nvSpPr>
          <p:cNvPr id="12" name="Step3"/>
          <p:cNvSpPr/>
          <p:nvPr/>
        </p:nvSpPr>
        <p:spPr>
          <a:xfrm>
            <a:off x="822960" y="3886200"/>
            <a:ext cx="777240" cy="77724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22960" y="3886200"/>
            <a:ext cx="777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1828800" y="4041648"/>
            <a:ext cx="822960" cy="457200"/>
          </a:xfrm>
          <a:prstGeom prst="rightArrow">
            <a:avLst/>
          </a:prstGeom>
          <a:solidFill>
            <a:srgbClr val="0563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2834640" y="3840480"/>
            <a:ext cx="8595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0563C1"/>
                </a:solidFill>
              </a:rPr>
              <a:t>RSA</a:t>
            </a:r>
          </a:p>
          <a:p>
            <a:pPr algn="l">
              <a:spcAft>
                <a:spcPts val="600"/>
              </a:spcAft>
            </a:pPr>
            <a:r>
              <a:rPr sz="1800">
                <a:solidFill>
                  <a:srgbClr val="404040"/>
                </a:solidFill>
              </a:rPr>
              <a:t>key generation, why decryption works, a worked example, security = factoring</a:t>
            </a:r>
          </a:p>
        </p:txBody>
      </p:sp>
      <p:sp>
        <p:nvSpPr>
          <p:cNvPr id="16" name="Step4"/>
          <p:cNvSpPr/>
          <p:nvPr/>
        </p:nvSpPr>
        <p:spPr>
          <a:xfrm>
            <a:off x="822960" y="5074920"/>
            <a:ext cx="777240" cy="77724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22960" y="5074920"/>
            <a:ext cx="777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1828800" y="5230368"/>
            <a:ext cx="822960" cy="457200"/>
          </a:xfrm>
          <a:prstGeom prst="rightArrow">
            <a:avLst/>
          </a:prstGeom>
          <a:solidFill>
            <a:srgbClr val="0563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2834640" y="5029200"/>
            <a:ext cx="8595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0563C1"/>
                </a:solidFill>
              </a:rPr>
              <a:t>Shor’s algorithm</a:t>
            </a:r>
          </a:p>
          <a:p>
            <a:pPr algn="l">
              <a:spcAft>
                <a:spcPts val="600"/>
              </a:spcAft>
            </a:pPr>
            <a:r>
              <a:rPr sz="1800">
                <a:solidFill>
                  <a:srgbClr val="404040"/>
                </a:solidFill>
              </a:rPr>
              <a:t>factoring → order finding, QPE, continued fractions, demo on a simulator and on IQM hardware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Band"/>
          <p:cNvSpPr/>
          <p:nvPr/>
        </p:nvSpPr>
        <p:spPr>
          <a:xfrm>
            <a:off x="0" y="0"/>
            <a:ext cx="12192000" cy="1153391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5069"/>
            <a:ext cx="10515600" cy="603250"/>
          </a:xfrm>
          <a:solidFill>
            <a:srgbClr val="C00000"/>
          </a:solidFill>
          <a:ln w="9525">
            <a:solidFill>
              <a:srgbClr val="FFFFFF"/>
            </a:solidFill>
          </a:ln>
        </p:spPr>
        <p:txBody>
          <a:bodyPr>
            <a:normAutofit/>
          </a:bodyPr>
          <a:lstStyle/>
          <a:p>
            <a:pPr algn="ctr"/>
            <a:r>
              <a:rPr sz="3600">
                <a:solidFill>
                  <a:srgbClr val="FFFFFF"/>
                </a:solidFill>
              </a:rPr>
              <a:t>Symmetric vs. asymmetric cryptography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63040"/>
            <a:ext cx="5303520" cy="38404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49808" y="1536192"/>
            <a:ext cx="5084064" cy="36941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002060"/>
                </a:solidFill>
              </a:rPr>
              <a:t>Symmetric (AES, ChaCha20, …)</a:t>
            </a:r>
          </a:p>
          <a:p>
            <a:pPr algn="l">
              <a:spcAft>
                <a:spcPts val="200"/>
              </a:spcAft>
            </a:pPr>
            <a:r>
              <a:rPr sz="1700">
                <a:solidFill>
                  <a:srgbClr val="404040"/>
                </a:solidFill>
              </a:rPr>
              <a:t>One secret key k encrypts and decrypts:</a:t>
            </a:r>
          </a:p>
          <a:p>
            <a:pPr algn="ctr">
              <a:spcAft>
                <a:spcPts val="400"/>
              </a:spcAft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Para>
                    <m:oMathParaPr>
                      <m:jc m:val="center"/>
                    </m:oMathParaPr>
                    <m:oMath>
                      <m:r>
                        <a:rPr lang="en-US" sz="2000">
                          <a:solidFill>
                            <a:srgbClr val="002060"/>
                          </a:solidFill>
                        </a:rPr>
                        <m:t>c=</m:t>
                      </m:r>
                      <m:sSub>
                        <m:e>
                          <m:r>
                            <a:rPr lang="en-US" sz="2000">
                              <a:solidFill>
                                <a:srgbClr val="002060"/>
                              </a:solidFill>
                            </a:rPr>
                            <m:t>E</m:t>
                          </m:r>
                        </m:e>
                        <m:sub>
                          <m:r>
                            <a:rPr lang="en-US" sz="2000">
                              <a:solidFill>
                                <a:srgbClr val="002060"/>
                              </a:solidFill>
                            </a:rPr>
                            <m:t>k</m:t>
                          </m:r>
                        </m:sub>
                      </m:sSub>
                      <m:r>
                        <a:rPr lang="en-US" sz="2000">
                          <a:solidFill>
                            <a:srgbClr val="002060"/>
                          </a:solidFill>
                        </a:rPr>
                        <m:t>(m),</m:t>
                      </m:r>
                      <m:r>
                        <a:rPr lang="en-US" sz="2000">
                          <a:solidFill>
                            <a:srgbClr val="002060"/>
                          </a:solidFill>
                        </a:rPr>
                        <m:rPr>
                          <m:sty m:val="p"/>
                        </m:rPr>
                        <m:t>      </m:t>
                      </m:r>
                      <m:r>
                        <a:rPr lang="en-US" sz="2000">
                          <a:solidFill>
                            <a:srgbClr val="002060"/>
                          </a:solidFill>
                        </a:rPr>
                        <m:t>m=</m:t>
                      </m:r>
                      <m:sSub>
                        <m:e>
                          <m:r>
                            <a:rPr lang="en-US" sz="2000">
                              <a:solidFill>
                                <a:srgbClr val="002060"/>
                              </a:solidFill>
                            </a:rPr>
                            <m:t>D</m:t>
                          </m:r>
                        </m:e>
                        <m:sub>
                          <m:r>
                            <a:rPr lang="en-US" sz="2000">
                              <a:solidFill>
                                <a:srgbClr val="002060"/>
                              </a:solidFill>
                            </a:rPr>
                            <m:t>k</m:t>
                          </m:r>
                        </m:sub>
                      </m:sSub>
                      <m:r>
                        <a:rPr lang="en-US" sz="2000">
                          <a:solidFill>
                            <a:srgbClr val="002060"/>
                          </a:solidFill>
                        </a:rPr>
                        <m:t>(c)</m:t>
                      </m:r>
                    </m:oMath>
                  </m:oMathPara>
                </a14:m>
              </mc:Choice>
              <mc:Fallback>
                <a:r>
                  <a:rPr lang="en-US"/>
                  <a:t>[equation]</a:t>
                </a:r>
              </mc:Fallback>
            </mc:AlternateContent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sz="1700">
                <a:solidFill>
                  <a:srgbClr val="404040"/>
                </a:solidFill>
              </a:rPr>
              <a:t>Fast (GB/s), used for the bulk of every TLS connection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sz="1700">
                <a:solidFill>
                  <a:srgbClr val="404040"/>
                </a:solidFill>
              </a:rPr>
              <a:t>Key-distribution problem: Alice and Bob must already share k over a secure channel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sz="1700">
                <a:solidFill>
                  <a:srgbClr val="404040"/>
                </a:solidFill>
              </a:rPr>
              <a:t>n parties → </a:t>
            </a:r>
            <a:r>
              <a:rPr sz="1700" b="1">
                <a:solidFill>
                  <a:srgbClr val="C00000"/>
                </a:solidFill>
              </a:rPr>
              <a:t>n(n−1)/2</a:t>
            </a:r>
            <a:r>
              <a:rPr sz="1700">
                <a:solidFill>
                  <a:srgbClr val="404040"/>
                </a:solidFill>
              </a:rPr>
              <a:t> shared keys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463040"/>
            <a:ext cx="5303520" cy="3840480"/>
          </a:xfrm>
          <a:prstGeom prst="roundRect">
            <a:avLst>
              <a:gd name="adj" fmla="val 6000"/>
            </a:avLst>
          </a:prstGeom>
          <a:solidFill>
            <a:srgbClr val="DEEBF7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373368" y="1536192"/>
            <a:ext cx="5084064" cy="36941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002060"/>
                </a:solidFill>
              </a:rPr>
              <a:t>Asymmetric / public-key (Diffie–Hellman 1976, RSA 1977)</a:t>
            </a:r>
          </a:p>
          <a:p>
            <a:pPr algn="l">
              <a:spcAft>
                <a:spcPts val="200"/>
              </a:spcAft>
            </a:pPr>
            <a:r>
              <a:rPr sz="1700">
                <a:solidFill>
                  <a:srgbClr val="404040"/>
                </a:solidFill>
              </a:rPr>
              <a:t>Each party publishes pk and keeps sk:</a:t>
            </a:r>
          </a:p>
          <a:p>
            <a:pPr algn="ctr">
              <a:spcAft>
                <a:spcPts val="400"/>
              </a:spcAft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Para>
                    <m:oMathParaPr>
                      <m:jc m:val="center"/>
                    </m:oMathParaPr>
                    <m:oMath>
                      <m:r>
                        <a:rPr lang="en-US" sz="2000">
                          <a:solidFill>
                            <a:srgbClr val="002060"/>
                          </a:solidFill>
                        </a:rPr>
                        <m:t>c=</m:t>
                      </m:r>
                      <m:sSub>
                        <m:e>
                          <m:r>
                            <a:rPr lang="en-US" sz="2000">
                              <a:solidFill>
                                <a:srgbClr val="002060"/>
                              </a:solidFill>
                            </a:rPr>
                            <m:t>E</m:t>
                          </m:r>
                        </m:e>
                        <m:sub>
                          <m:r>
                            <a:rPr lang="en-US" sz="2000">
                              <a:solidFill>
                                <a:srgbClr val="002060"/>
                              </a:solidFill>
                            </a:rPr>
                            <m:rPr>
                              <m:sty m:val="p"/>
                            </m:rPr>
                            <m:t>pk</m:t>
                          </m:r>
                        </m:sub>
                      </m:sSub>
                      <m:r>
                        <a:rPr lang="en-US" sz="2000">
                          <a:solidFill>
                            <a:srgbClr val="002060"/>
                          </a:solidFill>
                        </a:rPr>
                        <m:t>(m),</m:t>
                      </m:r>
                      <m:r>
                        <a:rPr lang="en-US" sz="2000">
                          <a:solidFill>
                            <a:srgbClr val="002060"/>
                          </a:solidFill>
                        </a:rPr>
                        <m:rPr>
                          <m:sty m:val="p"/>
                        </m:rPr>
                        <m:t>      </m:t>
                      </m:r>
                      <m:r>
                        <a:rPr lang="en-US" sz="2000">
                          <a:solidFill>
                            <a:srgbClr val="002060"/>
                          </a:solidFill>
                        </a:rPr>
                        <m:t>m=</m:t>
                      </m:r>
                      <m:sSub>
                        <m:e>
                          <m:r>
                            <a:rPr lang="en-US" sz="2000">
                              <a:solidFill>
                                <a:srgbClr val="002060"/>
                              </a:solidFill>
                            </a:rPr>
                            <m:t>D</m:t>
                          </m:r>
                        </m:e>
                        <m:sub>
                          <m:r>
                            <a:rPr lang="en-US" sz="2000">
                              <a:solidFill>
                                <a:srgbClr val="002060"/>
                              </a:solidFill>
                            </a:rPr>
                            <m:rPr>
                              <m:sty m:val="p"/>
                            </m:rPr>
                            <m:t>sk</m:t>
                          </m:r>
                        </m:sub>
                      </m:sSub>
                      <m:r>
                        <a:rPr lang="en-US" sz="2000">
                          <a:solidFill>
                            <a:srgbClr val="002060"/>
                          </a:solidFill>
                        </a:rPr>
                        <m:t>(c)</m:t>
                      </m:r>
                    </m:oMath>
                  </m:oMathPara>
                </a14:m>
              </mc:Choice>
              <mc:Fallback>
                <a:r>
                  <a:rPr lang="en-US"/>
                  <a:t>[equation]</a:t>
                </a:r>
              </mc:Fallback>
            </mc:AlternateContent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sz="1700">
                <a:solidFill>
                  <a:srgbClr val="404040"/>
                </a:solidFill>
              </a:rPr>
              <a:t>Anyone can encrypt to Bob with his public key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sz="1700">
                <a:solidFill>
                  <a:srgbClr val="404040"/>
                </a:solidFill>
              </a:rPr>
              <a:t>Only Bob, holder of the private key, can decrypt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sz="1700">
                <a:solidFill>
                  <a:srgbClr val="404040"/>
                </a:solidFill>
              </a:rPr>
              <a:t>n parties → </a:t>
            </a:r>
            <a:r>
              <a:rPr sz="1700" b="1">
                <a:solidFill>
                  <a:srgbClr val="37863C"/>
                </a:solidFill>
              </a:rPr>
              <a:t>n</a:t>
            </a:r>
            <a:r>
              <a:rPr sz="1700">
                <a:solidFill>
                  <a:srgbClr val="404040"/>
                </a:solidFill>
              </a:rPr>
              <a:t> key pairs, no secure channel needed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532120"/>
            <a:ext cx="10927080" cy="868680"/>
          </a:xfrm>
          <a:prstGeom prst="roundRect">
            <a:avLst>
              <a:gd name="adj" fmla="val 10000"/>
            </a:avLst>
          </a:prstGeom>
          <a:solidFill>
            <a:srgbClr val="FB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60" y="5532120"/>
            <a:ext cx="106070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404040"/>
                </a:solidFill>
              </a:rPr>
              <a:t>1 000 users: </a:t>
            </a:r>
            <a:r>
              <a:rPr sz="2400" b="1">
                <a:solidFill>
                  <a:srgbClr val="C00000"/>
                </a:solidFill>
              </a:rPr>
              <a:t>499 500</a:t>
            </a:r>
            <a:r>
              <a:rPr sz="1700">
                <a:solidFill>
                  <a:srgbClr val="404040"/>
                </a:solidFill>
              </a:rPr>
              <a:t> symmetric keys vs </a:t>
            </a:r>
            <a:r>
              <a:rPr sz="2400" b="1">
                <a:solidFill>
                  <a:srgbClr val="37863C"/>
                </a:solidFill>
              </a:rPr>
              <a:t>1 000</a:t>
            </a:r>
            <a:r>
              <a:rPr sz="1700">
                <a:solidFill>
                  <a:srgbClr val="404040"/>
                </a:solidFill>
              </a:rPr>
              <a:t> public/private pairs. In practice: public-key crypto exchanges a symmetric session key, which then does the heavy lifting.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Band"/>
          <p:cNvSpPr/>
          <p:nvPr/>
        </p:nvSpPr>
        <p:spPr>
          <a:xfrm>
            <a:off x="0" y="0"/>
            <a:ext cx="12192000" cy="1153391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5069"/>
            <a:ext cx="10515600" cy="603250"/>
          </a:xfrm>
          <a:solidFill>
            <a:srgbClr val="C00000"/>
          </a:solidFill>
          <a:ln w="9525">
            <a:solidFill>
              <a:srgbClr val="FFFFFF"/>
            </a:solidFill>
          </a:ln>
        </p:spPr>
        <p:txBody>
          <a:bodyPr>
            <a:normAutofit/>
          </a:bodyPr>
          <a:lstStyle/>
          <a:p>
            <a:pPr algn="ctr"/>
            <a:r>
              <a:rPr sz="3600">
                <a:solidFill>
                  <a:srgbClr val="FFFFFF"/>
                </a:solidFill>
              </a:rPr>
              <a:t>Trapdoor one-way functions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63040"/>
            <a:ext cx="10927080" cy="1417320"/>
          </a:xfrm>
          <a:prstGeom prst="roundRect">
            <a:avLst>
              <a:gd name="adj" fmla="val 6000"/>
            </a:avLst>
          </a:prstGeom>
          <a:solidFill>
            <a:srgbClr val="DEEBF7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49808" y="1536192"/>
            <a:ext cx="10707624" cy="12710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002060"/>
                </a:solidFill>
              </a:rPr>
              <a:t>Definition</a:t>
            </a:r>
          </a:p>
          <a:p>
            <a:pPr algn="l">
              <a:spcAft>
                <a:spcPts val="400"/>
              </a:spcAft>
            </a:pPr>
            <a:r>
              <a:rPr sz="1700">
                <a:solidFill>
                  <a:srgbClr val="404040"/>
                </a:solidFill>
              </a:rPr>
              <a:t>A function f is </a:t>
            </a:r>
            <a:r>
              <a:rPr sz="1700" b="1">
                <a:solidFill>
                  <a:srgbClr val="404040"/>
                </a:solidFill>
              </a:rPr>
              <a:t>one-way</a:t>
            </a:r>
            <a:r>
              <a:rPr sz="1700">
                <a:solidFill>
                  <a:srgbClr val="404040"/>
                </a:solidFill>
              </a:rPr>
              <a:t> if y = f(x) is easy to compute but x = f⁻¹(y) is computationally infeasible. It is a </a:t>
            </a:r>
            <a:r>
              <a:rPr sz="1700" b="1">
                <a:solidFill>
                  <a:srgbClr val="404040"/>
                </a:solidFill>
              </a:rPr>
              <a:t>trapdoor</a:t>
            </a:r>
            <a:r>
              <a:rPr sz="1700">
                <a:solidFill>
                  <a:srgbClr val="404040"/>
                </a:solidFill>
              </a:rPr>
              <a:t> one-way function if some extra secret information (the trapdoor) makes inverting f easy again.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88720" y="3429000"/>
            <a:ext cx="2377440" cy="118872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188720" y="3429000"/>
            <a:ext cx="2377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>
                <a:solidFill>
                  <a:srgbClr val="FFFFFF"/>
                </a:solidFill>
              </a:rPr>
              <a:t>two primes</a:t>
            </a:r>
          </a:p>
          <a:p>
            <a:pPr algn="ctr"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</a:rPr>
              <a:t>p ,  q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95360" y="3429000"/>
            <a:ext cx="2377440" cy="118872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595360" y="3429000"/>
            <a:ext cx="2377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>
                <a:solidFill>
                  <a:srgbClr val="FFFFFF"/>
                </a:solidFill>
              </a:rPr>
              <a:t>modulus</a:t>
            </a:r>
          </a:p>
          <a:p>
            <a:pPr algn="ctr"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</a:rPr>
              <a:t>N = p·q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840480" y="3246120"/>
            <a:ext cx="4480560" cy="640080"/>
          </a:xfrm>
          <a:prstGeom prst="rightArrow">
            <a:avLst/>
          </a:prstGeom>
          <a:solidFill>
            <a:srgbClr val="378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840480" y="3246120"/>
            <a:ext cx="44805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</a:rPr>
              <a:t>multiply: easy, O(n²)</a:t>
            </a:r>
          </a:p>
        </p:txBody>
      </p:sp>
      <p:sp>
        <p:nvSpPr>
          <p:cNvPr id="12" name="Left Arrow 11"/>
          <p:cNvSpPr/>
          <p:nvPr/>
        </p:nvSpPr>
        <p:spPr>
          <a:xfrm>
            <a:off x="3840480" y="4160520"/>
            <a:ext cx="4480560" cy="640080"/>
          </a:xfrm>
          <a:prstGeom prst="leftArrow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840480" y="4160520"/>
            <a:ext cx="44805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</a:rPr>
              <a:t>factor: hard (classically)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937760"/>
            <a:ext cx="109270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>
                <a:solidFill>
                  <a:srgbClr val="0563C1"/>
                </a:solidFill>
              </a:rPr>
              <a:t>For RSA the trapdoor is the </a:t>
            </a:r>
            <a:r>
              <a:rPr sz="1800" b="1">
                <a:solidFill>
                  <a:srgbClr val="0563C1"/>
                </a:solidFill>
              </a:rPr>
              <a:t>factorisation of the modulus</a:t>
            </a:r>
            <a:r>
              <a:rPr sz="1800">
                <a:solidFill>
                  <a:srgbClr val="0563C1"/>
                </a:solidFill>
              </a:rPr>
              <a:t>: whoever knows p and q can compute the private key; whoever only knows N (everybody) cannot — as far as classical computers go.</a:t>
            </a: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C00000"/>
                </a:solidFill>
              </a:rPr>
              <a:t>Shor’s algorithm (1994) destroys this asymmetry on a quantum computer.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Band"/>
          <p:cNvSpPr/>
          <p:nvPr/>
        </p:nvSpPr>
        <p:spPr>
          <a:xfrm>
            <a:off x="0" y="0"/>
            <a:ext cx="12192000" cy="1153391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5069"/>
            <a:ext cx="10515600" cy="603250"/>
          </a:xfrm>
          <a:solidFill>
            <a:srgbClr val="C00000"/>
          </a:solidFill>
          <a:ln w="9525">
            <a:solidFill>
              <a:srgbClr val="FFFFFF"/>
            </a:solidFill>
          </a:ln>
        </p:spPr>
        <p:txBody>
          <a:bodyPr>
            <a:normAutofit/>
          </a:bodyPr>
          <a:lstStyle/>
          <a:p>
            <a:pPr algn="ctr"/>
            <a:r>
              <a:rPr sz="3600">
                <a:solidFill>
                  <a:srgbClr val="FFFFFF"/>
                </a:solidFill>
              </a:rPr>
              <a:t>Modular arithmetic, Bézout and inverses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270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563C1"/>
                </a:solidFill>
              </a:rPr>
              <a:t>Notation: </a:t>
            </a:r>
            <a:r>
              <a:rPr sz="1800">
                <a:solidFill>
                  <a:srgbClr val="0563C1"/>
                </a:solidFill>
              </a:rPr>
              <a:t>a ≡ b (mod n) means n | (a − b). The residues Z/nZ = {0, 1, …, n−1} form a commutative ring under + and × modulo 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286000"/>
            <a:ext cx="5577840" cy="2331720"/>
          </a:xfrm>
          <a:prstGeom prst="roundRect">
            <a:avLst>
              <a:gd name="adj" fmla="val 6000"/>
            </a:avLst>
          </a:prstGeom>
          <a:solidFill>
            <a:srgbClr val="DEEBF7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49808" y="2359152"/>
            <a:ext cx="5358383" cy="21854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02060"/>
                </a:solidFill>
              </a:rPr>
              <a:t>Theorem (Bézout’s identity)</a:t>
            </a:r>
          </a:p>
          <a:p>
            <a:pPr algn="l">
              <a:spcAft>
                <a:spcPts val="200"/>
              </a:spcAft>
            </a:pPr>
            <a:r>
              <a:rPr sz="1600">
                <a:solidFill>
                  <a:srgbClr val="404040"/>
                </a:solidFill>
              </a:rPr>
              <a:t>For integers a, b not both zero there exist integers x, y with</a:t>
            </a:r>
          </a:p>
          <a:p>
            <a:pPr algn="ctr">
              <a:spcAft>
                <a:spcPts val="400"/>
              </a:spcAft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Para>
                    <m:oMathParaPr>
                      <m:jc m:val="center"/>
                    </m:oMathParaPr>
                    <m:oMath>
                      <m:r>
                        <a:rPr lang="en-US" sz="2200">
                          <a:solidFill>
                            <a:srgbClr val="002060"/>
                          </a:solidFill>
                        </a:rPr>
                        <m:t>ax+by=</m:t>
                      </m:r>
                      <m:r>
                        <a:rPr lang="en-US" sz="2200">
                          <a:solidFill>
                            <a:srgbClr val="002060"/>
                          </a:solidFill>
                        </a:rPr>
                        <m:rPr>
                          <m:sty m:val="p"/>
                        </m:rPr>
                        <m:t>gcd</m:t>
                      </m:r>
                      <m:r>
                        <a:rPr lang="en-US" sz="2200">
                          <a:solidFill>
                            <a:srgbClr val="002060"/>
                          </a:solidFill>
                        </a:rPr>
                        <m:t>(a,b)</m:t>
                      </m:r>
                    </m:oMath>
                  </m:oMathPara>
                </a14:m>
              </mc:Choice>
              <mc:Fallback>
                <a:r>
                  <a:rPr lang="en-US"/>
                  <a:t>[equation]</a:t>
                </a:r>
              </mc:Fallback>
            </mc:AlternateContent>
          </a:p>
          <a:p>
            <a:pPr algn="l">
              <a:spcAft>
                <a:spcPts val="0"/>
              </a:spcAft>
            </a:pPr>
            <a:r>
              <a:rPr sz="1600">
                <a:solidFill>
                  <a:srgbClr val="404040"/>
                </a:solidFill>
              </a:rPr>
              <a:t>x, y are computed in O(log min(a, b)) steps by the extended Euclidean algorithm.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2286000"/>
            <a:ext cx="5166360" cy="23317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510528" y="2359152"/>
            <a:ext cx="4946904" cy="21854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02060"/>
                </a:solidFill>
              </a:rPr>
              <a:t>Proof idea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404040"/>
                </a:solidFill>
              </a:rPr>
              <a:t>Let d = ax₀ + by₀ be the least positive element of S = {ax + by}. Divide a by d: a = qd + r with 0 ≤ r &lt; d. Then r = a(1 − qx₀) − b(qy₀) ∈ S ∪ {0}, so minimality forces r = 0: d | a, and likewise d | b. Hence d | gcd(a, b); conversely gcd(a, b) divides every ax + by. So d = gcd(a, b).  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754880"/>
            <a:ext cx="10927080" cy="16002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49808" y="4828032"/>
            <a:ext cx="10707624" cy="1453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02060"/>
                </a:solidFill>
              </a:rPr>
              <a:t>Corollary (modular inverses)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404040"/>
                </a:solidFill>
              </a:rPr>
              <a:t>a ∈ Z/nZ has an inverse a⁻¹ (with a·a⁻¹ ≡ 1 mod n) </a:t>
            </a:r>
            <a:r>
              <a:rPr sz="1600" b="1">
                <a:solidFill>
                  <a:srgbClr val="404040"/>
                </a:solidFill>
              </a:rPr>
              <a:t>iff gcd(a, n) = 1</a:t>
            </a:r>
            <a:r>
              <a:rPr sz="1600">
                <a:solidFill>
                  <a:srgbClr val="404040"/>
                </a:solidFill>
              </a:rPr>
              <a:t>. The inverse is the coefficient x in ax + ny = 1, reduced mod n.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404040"/>
                </a:solidFill>
              </a:rPr>
              <a:t>This is how RSA turns the public exponent into the private one:  </a:t>
            </a:r>
            <a:r>
              <a:rPr sz="1600" b="1">
                <a:solidFill>
                  <a:srgbClr val="C00000"/>
                </a:solidFill>
              </a:rPr>
              <a:t>d ≡ e⁻¹ (mod φ(N))</a:t>
            </a:r>
            <a:r>
              <a:rPr sz="1600">
                <a:solidFill>
                  <a:srgbClr val="404040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Band"/>
          <p:cNvSpPr/>
          <p:nvPr/>
        </p:nvSpPr>
        <p:spPr>
          <a:xfrm>
            <a:off x="0" y="0"/>
            <a:ext cx="12192000" cy="1153391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5069"/>
            <a:ext cx="10515600" cy="603250"/>
          </a:xfrm>
          <a:solidFill>
            <a:srgbClr val="C00000"/>
          </a:solidFill>
          <a:ln w="9525">
            <a:solidFill>
              <a:srgbClr val="FFFFFF"/>
            </a:solidFill>
          </a:ln>
        </p:spPr>
        <p:txBody>
          <a:bodyPr>
            <a:normAutofit/>
          </a:bodyPr>
          <a:lstStyle/>
          <a:p>
            <a:pPr algn="ctr"/>
            <a:r>
              <a:rPr sz="3600">
                <a:solidFill>
                  <a:srgbClr val="FFFFFF"/>
                </a:solidFill>
              </a:rPr>
              <a:t>Units and Euler’s totient function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17320"/>
            <a:ext cx="5349240" cy="2103120"/>
          </a:xfrm>
          <a:prstGeom prst="roundRect">
            <a:avLst>
              <a:gd name="adj" fmla="val 6000"/>
            </a:avLst>
          </a:prstGeom>
          <a:solidFill>
            <a:srgbClr val="DEEBF7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49808" y="1490472"/>
            <a:ext cx="5129783" cy="19568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02060"/>
                </a:solidFill>
              </a:rPr>
              <a:t>Definition (group of units)</a:t>
            </a:r>
          </a:p>
          <a:p>
            <a:pPr algn="l">
              <a:spcAft>
                <a:spcPts val="200"/>
              </a:spcAft>
            </a:pPr>
            <a:r>
              <a:rPr sz="1600">
                <a:solidFill>
                  <a:srgbClr val="404040"/>
                </a:solidFill>
              </a:rPr>
              <a:t>The invertible residues</a:t>
            </a:r>
          </a:p>
          <a:p>
            <a:pPr algn="ctr">
              <a:spcAft>
                <a:spcPts val="400"/>
              </a:spcAft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Para>
                    <m:oMathParaPr>
                      <m:jc m:val="center"/>
                    </m:oMathParaPr>
                    <m:oMath>
                      <m:r>
                        <a:rPr lang="en-US" sz="2000">
                          <a:solidFill>
                            <a:srgbClr val="002060"/>
                          </a:solidFill>
                        </a:rPr>
                        <m:t>(ℤ/nℤ</m:t>
                      </m:r>
                      <m:sSup>
                        <m:e>
                          <m:r>
                            <a:rPr lang="en-US" sz="2000">
                              <a:solidFill>
                                <a:srgbClr val="002060"/>
                              </a:solidFill>
                            </a:rPr>
                            <m:t>)</m:t>
                          </m:r>
                        </m:e>
                        <m:sup>
                          <m:r>
                            <a:rPr lang="en-US" sz="2000">
                              <a:solidFill>
                                <a:srgbClr val="002060"/>
                              </a:solidFill>
                            </a:rPr>
                            <m:t>*</m:t>
                          </m:r>
                        </m:sup>
                      </m:sSup>
                      <m:r>
                        <a:rPr lang="en-US" sz="2000">
                          <a:solidFill>
                            <a:srgbClr val="002060"/>
                          </a:solidFill>
                        </a:rPr>
                        <m:t>={</m:t>
                      </m:r>
                      <m:r>
                        <a:rPr lang="en-US" sz="2000">
                          <a:solidFill>
                            <a:srgbClr val="002060"/>
                          </a:solidFill>
                        </a:rPr>
                        <m:t>a:1≤a≤n,</m:t>
                      </m:r>
                      <m:r>
                        <a:rPr lang="en-US" sz="2000">
                          <a:solidFill>
                            <a:srgbClr val="002060"/>
                          </a:solidFill>
                        </a:rPr>
                        <m:rPr>
                          <m:sty m:val="p"/>
                        </m:rPr>
                        <m:t> </m:t>
                      </m:r>
                      <m:r>
                        <a:rPr lang="en-US" sz="2000">
                          <a:solidFill>
                            <a:srgbClr val="002060"/>
                          </a:solidFill>
                        </a:rPr>
                        <m:rPr>
                          <m:sty m:val="p"/>
                        </m:rPr>
                        <m:t>gcd</m:t>
                      </m:r>
                      <m:r>
                        <a:rPr lang="en-US" sz="2000">
                          <a:solidFill>
                            <a:srgbClr val="002060"/>
                          </a:solidFill>
                        </a:rPr>
                        <m:t>(a,n)=1</m:t>
                      </m:r>
                      <m:r>
                        <a:rPr lang="en-US" sz="2000">
                          <a:solidFill>
                            <a:srgbClr val="002060"/>
                          </a:solidFill>
                        </a:rPr>
                        <m:t>}</m:t>
                      </m:r>
                    </m:oMath>
                  </m:oMathPara>
                </a14:m>
              </mc:Choice>
              <mc:Fallback>
                <a:r>
                  <a:rPr lang="en-US"/>
                  <a:t>[equation]</a:t>
                </a:r>
              </mc:Fallback>
            </mc:AlternateContent>
          </a:p>
          <a:p>
            <a:pPr algn="l">
              <a:spcAft>
                <a:spcPts val="0"/>
              </a:spcAft>
            </a:pPr>
            <a:r>
              <a:rPr sz="1600">
                <a:solidFill>
                  <a:srgbClr val="404040"/>
                </a:solidFill>
              </a:rPr>
              <a:t>form an abelian group under multiplication modulo 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17320"/>
            <a:ext cx="5349240" cy="2103120"/>
          </a:xfrm>
          <a:prstGeom prst="roundRect">
            <a:avLst>
              <a:gd name="adj" fmla="val 6000"/>
            </a:avLst>
          </a:prstGeom>
          <a:solidFill>
            <a:srgbClr val="DEEBF7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327648" y="1490472"/>
            <a:ext cx="5129783" cy="19568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02060"/>
                </a:solidFill>
              </a:rPr>
              <a:t>Definition (Euler’s totient)</a:t>
            </a:r>
          </a:p>
          <a:p>
            <a:pPr algn="ctr">
              <a:spcAft>
                <a:spcPts val="400"/>
              </a:spcAft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Para>
                    <m:oMathParaPr>
                      <m:jc m:val="center"/>
                    </m:oMathParaPr>
                    <m:oMath>
                      <m:r>
                        <a:rPr lang="en-US" sz="2200">
                          <a:solidFill>
                            <a:srgbClr val="002060"/>
                          </a:solidFill>
                        </a:rPr>
                        <m:t>φ(n)=</m:t>
                      </m:r>
                      <m:d>
                        <m:dPr>
                          <m:begChr m:val="|"/>
                          <m:sepChr m:val=""/>
                          <m:endChr m:val="|"/>
                        </m:dPr>
                        <m:e>
                          <m:sSup>
                            <m:e>
                              <m:d>
                                <m:dPr>
                                  <m:sepChr m:val=""/>
                                </m:dPr>
                                <m:e>
                                  <m:r>
                                    <a:rPr lang="en-US" sz="2200">
                                      <a:solidFill>
                                        <a:srgbClr val="002060"/>
                                      </a:solidFill>
                                    </a:rPr>
                                    <m:t>ℤ</m:t>
                                  </m:r>
                                  <m:r>
                                    <a:rPr lang="en-US" sz="2200">
                                      <a:solidFill>
                                        <a:srgbClr val="002060"/>
                                      </a:solidFill>
                                    </a:rPr>
                                    <m:t>/</m:t>
                                  </m:r>
                                  <m:r>
                                    <a:rPr lang="en-US" sz="2200">
                                      <a:solidFill>
                                        <a:srgbClr val="002060"/>
                                      </a:solidFill>
                                    </a:rPr>
                                    <m:t>n</m:t>
                                  </m:r>
                                  <m:r>
                                    <a:rPr lang="en-US" sz="2200">
                                      <a:solidFill>
                                        <a:srgbClr val="002060"/>
                                      </a:solidFill>
                                    </a:rPr>
                                    <m:t>ℤ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sz="2200">
                                  <a:solidFill>
                                    <a:srgbClr val="002060"/>
                                  </a:solidFill>
                                </a:rPr>
                                <m:t>*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</mc:Choice>
              <mc:Fallback>
                <a:r>
                  <a:rPr lang="en-US"/>
                  <a:t>[equation]</a:t>
                </a:r>
              </mc:Fallback>
            </mc:AlternateContent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404040"/>
                </a:solidFill>
              </a:rPr>
              <a:t>= the number of integers in {1, …, n} coprime to n.</a:t>
            </a:r>
          </a:p>
          <a:p>
            <a:pPr algn="l">
              <a:spcAft>
                <a:spcPts val="0"/>
              </a:spcAft>
            </a:pPr>
            <a:r>
              <a:rPr sz="1600">
                <a:solidFill>
                  <a:srgbClr val="404040"/>
                </a:solidFill>
              </a:rPr>
              <a:t>φ(p) = p − 1 for a prime p;  φ is multiplicative: φ(mn) = φ(m)φ(n) when gcd(m, n) = 1.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03320"/>
            <a:ext cx="6949440" cy="26517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49808" y="3776472"/>
            <a:ext cx="6729983" cy="2505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02060"/>
                </a:solidFill>
              </a:rPr>
              <a:t>Proposition — the case RSA needs</a:t>
            </a:r>
          </a:p>
          <a:p>
            <a:pPr algn="l">
              <a:spcAft>
                <a:spcPts val="200"/>
              </a:spcAft>
            </a:pPr>
            <a:r>
              <a:rPr sz="1600">
                <a:solidFill>
                  <a:srgbClr val="404040"/>
                </a:solidFill>
              </a:rPr>
              <a:t>If p ≠ q are primes then</a:t>
            </a:r>
          </a:p>
          <a:p>
            <a:pPr algn="ctr">
              <a:spcAft>
                <a:spcPts val="400"/>
              </a:spcAft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Para>
                    <m:oMathParaPr>
                      <m:jc m:val="center"/>
                    </m:oMathParaPr>
                    <m:oMath>
                      <m:r>
                        <a:rPr lang="en-US" sz="2400">
                          <a:solidFill>
                            <a:srgbClr val="C00000"/>
                          </a:solidFill>
                        </a:rPr>
                        <m:t>φ(pq)=(p−1)(q−1)</m:t>
                      </m:r>
                    </m:oMath>
                  </m:oMathPara>
                </a14:m>
              </mc:Choice>
              <mc:Fallback>
                <a:r>
                  <a:rPr lang="en-US"/>
                  <a:t>[equation]</a:t>
                </a:r>
              </mc:Fallback>
            </mc:AlternateContent>
          </a:p>
          <a:p>
            <a:pPr algn="l">
              <a:spcAft>
                <a:spcPts val="0"/>
              </a:spcAft>
            </a:pPr>
            <a:r>
              <a:rPr sz="1600" b="1">
                <a:solidFill>
                  <a:srgbClr val="404040"/>
                </a:solidFill>
              </a:rPr>
              <a:t>Proof sketch. </a:t>
            </a:r>
            <a:r>
              <a:rPr sz="1600">
                <a:solidFill>
                  <a:srgbClr val="404040"/>
                </a:solidFill>
              </a:rPr>
              <a:t>Among {1, …, pq} the numbers not coprime to pq are the q multiples of p and the p multiples of q, with pq counted twice: φ(pq) = pq − p − q + 1 = (p − 1)(q − 1).  ∎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18120" y="3703320"/>
            <a:ext cx="3749039" cy="26517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927848" y="3776472"/>
            <a:ext cx="3529583" cy="2505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02060"/>
                </a:solidFill>
              </a:rPr>
              <a:t>Examples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sz="1600">
                <a:solidFill>
                  <a:srgbClr val="404040"/>
                </a:solidFill>
              </a:rPr>
              <a:t>φ(55) = 4 · 10 = 40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sz="1600">
                <a:solidFill>
                  <a:srgbClr val="404040"/>
                </a:solidFill>
              </a:rPr>
              <a:t>φ(3233) = 60 · 52 = 3120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sz="1600">
                <a:solidFill>
                  <a:srgbClr val="404040"/>
                </a:solidFill>
              </a:rPr>
              <a:t>φ(15) = 2 · 4 = 8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sz="1600">
                <a:solidFill>
                  <a:srgbClr val="404040"/>
                </a:solidFill>
              </a:rPr>
              <a:t>φ(561) = 2·10·16 = 320  (561 = 3·11·17)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Band"/>
          <p:cNvSpPr/>
          <p:nvPr/>
        </p:nvSpPr>
        <p:spPr>
          <a:xfrm>
            <a:off x="0" y="0"/>
            <a:ext cx="12192000" cy="1153391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5069"/>
            <a:ext cx="10515600" cy="603250"/>
          </a:xfrm>
          <a:solidFill>
            <a:srgbClr val="C00000"/>
          </a:solidFill>
          <a:ln w="9525">
            <a:solidFill>
              <a:srgbClr val="FFFFFF"/>
            </a:solidFill>
          </a:ln>
        </p:spPr>
        <p:txBody>
          <a:bodyPr>
            <a:normAutofit/>
          </a:bodyPr>
          <a:lstStyle/>
          <a:p>
            <a:pPr algn="ctr"/>
            <a:r>
              <a:rPr sz="3600">
                <a:solidFill>
                  <a:srgbClr val="FFFFFF"/>
                </a:solidFill>
              </a:rPr>
              <a:t>Fermat’s little theorem and Euler’s theorem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17320"/>
            <a:ext cx="5349240" cy="2194560"/>
          </a:xfrm>
          <a:prstGeom prst="roundRect">
            <a:avLst>
              <a:gd name="adj" fmla="val 6000"/>
            </a:avLst>
          </a:prstGeom>
          <a:solidFill>
            <a:srgbClr val="DEEBF7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49808" y="1490472"/>
            <a:ext cx="5129783" cy="204825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02060"/>
                </a:solidFill>
              </a:rPr>
              <a:t>Theorem (Fermat’s little theorem, 1640)</a:t>
            </a:r>
          </a:p>
          <a:p>
            <a:pPr algn="l">
              <a:spcAft>
                <a:spcPts val="200"/>
              </a:spcAft>
            </a:pPr>
            <a:r>
              <a:rPr sz="1600">
                <a:solidFill>
                  <a:srgbClr val="404040"/>
                </a:solidFill>
              </a:rPr>
              <a:t>If p is prime and p ∤ a, then</a:t>
            </a:r>
          </a:p>
          <a:p>
            <a:pPr algn="ctr">
              <a:spcAft>
                <a:spcPts val="400"/>
              </a:spcAft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Para>
                    <m:oMathParaPr>
                      <m:jc m:val="center"/>
                    </m:oMathParaPr>
                    <m:oMath>
                      <m:sSup>
                        <m:e>
                          <m:r>
                            <a:rPr lang="en-US" sz="2400">
                              <a:solidFill>
                                <a:srgbClr val="002060"/>
                              </a:solidFill>
                            </a:rPr>
                            <m:t>a</m:t>
                          </m:r>
                        </m:e>
                        <m:sup>
                          <m:r>
                            <a:rPr lang="en-US" sz="2400">
                              <a:solidFill>
                                <a:srgbClr val="002060"/>
                              </a:solidFill>
                            </a:rPr>
                            <m:t>p−1</m:t>
                          </m:r>
                        </m:sup>
                      </m:sSup>
                      <m:r>
                        <a:rPr lang="en-US" sz="2400">
                          <a:solidFill>
                            <a:srgbClr val="002060"/>
                          </a:solidFill>
                        </a:rPr>
                        <m:t>≡1</m:t>
                      </m:r>
                      <m:r>
                        <a:rPr lang="en-US" sz="2400">
                          <a:solidFill>
                            <a:srgbClr val="002060"/>
                          </a:solidFill>
                        </a:rPr>
                        <m:rPr>
                          <m:sty m:val="p"/>
                        </m:rPr>
                        <m:t> </m:t>
                      </m:r>
                      <m:d>
                        <m:dPr>
                          <m:sepChr m:val=""/>
                        </m:dPr>
                        <m:e>
                          <m:r>
                            <a:rPr lang="en-US" sz="2400">
                              <a:solidFill>
                                <a:srgbClr val="002060"/>
                              </a:solidFill>
                            </a:rPr>
                            <m:rPr>
                              <m:sty m:val="p"/>
                            </m:rPr>
                            <m:t>mod</m:t>
                          </m:r>
                          <m:r>
                            <a:rPr lang="en-US" sz="2400">
                              <a:solidFill>
                                <a:srgbClr val="002060"/>
                              </a:solidFill>
                            </a:rPr>
                            <m:rPr>
                              <m:sty m:val="p"/>
                            </m:rPr>
                            <m:t> </m:t>
                          </m:r>
                          <m:r>
                            <a:rPr lang="en-US" sz="2400">
                              <a:solidFill>
                                <a:srgbClr val="002060"/>
                              </a:solidFill>
                            </a:rPr>
                            <m:t>p</m:t>
                          </m:r>
                        </m:e>
                      </m:d>
                    </m:oMath>
                  </m:oMathPara>
                </a14:m>
              </mc:Choice>
              <mc:Fallback>
                <a:r>
                  <a:rPr lang="en-US"/>
                  <a:t>[equation]</a:t>
                </a:r>
              </mc:Fallback>
            </mc:AlternateContent>
          </a:p>
          <a:p>
            <a:pPr algn="l">
              <a:spcAft>
                <a:spcPts val="0"/>
              </a:spcAft>
            </a:pPr>
            <a:r>
              <a:rPr sz="1600">
                <a:solidFill>
                  <a:srgbClr val="404040"/>
                </a:solidFill>
              </a:rPr>
              <a:t>Equivalently aᵖ ≡ a (mod p) for every integer 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17320"/>
            <a:ext cx="5349240" cy="2194560"/>
          </a:xfrm>
          <a:prstGeom prst="roundRect">
            <a:avLst>
              <a:gd name="adj" fmla="val 6000"/>
            </a:avLst>
          </a:prstGeom>
          <a:solidFill>
            <a:srgbClr val="DEEBF7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327648" y="1490472"/>
            <a:ext cx="5129783" cy="204825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02060"/>
                </a:solidFill>
              </a:rPr>
              <a:t>Theorem (Euler, 1763)</a:t>
            </a:r>
          </a:p>
          <a:p>
            <a:pPr algn="l">
              <a:spcAft>
                <a:spcPts val="200"/>
              </a:spcAft>
            </a:pPr>
            <a:r>
              <a:rPr sz="1600">
                <a:solidFill>
                  <a:srgbClr val="404040"/>
                </a:solidFill>
              </a:rPr>
              <a:t>If gcd(a, n) = 1, then</a:t>
            </a:r>
          </a:p>
          <a:p>
            <a:pPr algn="ctr">
              <a:spcAft>
                <a:spcPts val="400"/>
              </a:spcAft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Para>
                    <m:oMathParaPr>
                      <m:jc m:val="center"/>
                    </m:oMathParaPr>
                    <m:oMath>
                      <m:sSup>
                        <m:e>
                          <m:r>
                            <a:rPr lang="en-US" sz="2400">
                              <a:solidFill>
                                <a:srgbClr val="002060"/>
                              </a:solidFill>
                            </a:rPr>
                            <m:t>a</m:t>
                          </m:r>
                        </m:e>
                        <m:sup>
                          <m:r>
                            <a:rPr lang="en-US" sz="2400">
                              <a:solidFill>
                                <a:srgbClr val="002060"/>
                              </a:solidFill>
                            </a:rPr>
                            <m:t>φ(n)</m:t>
                          </m:r>
                        </m:sup>
                      </m:sSup>
                      <m:r>
                        <a:rPr lang="en-US" sz="2400">
                          <a:solidFill>
                            <a:srgbClr val="002060"/>
                          </a:solidFill>
                        </a:rPr>
                        <m:t>≡1</m:t>
                      </m:r>
                      <m:r>
                        <a:rPr lang="en-US" sz="2400">
                          <a:solidFill>
                            <a:srgbClr val="002060"/>
                          </a:solidFill>
                        </a:rPr>
                        <m:rPr>
                          <m:sty m:val="p"/>
                        </m:rPr>
                        <m:t> </m:t>
                      </m:r>
                      <m:d>
                        <m:dPr>
                          <m:sepChr m:val=""/>
                        </m:dPr>
                        <m:e>
                          <m:r>
                            <a:rPr lang="en-US" sz="2400">
                              <a:solidFill>
                                <a:srgbClr val="002060"/>
                              </a:solidFill>
                            </a:rPr>
                            <m:rPr>
                              <m:sty m:val="p"/>
                            </m:rPr>
                            <m:t>mod</m:t>
                          </m:r>
                          <m:r>
                            <a:rPr lang="en-US" sz="2400">
                              <a:solidFill>
                                <a:srgbClr val="002060"/>
                              </a:solidFill>
                            </a:rPr>
                            <m:rPr>
                              <m:sty m:val="p"/>
                            </m:rPr>
                            <m:t> </m:t>
                          </m:r>
                          <m:r>
                            <a:rPr lang="en-US" sz="2400">
                              <a:solidFill>
                                <a:srgbClr val="002060"/>
                              </a:solidFill>
                            </a:rPr>
                            <m:t>n</m:t>
                          </m:r>
                        </m:e>
                      </m:d>
                    </m:oMath>
                  </m:oMathPara>
                </a14:m>
              </mc:Choice>
              <mc:Fallback>
                <a:r>
                  <a:rPr lang="en-US"/>
                  <a:t>[equation]</a:t>
                </a:r>
              </mc:Fallback>
            </mc:AlternateContent>
          </a:p>
          <a:p>
            <a:pPr algn="l">
              <a:spcAft>
                <a:spcPts val="0"/>
              </a:spcAft>
            </a:pPr>
            <a:r>
              <a:rPr sz="1600">
                <a:solidFill>
                  <a:srgbClr val="404040"/>
                </a:solidFill>
              </a:rPr>
              <a:t>Fermat is the special case n = p, φ(p) = p − 1.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94760"/>
            <a:ext cx="6675120" cy="25603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49808" y="3867912"/>
            <a:ext cx="6455664" cy="24140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02060"/>
                </a:solidFill>
              </a:rPr>
              <a:t>Proof (one line of group theory)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404040"/>
                </a:solidFill>
              </a:rPr>
              <a:t>Work in the finite abelian group (Z/nZ)* of order φ(n). By Lagrange’s theorem the order of any element divides the order of the group, so a^φ(n) = 1 in (Z/nZ)*, i.e. a^φ(n) ≡ 1 (mod n).  ∎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C00000"/>
                </a:solidFill>
              </a:rPr>
              <a:t>Euler’s theorem is the engine of RSA: </a:t>
            </a:r>
            <a:r>
              <a:rPr sz="1600">
                <a:solidFill>
                  <a:srgbClr val="404040"/>
                </a:solidFill>
              </a:rPr>
              <a:t>raising to the power φ(N) acts as the identity on units, so exponents can be reduced modulo φ(N).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43800" y="3794760"/>
            <a:ext cx="4023360" cy="25603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653527" y="3867912"/>
            <a:ext cx="3803904" cy="24140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02060"/>
                </a:solidFill>
              </a:rPr>
              <a:t>Try it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404040"/>
                </a:solidFill>
              </a:rPr>
              <a:t>n = 15, φ(15) = 8, a = 7: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404040"/>
                </a:solidFill>
              </a:rPr>
              <a:t>7¹=7, 7²=49≡4, 7³≡28≡13, 7⁴≡91≡1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404040"/>
                </a:solidFill>
              </a:rPr>
              <a:t>so 7⁸ ≡ 1 as Euler promises — and in fact already 7⁴ ≡ 1: the order of 7 is 4, a divisor of 8.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C00000"/>
                </a:solidFill>
              </a:rPr>
              <a:t>Keep r = 4 in mind: Shor will measure 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Band"/>
          <p:cNvSpPr/>
          <p:nvPr/>
        </p:nvSpPr>
        <p:spPr>
          <a:xfrm>
            <a:off x="0" y="0"/>
            <a:ext cx="12192000" cy="1153391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5069"/>
            <a:ext cx="10515600" cy="603250"/>
          </a:xfrm>
          <a:solidFill>
            <a:srgbClr val="C00000"/>
          </a:solidFill>
          <a:ln w="9525">
            <a:solidFill>
              <a:srgbClr val="FFFFFF"/>
            </a:solidFill>
          </a:ln>
        </p:spPr>
        <p:txBody>
          <a:bodyPr>
            <a:normAutofit/>
          </a:bodyPr>
          <a:lstStyle/>
          <a:p>
            <a:pPr algn="ctr"/>
            <a:r>
              <a:rPr sz="3600">
                <a:solidFill>
                  <a:srgbClr val="FFFFFF"/>
                </a:solidFill>
              </a:rPr>
              <a:t>The Chinese Remainder Theorem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17320"/>
            <a:ext cx="10927080" cy="2331720"/>
          </a:xfrm>
          <a:prstGeom prst="roundRect">
            <a:avLst>
              <a:gd name="adj" fmla="val 6000"/>
            </a:avLst>
          </a:prstGeom>
          <a:solidFill>
            <a:srgbClr val="DEEBF7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49808" y="1490472"/>
            <a:ext cx="10707624" cy="21854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02060"/>
                </a:solidFill>
              </a:rPr>
              <a:t>Theorem (CRT)</a:t>
            </a:r>
          </a:p>
          <a:p>
            <a:pPr algn="l">
              <a:spcAft>
                <a:spcPts val="200"/>
              </a:spcAft>
            </a:pPr>
            <a:r>
              <a:rPr sz="1600">
                <a:solidFill>
                  <a:srgbClr val="404040"/>
                </a:solidFill>
              </a:rPr>
              <a:t>If gcd(m, n) = 1, the system  x ≡ a (mod m),  x ≡ b (mod n)  has a unique solution modulo mn. Equivalently the map</a:t>
            </a:r>
          </a:p>
          <a:p>
            <a:pPr algn="ctr">
              <a:spcAft>
                <a:spcPts val="400"/>
              </a:spcAft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Para>
                    <m:oMathParaPr>
                      <m:jc m:val="center"/>
                    </m:oMathParaPr>
                    <m:oMath>
                      <m:r>
                        <a:rPr lang="en-US" sz="2200">
                          <a:solidFill>
                            <a:srgbClr val="002060"/>
                          </a:solidFill>
                        </a:rPr>
                        <m:t>ℤ/mnℤ⟶ℤ/mℤ×ℤ/nℤ,</m:t>
                      </m:r>
                      <m:r>
                        <a:rPr lang="en-US" sz="2200">
                          <a:solidFill>
                            <a:srgbClr val="002060"/>
                          </a:solidFill>
                        </a:rPr>
                        <m:rPr>
                          <m:sty m:val="p"/>
                        </m:rPr>
                        <m:t>      </m:t>
                      </m:r>
                      <m:r>
                        <a:rPr lang="en-US" sz="2200">
                          <a:solidFill>
                            <a:srgbClr val="002060"/>
                          </a:solidFill>
                        </a:rPr>
                        <m:t>x⟼(x</m:t>
                      </m:r>
                      <m:r>
                        <a:rPr lang="en-US" sz="2200">
                          <a:solidFill>
                            <a:srgbClr val="002060"/>
                          </a:solidFill>
                        </a:rPr>
                        <m:rPr>
                          <m:sty m:val="p"/>
                        </m:rPr>
                        <m:t> </m:t>
                      </m:r>
                      <m:r>
                        <a:rPr lang="en-US" sz="2200">
                          <a:solidFill>
                            <a:srgbClr val="002060"/>
                          </a:solidFill>
                        </a:rPr>
                        <m:rPr>
                          <m:sty m:val="p"/>
                        </m:rPr>
                        <m:t>mod</m:t>
                      </m:r>
                      <m:r>
                        <a:rPr lang="en-US" sz="2200">
                          <a:solidFill>
                            <a:srgbClr val="002060"/>
                          </a:solidFill>
                        </a:rPr>
                        <m:rPr>
                          <m:sty m:val="p"/>
                        </m:rPr>
                        <m:t> </m:t>
                      </m:r>
                      <m:r>
                        <a:rPr lang="en-US" sz="2200">
                          <a:solidFill>
                            <a:srgbClr val="002060"/>
                          </a:solidFill>
                        </a:rPr>
                        <m:t>m,</m:t>
                      </m:r>
                      <m:r>
                        <a:rPr lang="en-US" sz="2200">
                          <a:solidFill>
                            <a:srgbClr val="002060"/>
                          </a:solidFill>
                        </a:rPr>
                        <m:rPr>
                          <m:sty m:val="p"/>
                        </m:rPr>
                        <m:t> </m:t>
                      </m:r>
                      <m:r>
                        <a:rPr lang="en-US" sz="2200">
                          <a:solidFill>
                            <a:srgbClr val="002060"/>
                          </a:solidFill>
                        </a:rPr>
                        <m:t>x</m:t>
                      </m:r>
                      <m:r>
                        <a:rPr lang="en-US" sz="2200">
                          <a:solidFill>
                            <a:srgbClr val="002060"/>
                          </a:solidFill>
                        </a:rPr>
                        <m:rPr>
                          <m:sty m:val="p"/>
                        </m:rPr>
                        <m:t> </m:t>
                      </m:r>
                      <m:r>
                        <a:rPr lang="en-US" sz="2200">
                          <a:solidFill>
                            <a:srgbClr val="002060"/>
                          </a:solidFill>
                        </a:rPr>
                        <m:rPr>
                          <m:sty m:val="p"/>
                        </m:rPr>
                        <m:t>mod</m:t>
                      </m:r>
                      <m:r>
                        <a:rPr lang="en-US" sz="2200">
                          <a:solidFill>
                            <a:srgbClr val="002060"/>
                          </a:solidFill>
                        </a:rPr>
                        <m:rPr>
                          <m:sty m:val="p"/>
                        </m:rPr>
                        <m:t> </m:t>
                      </m:r>
                      <m:r>
                        <a:rPr lang="en-US" sz="2200">
                          <a:solidFill>
                            <a:srgbClr val="002060"/>
                          </a:solidFill>
                        </a:rPr>
                        <m:t>n)</m:t>
                      </m:r>
                    </m:oMath>
                  </m:oMathPara>
                </a14:m>
              </mc:Choice>
              <mc:Fallback>
                <a:r>
                  <a:rPr lang="en-US"/>
                  <a:t>[equation]</a:t>
                </a:r>
              </mc:Fallback>
            </mc:AlternateContent>
          </a:p>
          <a:p>
            <a:pPr algn="l">
              <a:spcAft>
                <a:spcPts val="0"/>
              </a:spcAft>
            </a:pPr>
            <a:r>
              <a:rPr sz="1600">
                <a:solidFill>
                  <a:srgbClr val="404040"/>
                </a:solidFill>
              </a:rPr>
              <a:t>is a ring isomorphism (and hence a bijection of unit groups: this is why φ is multiplicative).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931920"/>
            <a:ext cx="5349240" cy="24231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49808" y="4005072"/>
            <a:ext cx="5129783" cy="2276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02060"/>
                </a:solidFill>
              </a:rPr>
              <a:t>Why we need it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sz="1500" b="1">
                <a:solidFill>
                  <a:srgbClr val="404040"/>
                </a:solidFill>
              </a:rPr>
              <a:t>To prove RSA correct: </a:t>
            </a:r>
            <a:r>
              <a:rPr sz="1500">
                <a:solidFill>
                  <a:srgbClr val="404040"/>
                </a:solidFill>
              </a:rPr>
              <a:t>we show m^ed ≡ m modulo p and modulo q separately, then CRT glues the two into a congruence modulo N = pq.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sz="1500" b="1">
                <a:solidFill>
                  <a:srgbClr val="404040"/>
                </a:solidFill>
              </a:rPr>
              <a:t>To speed RSA up: </a:t>
            </a:r>
            <a:r>
              <a:rPr sz="1500">
                <a:solidFill>
                  <a:srgbClr val="404040"/>
                </a:solidFill>
              </a:rPr>
              <a:t>decrypting modulo p and q separately (two exponentiations with half-size numbers) is ≈ 4× faster than modulo N. Every real implementation does 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3931920"/>
            <a:ext cx="5349240" cy="24231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327648" y="4005072"/>
            <a:ext cx="5129783" cy="2276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02060"/>
                </a:solidFill>
              </a:rPr>
              <a:t>Example (used later to decrypt by hand)</a:t>
            </a:r>
          </a:p>
          <a:p>
            <a:pPr algn="l">
              <a:spcAft>
                <a:spcPts val="400"/>
              </a:spcAft>
            </a:pPr>
            <a:r>
              <a:rPr sz="1500">
                <a:solidFill>
                  <a:srgbClr val="404040"/>
                </a:solidFill>
              </a:rPr>
              <a:t>Solve  x ≡ 2 (mod 5),  x ≡ 7 (mod 11).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sz="1500">
                <a:solidFill>
                  <a:srgbClr val="404040"/>
                </a:solidFill>
              </a:rPr>
              <a:t>Candidates ≡ 7 mod 11: 7, 18, 29, 40, 51 …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sz="1500">
                <a:solidFill>
                  <a:srgbClr val="404040"/>
                </a:solidFill>
              </a:rPr>
              <a:t>7 ≡ 2 (mod 5) already  →  x = 7 (unique mod 55).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sz="1400">
                <a:solidFill>
                  <a:srgbClr val="404040"/>
                </a:solidFill>
              </a:rPr>
              <a:t>Textbook formula: x = a·n·(n⁻¹ mod m) + b·m·(m⁻¹ mod n)  mod mn.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Band"/>
          <p:cNvSpPr/>
          <p:nvPr/>
        </p:nvSpPr>
        <p:spPr>
          <a:xfrm>
            <a:off x="0" y="0"/>
            <a:ext cx="12192000" cy="1153391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5069"/>
            <a:ext cx="10515600" cy="603250"/>
          </a:xfrm>
          <a:solidFill>
            <a:srgbClr val="C00000"/>
          </a:solidFill>
          <a:ln w="9525">
            <a:solidFill>
              <a:srgbClr val="FFFFFF"/>
            </a:solidFill>
          </a:ln>
        </p:spPr>
        <p:txBody>
          <a:bodyPr>
            <a:normAutofit/>
          </a:bodyPr>
          <a:lstStyle/>
          <a:p>
            <a:pPr algn="ctr"/>
            <a:r>
              <a:rPr sz="3600">
                <a:solidFill>
                  <a:srgbClr val="FFFFFF"/>
                </a:solidFill>
              </a:rPr>
              <a:t>RSA — key generation (Recipe R1)</a:t>
            </a:r>
          </a:p>
        </p:txBody>
      </p:sp>
      <p:sp>
        <p:nvSpPr>
          <p:cNvPr id="4" name="Oval 3"/>
          <p:cNvSpPr/>
          <p:nvPr/>
        </p:nvSpPr>
        <p:spPr>
          <a:xfrm>
            <a:off x="731520" y="1463040"/>
            <a:ext cx="594360" cy="59436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59436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1371600"/>
            <a:ext cx="6309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0563C1"/>
                </a:solidFill>
              </a:rPr>
              <a:t>Choose two large distinct primes p, q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404040"/>
                </a:solidFill>
              </a:rPr>
              <a:t>e.g. 1024 bits each for a 2048-bit key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2313432"/>
            <a:ext cx="594360" cy="59436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31520" y="2313432"/>
            <a:ext cx="59436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2221992"/>
            <a:ext cx="6309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0563C1"/>
                </a:solidFill>
              </a:rPr>
              <a:t>Compute N = p·q and φ(N) = (p − 1)(q − 1)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404040"/>
                </a:solidFill>
              </a:rPr>
              <a:t>N is public, φ(N) is secret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3163824"/>
            <a:ext cx="594360" cy="59436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31520" y="3163824"/>
            <a:ext cx="59436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072384"/>
            <a:ext cx="6309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0563C1"/>
                </a:solidFill>
              </a:rPr>
              <a:t>Choose a public exponent e with 1 &lt; e &lt; φ(N), gcd(e, φ(N)) = 1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404040"/>
                </a:solidFill>
              </a:rPr>
              <a:t>commonly e = 65537 — next slide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4014215"/>
            <a:ext cx="594360" cy="59436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31520" y="4014215"/>
            <a:ext cx="59436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3922776"/>
            <a:ext cx="6309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0563C1"/>
                </a:solidFill>
              </a:rPr>
              <a:t>Compute d ≡ e⁻¹ (mod φ(N))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404040"/>
                </a:solidFill>
              </a:rPr>
              <a:t>extended Euclidean algorithm (Bézout)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4864608"/>
            <a:ext cx="594360" cy="59436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31520" y="4864608"/>
            <a:ext cx="59436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4773168"/>
            <a:ext cx="6309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0563C1"/>
                </a:solidFill>
              </a:rPr>
              <a:t>Public key pk = (N, e)      Private key sk = (N, d)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404040"/>
                </a:solidFill>
              </a:rPr>
              <a:t>discard or guard p, q, φ(N): knowing any of them breaks the scheme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1417320"/>
            <a:ext cx="3520440" cy="4206240"/>
          </a:xfrm>
          <a:prstGeom prst="roundRect">
            <a:avLst>
              <a:gd name="adj" fmla="val 6000"/>
            </a:avLst>
          </a:prstGeom>
          <a:solidFill>
            <a:srgbClr val="DEEBF7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156448" y="1490472"/>
            <a:ext cx="3300984" cy="405993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02060"/>
                </a:solidFill>
              </a:rPr>
              <a:t>Encrypt / decrypt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404040"/>
                </a:solidFill>
              </a:rPr>
              <a:t>message m with 0 ≤ m &lt; N</a:t>
            </a:r>
          </a:p>
          <a:p>
            <a:pPr algn="ctr">
              <a:spcAft>
                <a:spcPts val="400"/>
              </a:spcAft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Para>
                    <m:oMathParaPr>
                      <m:jc m:val="center"/>
                    </m:oMathParaPr>
                    <m:oMath>
                      <m:r>
                        <a:rPr lang="en-US" sz="2400">
                          <a:solidFill>
                            <a:srgbClr val="002060"/>
                          </a:solidFill>
                        </a:rPr>
                        <m:t>c=</m:t>
                      </m:r>
                      <m:sSup>
                        <m:e>
                          <m:r>
                            <a:rPr lang="en-US" sz="2400">
                              <a:solidFill>
                                <a:srgbClr val="002060"/>
                              </a:solidFill>
                            </a:rPr>
                            <m:t>m</m:t>
                          </m:r>
                        </m:e>
                        <m:sup>
                          <m:r>
                            <a:rPr lang="en-US" sz="2400">
                              <a:solidFill>
                                <a:srgbClr val="002060"/>
                              </a:solidFill>
                            </a:rPr>
                            <m:t>e</m:t>
                          </m:r>
                        </m:sup>
                      </m:sSup>
                      <m:r>
                        <a:rPr lang="en-US" sz="2400">
                          <a:solidFill>
                            <a:srgbClr val="002060"/>
                          </a:solidFill>
                        </a:rPr>
                        <m:rPr>
                          <m:sty m:val="p"/>
                        </m:rPr>
                        <m:t> </m:t>
                      </m:r>
                      <m:r>
                        <a:rPr lang="en-US" sz="2400">
                          <a:solidFill>
                            <a:srgbClr val="002060"/>
                          </a:solidFill>
                        </a:rPr>
                        <m:rPr>
                          <m:sty m:val="p"/>
                        </m:rPr>
                        <m:t>mod</m:t>
                      </m:r>
                      <m:r>
                        <a:rPr lang="en-US" sz="2400">
                          <a:solidFill>
                            <a:srgbClr val="002060"/>
                          </a:solidFill>
                        </a:rPr>
                        <m:rPr>
                          <m:sty m:val="p"/>
                        </m:rPr>
                        <m:t> </m:t>
                      </m:r>
                      <m:r>
                        <a:rPr lang="en-US" sz="2400">
                          <a:solidFill>
                            <a:srgbClr val="002060"/>
                          </a:solidFill>
                        </a:rPr>
                        <m:t>N</m:t>
                      </m:r>
                    </m:oMath>
                  </m:oMathPara>
                </a14:m>
              </mc:Choice>
              <mc:Fallback>
                <a:r>
                  <a:rPr lang="en-US"/>
                  <a:t>[equation]</a:t>
                </a:r>
              </mc:Fallback>
            </mc:AlternateContent>
          </a:p>
          <a:p>
            <a:pPr algn="ctr">
              <a:spcAft>
                <a:spcPts val="400"/>
              </a:spcAft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Para>
                    <m:oMathParaPr>
                      <m:jc m:val="center"/>
                    </m:oMathParaPr>
                    <m:oMath>
                      <m:r>
                        <a:rPr lang="en-US" sz="2400">
                          <a:solidFill>
                            <a:srgbClr val="002060"/>
                          </a:solidFill>
                        </a:rPr>
                        <m:t>m=</m:t>
                      </m:r>
                      <m:sSup>
                        <m:e>
                          <m:r>
                            <a:rPr lang="en-US" sz="2400">
                              <a:solidFill>
                                <a:srgbClr val="002060"/>
                              </a:solidFill>
                            </a:rPr>
                            <m:t>c</m:t>
                          </m:r>
                        </m:e>
                        <m:sup>
                          <m:r>
                            <a:rPr lang="en-US" sz="2400">
                              <a:solidFill>
                                <a:srgbClr val="002060"/>
                              </a:solidFill>
                            </a:rPr>
                            <m:t>d</m:t>
                          </m:r>
                        </m:sup>
                      </m:sSup>
                      <m:r>
                        <a:rPr lang="en-US" sz="2400">
                          <a:solidFill>
                            <a:srgbClr val="002060"/>
                          </a:solidFill>
                        </a:rPr>
                        <m:rPr>
                          <m:sty m:val="p"/>
                        </m:rPr>
                        <m:t> </m:t>
                      </m:r>
                      <m:r>
                        <a:rPr lang="en-US" sz="2400">
                          <a:solidFill>
                            <a:srgbClr val="002060"/>
                          </a:solidFill>
                        </a:rPr>
                        <m:rPr>
                          <m:sty m:val="p"/>
                        </m:rPr>
                        <m:t>mod</m:t>
                      </m:r>
                      <m:r>
                        <a:rPr lang="en-US" sz="2400">
                          <a:solidFill>
                            <a:srgbClr val="002060"/>
                          </a:solidFill>
                        </a:rPr>
                        <m:rPr>
                          <m:sty m:val="p"/>
                        </m:rPr>
                        <m:t> </m:t>
                      </m:r>
                      <m:r>
                        <a:rPr lang="en-US" sz="2400">
                          <a:solidFill>
                            <a:srgbClr val="002060"/>
                          </a:solidFill>
                        </a:rPr>
                        <m:t>N</m:t>
                      </m:r>
                    </m:oMath>
                  </m:oMathPara>
                </a14:m>
              </mc:Choice>
              <mc:Fallback>
                <a:r>
                  <a:rPr lang="en-US"/>
                  <a:t>[equation]</a:t>
                </a:r>
              </mc:Fallback>
            </mc:AlternateContent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404040"/>
                </a:solidFill>
              </a:rPr>
              <a:t>Both are one modular exponentiation: square-and-multiply, O((log N)³) bit operations.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576072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404040"/>
                </a:solidFill>
              </a:rPr>
              <a:t>Signatures run the same trapdoor backwards: </a:t>
            </a:r>
            <a:r>
              <a:rPr sz="1500">
                <a:solidFill>
                  <a:srgbClr val="404040"/>
                </a:solidFill>
              </a:rPr>
              <a:t>σ = m^d mod N is produced with the private key and verified by anyone via σ^e ≡ m (mod N).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Band"/>
          <p:cNvSpPr/>
          <p:nvPr/>
        </p:nvSpPr>
        <p:spPr>
          <a:xfrm>
            <a:off x="0" y="0"/>
            <a:ext cx="12192000" cy="1153391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5069"/>
            <a:ext cx="10515600" cy="603250"/>
          </a:xfrm>
          <a:solidFill>
            <a:srgbClr val="C00000"/>
          </a:solidFill>
          <a:ln w="9525">
            <a:solidFill>
              <a:srgbClr val="FFFFFF"/>
            </a:solidFill>
          </a:ln>
        </p:spPr>
        <p:txBody>
          <a:bodyPr>
            <a:normAutofit/>
          </a:bodyPr>
          <a:lstStyle/>
          <a:p>
            <a:pPr algn="ctr"/>
            <a:r>
              <a:rPr sz="3600">
                <a:solidFill>
                  <a:srgbClr val="FFFFFF"/>
                </a:solidFill>
              </a:rPr>
              <a:t>Why is the public exponent usually e = 65537?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270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Para>
                    <m:oMathParaPr>
                      <m:jc m:val="center"/>
                    </m:oMathParaPr>
                    <m:oMath>
                      <m:r>
                        <a:rPr lang="en-US" sz="2400">
                          <a:solidFill>
                            <a:srgbClr val="002060"/>
                          </a:solidFill>
                        </a:rPr>
                        <m:t>65537=</m:t>
                      </m:r>
                      <m:sSup>
                        <m:e>
                          <m:r>
                            <a:rPr lang="en-US" sz="2400">
                              <a:solidFill>
                                <a:srgbClr val="002060"/>
                              </a:solidFill>
                            </a:rPr>
                            <m:t>2</m:t>
                          </m:r>
                        </m:e>
                        <m:sup>
                          <m:r>
                            <a:rPr lang="en-US" sz="2400">
                              <a:solidFill>
                                <a:srgbClr val="002060"/>
                              </a:solidFill>
                            </a:rPr>
                            <m:t>16</m:t>
                          </m:r>
                        </m:sup>
                      </m:sSup>
                      <m:r>
                        <a:rPr lang="en-US" sz="2400">
                          <a:solidFill>
                            <a:srgbClr val="002060"/>
                          </a:solidFill>
                        </a:rPr>
                        <m:t>+1=</m:t>
                      </m:r>
                      <m:sSub>
                        <m:e>
                          <m:r>
                            <a:rPr lang="en-US" sz="2400">
                              <a:solidFill>
                                <a:srgbClr val="002060"/>
                              </a:solidFill>
                            </a:rPr>
                            <m:t>F</m:t>
                          </m:r>
                        </m:e>
                        <m:sub>
                          <m:r>
                            <a:rPr lang="en-US" sz="2400">
                              <a:solidFill>
                                <a:srgbClr val="002060"/>
                              </a:solidFill>
                            </a:rPr>
                            <m:t>4</m:t>
                          </m:r>
                        </m:sub>
                      </m:sSub>
                      <m:r>
                        <a:rPr lang="en-US" sz="2400">
                          <a:solidFill>
                            <a:srgbClr val="002060"/>
                          </a:solidFill>
                        </a:rPr>
                        <m:t>=1</m:t>
                      </m:r>
                      <m:r>
                        <a:rPr lang="en-US" sz="2400">
                          <a:solidFill>
                            <a:srgbClr val="002060"/>
                          </a:solidFill>
                        </a:rPr>
                        <m:t>0000</m:t>
                      </m:r>
                      <m:r>
                        <a:rPr lang="en-US" sz="2400">
                          <a:solidFill>
                            <a:srgbClr val="002060"/>
                          </a:solidFill>
                        </a:rPr>
                        <m:t>0000</m:t>
                      </m:r>
                      <m:r>
                        <a:rPr lang="en-US" sz="2400">
                          <a:solidFill>
                            <a:srgbClr val="002060"/>
                          </a:solidFill>
                        </a:rPr>
                        <m:t>0000</m:t>
                      </m:r>
                      <m:r>
                        <a:rPr lang="en-US" sz="2400">
                          <a:solidFill>
                            <a:srgbClr val="002060"/>
                          </a:solidFill>
                        </a:rPr>
                        <m:t>0000</m:t>
                      </m:r>
                      <m:sSub>
                        <m:e>
                          <m:r>
                            <a:rPr lang="en-US" sz="2400">
                              <a:solidFill>
                                <a:srgbClr val="002060"/>
                              </a:solidFill>
                            </a:rPr>
                            <m:t>1</m:t>
                          </m:r>
                        </m:e>
                        <m:sub>
                          <m:r>
                            <a:rPr lang="en-US" sz="2400">
                              <a:solidFill>
                                <a:srgbClr val="002060"/>
                              </a:solidFill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</mc:Choice>
              <mc:Fallback>
                <a:r>
                  <a:rPr lang="en-US"/>
                  <a:t>[equation]</a:t>
                </a:r>
              </mc:Fallback>
            </mc:AlternateContent>
          </a:p>
          <a:p>
            <a:pPr algn="ctr">
              <a:spcAft>
                <a:spcPts val="600"/>
              </a:spcAft>
            </a:pPr>
            <a:r>
              <a:rPr sz="1500">
                <a:solidFill>
                  <a:srgbClr val="404040"/>
                </a:solidFill>
              </a:rPr>
              <a:t>the fourth (and largest known) Fermat prime — a 17-bit number with only two 1-bits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331720"/>
            <a:ext cx="3520440" cy="2743200"/>
          </a:xfrm>
          <a:prstGeom prst="roundRect">
            <a:avLst>
              <a:gd name="adj" fmla="val 6000"/>
            </a:avLst>
          </a:prstGeom>
          <a:solidFill>
            <a:srgbClr val="DEEBF7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49808" y="2404872"/>
            <a:ext cx="3300984" cy="2596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02060"/>
                </a:solidFill>
              </a:rPr>
              <a:t>1 · Fast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404040"/>
                </a:solidFill>
              </a:rPr>
              <a:t>Square-and-multiply follows the bits of e: only two 1-bits →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C00000"/>
                </a:solidFill>
              </a:rPr>
              <a:t>16 squarings + 1 multiplication</a:t>
            </a:r>
          </a:p>
          <a:p>
            <a:pPr algn="l">
              <a:spcAft>
                <a:spcPts val="0"/>
              </a:spcAft>
            </a:pPr>
            <a:r>
              <a:rPr sz="1400">
                <a:solidFill>
                  <a:srgbClr val="404040"/>
                </a:solidFill>
              </a:rPr>
              <a:t>Encryption and signature verification (the operations done by every client) are almost free; the cost sits in d, which is ~2048 random bits anyway.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2331720"/>
            <a:ext cx="3520440" cy="2743200"/>
          </a:xfrm>
          <a:prstGeom prst="roundRect">
            <a:avLst>
              <a:gd name="adj" fmla="val 6000"/>
            </a:avLst>
          </a:prstGeom>
          <a:solidFill>
            <a:srgbClr val="DEEBF7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453128" y="2404872"/>
            <a:ext cx="3300984" cy="2596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02060"/>
                </a:solidFill>
              </a:rPr>
              <a:t>2 · Always invertible</a:t>
            </a:r>
          </a:p>
          <a:p>
            <a:pPr algn="l">
              <a:spcAft>
                <a:spcPts val="400"/>
              </a:spcAft>
            </a:pPr>
            <a:r>
              <a:rPr sz="1500">
                <a:solidFill>
                  <a:srgbClr val="404040"/>
                </a:solidFill>
              </a:rPr>
              <a:t>Recipe R1 needs gcd(e, φ(N)) = 1.</a:t>
            </a:r>
          </a:p>
          <a:p>
            <a:pPr algn="l">
              <a:spcAft>
                <a:spcPts val="400"/>
              </a:spcAft>
            </a:pPr>
            <a:r>
              <a:rPr sz="1500">
                <a:solidFill>
                  <a:srgbClr val="404040"/>
                </a:solidFill>
              </a:rPr>
              <a:t>e prime ⇒ </a:t>
            </a:r>
            <a:r>
              <a:rPr sz="1500" b="1">
                <a:solidFill>
                  <a:srgbClr val="C00000"/>
                </a:solidFill>
              </a:rPr>
              <a:t>fails only if 65537 | φ(N)</a:t>
            </a:r>
          </a:p>
          <a:p>
            <a:pPr algn="l">
              <a:spcAft>
                <a:spcPts val="0"/>
              </a:spcAft>
            </a:pPr>
            <a:r>
              <a:rPr sz="1400">
                <a:solidFill>
                  <a:srgbClr val="404040"/>
                </a:solidFill>
              </a:rPr>
              <a:t>i.e. only if p ≡ 1 or q ≡ 1 (mod 65537): probability ≈ 2/65537 — then just pick another prime.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2331720"/>
            <a:ext cx="3520440" cy="2743200"/>
          </a:xfrm>
          <a:prstGeom prst="roundRect">
            <a:avLst>
              <a:gd name="adj" fmla="val 6000"/>
            </a:avLst>
          </a:prstGeom>
          <a:solidFill>
            <a:srgbClr val="DEEBF7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156448" y="2404872"/>
            <a:ext cx="3300984" cy="2596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02060"/>
                </a:solidFill>
              </a:rPr>
              <a:t>3 · Large enough to be safe</a:t>
            </a:r>
          </a:p>
          <a:p>
            <a:pPr algn="l">
              <a:spcAft>
                <a:spcPts val="400"/>
              </a:spcAft>
            </a:pPr>
            <a:r>
              <a:rPr sz="1500">
                <a:solidFill>
                  <a:srgbClr val="404040"/>
                </a:solidFill>
              </a:rPr>
              <a:t>Tiny e (e = 3) is even faster but exposes textbook RSA to low-exponent attacks: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sz="1400">
                <a:solidFill>
                  <a:srgbClr val="404040"/>
                </a:solidFill>
              </a:rPr>
              <a:t>if m³ &lt; N the cipher-text is m³ exactly — take a cube root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sz="1400">
                <a:solidFill>
                  <a:srgbClr val="404040"/>
                </a:solidFill>
              </a:rPr>
              <a:t>Håstad broadcast / Coppersmith: same m sent to e recipients</a:t>
            </a:r>
          </a:p>
          <a:p>
            <a:pPr algn="l">
              <a:spcAft>
                <a:spcPts val="0"/>
              </a:spcAft>
            </a:pPr>
            <a:r>
              <a:rPr sz="1400">
                <a:solidFill>
                  <a:srgbClr val="404040"/>
                </a:solidFill>
              </a:rPr>
              <a:t>65537 leaves no such room and costs only 17 operations.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5212080"/>
          <a:ext cx="1092708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188720"/>
                <a:gridCol w="2743200"/>
                <a:gridCol w="4983480"/>
              </a:tblGrid>
              <a:tr h="23774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e</a:t>
                      </a:r>
                    </a:p>
                  </a:txBody>
                  <a:tcPr marT="18288" marB="18288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1-bits</a:t>
                      </a:r>
                    </a:p>
                  </a:txBody>
                  <a:tcPr marT="18288" marB="18288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squarings + multiplications</a:t>
                      </a:r>
                    </a:p>
                  </a:txBody>
                  <a:tcPr marT="18288" marB="18288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remarks</a:t>
                      </a:r>
                    </a:p>
                  </a:txBody>
                  <a:tcPr marT="18288" marB="18288">
                    <a:solidFill>
                      <a:srgbClr val="002060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04040"/>
                          </a:solidFill>
                        </a:rPr>
                        <a:t>3</a:t>
                      </a:r>
                    </a:p>
                  </a:txBody>
                  <a:tcPr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04040"/>
                          </a:solidFill>
                        </a:rPr>
                        <a:t>2</a:t>
                      </a:r>
                    </a:p>
                  </a:txBody>
                  <a:tcPr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04040"/>
                          </a:solidFill>
                        </a:rPr>
                        <a:t>1 + 1</a:t>
                      </a:r>
                    </a:p>
                  </a:txBody>
                  <a:tcPr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04040"/>
                          </a:solidFill>
                        </a:rPr>
                        <a:t>fastest; unsafe without proper padding</a:t>
                      </a:r>
                    </a:p>
                  </a:txBody>
                  <a:tcPr marT="18288" marB="18288">
                    <a:solidFill>
                      <a:srgbClr val="F2F2F2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04040"/>
                          </a:solidFill>
                        </a:rPr>
                        <a:t>17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04040"/>
                          </a:solidFill>
                        </a:rPr>
                        <a:t>2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04040"/>
                          </a:solidFill>
                        </a:rPr>
                        <a:t>4 + 1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04040"/>
                          </a:solidFill>
                        </a:rPr>
                        <a:t>used in small textbook examples (N = 3233)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C00000"/>
                          </a:solidFill>
                        </a:rPr>
                        <a:t>65537</a:t>
                      </a:r>
                    </a:p>
                  </a:txBody>
                  <a:tcPr marT="18288" marB="18288">
                    <a:solidFill>
                      <a:srgbClr val="FBE5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C00000"/>
                          </a:solidFill>
                        </a:rPr>
                        <a:t>2</a:t>
                      </a:r>
                    </a:p>
                  </a:txBody>
                  <a:tcPr marT="18288" marB="18288">
                    <a:solidFill>
                      <a:srgbClr val="FBE5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C00000"/>
                          </a:solidFill>
                        </a:rPr>
                        <a:t>16 + 1</a:t>
                      </a:r>
                    </a:p>
                  </a:txBody>
                  <a:tcPr marT="18288" marB="18288">
                    <a:solidFill>
                      <a:srgbClr val="FBE5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C00000"/>
                          </a:solidFill>
                        </a:rPr>
                        <a:t>the standard choice (PKCS #1, FIPS 186, every TLS certificate)</a:t>
                      </a:r>
                    </a:p>
                  </a:txBody>
                  <a:tcPr marT="18288" marB="18288">
                    <a:solidFill>
                      <a:srgbClr val="FBE5E5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04040"/>
                          </a:solidFill>
                        </a:rPr>
                        <a:t>random 2048-bit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04040"/>
                          </a:solidFill>
                        </a:rPr>
                        <a:t>≈1024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04040"/>
                          </a:solidFill>
                        </a:rPr>
                        <a:t>2047 + ≈1023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04040"/>
                          </a:solidFill>
                        </a:rPr>
                        <a:t>no benefit: security does not depend on e being random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Band"/>
          <p:cNvSpPr/>
          <p:nvPr/>
        </p:nvSpPr>
        <p:spPr>
          <a:xfrm>
            <a:off x="0" y="0"/>
            <a:ext cx="12192000" cy="1153391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5069"/>
            <a:ext cx="10515600" cy="603250"/>
          </a:xfrm>
          <a:solidFill>
            <a:srgbClr val="C00000"/>
          </a:solidFill>
          <a:ln w="9525">
            <a:solidFill>
              <a:srgbClr val="FFFFFF"/>
            </a:solidFill>
          </a:ln>
        </p:spPr>
        <p:txBody>
          <a:bodyPr>
            <a:normAutofit/>
          </a:bodyPr>
          <a:lstStyle/>
          <a:p>
            <a:pPr algn="ctr"/>
            <a:r>
              <a:rPr sz="3600">
                <a:solidFill>
                  <a:srgbClr val="FFFFFF"/>
                </a:solidFill>
              </a:rPr>
              <a:t>Why decryption works — RSA correctness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17320"/>
            <a:ext cx="10927080" cy="1325880"/>
          </a:xfrm>
          <a:prstGeom prst="roundRect">
            <a:avLst>
              <a:gd name="adj" fmla="val 6000"/>
            </a:avLst>
          </a:prstGeom>
          <a:solidFill>
            <a:srgbClr val="DEEBF7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49808" y="1490472"/>
            <a:ext cx="10707624" cy="1179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02060"/>
                </a:solidFill>
              </a:rPr>
              <a:t>Theorem (RSA correctness)</a:t>
            </a:r>
          </a:p>
          <a:p>
            <a:pPr algn="l">
              <a:spcAft>
                <a:spcPts val="200"/>
              </a:spcAft>
            </a:pPr>
            <a:r>
              <a:rPr sz="1600">
                <a:solidFill>
                  <a:srgbClr val="404040"/>
                </a:solidFill>
              </a:rPr>
              <a:t>With the parameters of Recipe R1, for every integer m with 0 ≤ m &lt; N:</a:t>
            </a:r>
          </a:p>
          <a:p>
            <a:pPr algn="ctr">
              <a:spcAft>
                <a:spcPts val="400"/>
              </a:spcAft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Para>
                    <m:oMathParaPr>
                      <m:jc m:val="center"/>
                    </m:oMathParaPr>
                    <m:oMath>
                      <m:sSup>
                        <m:e>
                          <m:d>
                            <m:dPr>
                              <m:sepChr m:val=""/>
                            </m:dPr>
                            <m:e>
                              <m:sSup>
                                <m:e>
                                  <m:r>
                                    <a:rPr lang="en-US" sz="2400">
                                      <a:solidFill>
                                        <a:srgbClr val="C00000"/>
                                      </a:solidFill>
                                    </a:rPr>
                                    <m:t>m</m:t>
                                  </m:r>
                                </m:e>
                                <m:sup>
                                  <m:r>
                                    <a:rPr lang="en-US" sz="2400">
                                      <a:solidFill>
                                        <a:srgbClr val="C00000"/>
                                      </a:solidFill>
                                    </a:rPr>
                                    <m:t>e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sz="2400">
                              <a:solidFill>
                                <a:srgbClr val="C00000"/>
                              </a:solidFill>
                            </a:rPr>
                            <m:t>d</m:t>
                          </m:r>
                        </m:sup>
                      </m:sSup>
                      <m:r>
                        <a:rPr lang="en-US" sz="2400">
                          <a:solidFill>
                            <a:srgbClr val="C00000"/>
                          </a:solidFill>
                        </a:rPr>
                        <m:t>≡m</m:t>
                      </m:r>
                      <m:r>
                        <a:rPr lang="en-US" sz="2400">
                          <a:solidFill>
                            <a:srgbClr val="C00000"/>
                          </a:solidFill>
                        </a:rPr>
                        <m:rPr>
                          <m:sty m:val="p"/>
                        </m:rPr>
                        <m:t> </m:t>
                      </m:r>
                      <m:d>
                        <m:dPr>
                          <m:sepChr m:val=""/>
                        </m:dPr>
                        <m:e>
                          <m:r>
                            <a:rPr lang="en-US" sz="2400">
                              <a:solidFill>
                                <a:srgbClr val="C00000"/>
                              </a:solidFill>
                            </a:rPr>
                            <m:rPr>
                              <m:sty m:val="p"/>
                            </m:rPr>
                            <m:t>mod</m:t>
                          </m:r>
                          <m:r>
                            <a:rPr lang="en-US" sz="2400">
                              <a:solidFill>
                                <a:srgbClr val="C00000"/>
                              </a:solidFill>
                            </a:rPr>
                            <m:rPr>
                              <m:sty m:val="p"/>
                            </m:rPr>
                            <m:t> </m:t>
                          </m:r>
                          <m:r>
                            <a:rPr lang="en-US" sz="2400">
                              <a:solidFill>
                                <a:srgbClr val="C00000"/>
                              </a:solidFill>
                            </a:rPr>
                            <m:t>N</m:t>
                          </m:r>
                        </m:e>
                      </m:d>
                    </m:oMath>
                  </m:oMathPara>
                </a14:m>
              </mc:Choice>
              <mc:Fallback>
                <a:r>
                  <a:rPr lang="en-US"/>
                  <a:t>[equation]</a:t>
                </a:r>
              </mc:Fallback>
            </mc:AlternateContent>
          </a:p>
        </p:txBody>
      </p:sp>
      <p:sp>
        <p:nvSpPr>
          <p:cNvPr id="6" name="Rounded Rectangle 5"/>
          <p:cNvSpPr/>
          <p:nvPr/>
        </p:nvSpPr>
        <p:spPr>
          <a:xfrm>
            <a:off x="640080" y="2880360"/>
            <a:ext cx="3474720" cy="34747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49808" y="2953512"/>
            <a:ext cx="3255263" cy="33284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02060"/>
                </a:solidFill>
              </a:rPr>
              <a:t>Step 0 — unpack d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404040"/>
                </a:solidFill>
              </a:rPr>
              <a:t>By construction ed ≡ 1 (mod φ(N)), so</a:t>
            </a:r>
          </a:p>
          <a:p>
            <a:pPr algn="ctr">
              <a:spcAft>
                <a:spcPts val="400"/>
              </a:spcAft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Para>
                    <m:oMathParaPr>
                      <m:jc m:val="center"/>
                    </m:oMathParaPr>
                    <m:oMath>
                      <m:r>
                        <a:rPr lang="en-US" sz="1800">
                          <a:solidFill>
                            <a:srgbClr val="002060"/>
                          </a:solidFill>
                        </a:rPr>
                        <m:t>ed=1+k</m:t>
                      </m:r>
                      <m:r>
                        <a:rPr lang="en-US" sz="1800">
                          <a:solidFill>
                            <a:srgbClr val="002060"/>
                          </a:solidFill>
                        </a:rPr>
                        <m:t>φ(N)=1+k(p−1)(q−1)</m:t>
                      </m:r>
                    </m:oMath>
                  </m:oMathPara>
                </a14:m>
              </mc:Choice>
              <mc:Fallback>
                <a:r>
                  <a:rPr lang="en-US"/>
                  <a:t>[equation]</a:t>
                </a:r>
              </mc:Fallback>
            </mc:AlternateContent>
          </a:p>
          <a:p>
            <a:pPr algn="l">
              <a:spcAft>
                <a:spcPts val="0"/>
              </a:spcAft>
            </a:pPr>
            <a:r>
              <a:rPr sz="1500">
                <a:solidFill>
                  <a:srgbClr val="404040"/>
                </a:solidFill>
              </a:rPr>
              <a:t>for some integer k ≥ 0.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2880360"/>
            <a:ext cx="3474720" cy="34747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453128" y="2953512"/>
            <a:ext cx="3255263" cy="33284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02060"/>
                </a:solidFill>
              </a:rPr>
              <a:t>Step 1 — modulo p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404040"/>
                </a:solidFill>
              </a:rPr>
              <a:t>If p | m: m^ed ≡ 0 ≡ m (mod p). Otherwise gcd(m, p) = 1 and Fermat gives m^(p−1) ≡ 1, so</a:t>
            </a:r>
          </a:p>
          <a:p>
            <a:pPr algn="ctr">
              <a:spcAft>
                <a:spcPts val="400"/>
              </a:spcAft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Para>
                    <m:oMathParaPr>
                      <m:jc m:val="center"/>
                    </m:oMathParaPr>
                    <m:oMath>
                      <m:sSup>
                        <m:e>
                          <m:r>
                            <a:rPr lang="en-US" sz="1700">
                              <a:solidFill>
                                <a:srgbClr val="002060"/>
                              </a:solidFill>
                            </a:rPr>
                            <m:t>m</m:t>
                          </m:r>
                        </m:e>
                        <m:sup>
                          <m:r>
                            <a:rPr lang="en-US" sz="1700">
                              <a:solidFill>
                                <a:srgbClr val="002060"/>
                              </a:solidFill>
                            </a:rPr>
                            <m:t>ed</m:t>
                          </m:r>
                        </m:sup>
                      </m:sSup>
                      <m:r>
                        <a:rPr lang="en-US" sz="1700">
                          <a:solidFill>
                            <a:srgbClr val="002060"/>
                          </a:solidFill>
                        </a:rPr>
                        <m:t>=m·</m:t>
                      </m:r>
                      <m:sSup>
                        <m:e>
                          <m:d>
                            <m:dPr>
                              <m:sepChr m:val=""/>
                            </m:dPr>
                            <m:e>
                              <m:sSup>
                                <m:e>
                                  <m:r>
                                    <a:rPr lang="en-US" sz="1700">
                                      <a:solidFill>
                                        <a:srgbClr val="002060"/>
                                      </a:solidFill>
                                    </a:rPr>
                                    <m:t>m</m:t>
                                  </m:r>
                                </m:e>
                                <m:sup>
                                  <m:r>
                                    <a:rPr lang="en-US" sz="1700">
                                      <a:solidFill>
                                        <a:srgbClr val="002060"/>
                                      </a:solidFill>
                                    </a:rPr>
                                    <m:t>p−1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sz="1700">
                              <a:solidFill>
                                <a:srgbClr val="002060"/>
                              </a:solidFill>
                            </a:rPr>
                            <m:t>k(q−1)</m:t>
                          </m:r>
                        </m:sup>
                      </m:sSup>
                      <m:r>
                        <a:rPr lang="en-US" sz="1700">
                          <a:solidFill>
                            <a:srgbClr val="002060"/>
                          </a:solidFill>
                        </a:rPr>
                        <m:t>≡m</m:t>
                      </m:r>
                      <m:r>
                        <a:rPr lang="en-US" sz="1700">
                          <a:solidFill>
                            <a:srgbClr val="002060"/>
                          </a:solidFill>
                        </a:rPr>
                        <m:rPr>
                          <m:sty m:val="p"/>
                        </m:rPr>
                        <m:t> </m:t>
                      </m:r>
                      <m:d>
                        <m:dPr>
                          <m:sepChr m:val=""/>
                        </m:dPr>
                        <m:e>
                          <m:r>
                            <a:rPr lang="en-US" sz="1700">
                              <a:solidFill>
                                <a:srgbClr val="002060"/>
                              </a:solidFill>
                            </a:rPr>
                            <m:rPr>
                              <m:sty m:val="p"/>
                            </m:rPr>
                            <m:t>mod</m:t>
                          </m:r>
                          <m:r>
                            <a:rPr lang="en-US" sz="1700">
                              <a:solidFill>
                                <a:srgbClr val="002060"/>
                              </a:solidFill>
                            </a:rPr>
                            <m:rPr>
                              <m:sty m:val="p"/>
                            </m:rPr>
                            <m:t> </m:t>
                          </m:r>
                          <m:r>
                            <a:rPr lang="en-US" sz="1700">
                              <a:solidFill>
                                <a:srgbClr val="002060"/>
                              </a:solidFill>
                            </a:rPr>
                            <m:t>p</m:t>
                          </m:r>
                        </m:e>
                      </m:d>
                    </m:oMath>
                  </m:oMathPara>
                </a14:m>
              </mc:Choice>
              <mc:Fallback>
                <a:r>
                  <a:rPr lang="en-US"/>
                  <a:t>[equation]</a:t>
                </a:r>
              </mc:Fallback>
            </mc:AlternateContent>
          </a:p>
          <a:p>
            <a:pPr algn="l">
              <a:spcAft>
                <a:spcPts val="0"/>
              </a:spcAft>
            </a:pPr>
            <a:r>
              <a:rPr sz="1500" b="1">
                <a:solidFill>
                  <a:srgbClr val="404040"/>
                </a:solidFill>
              </a:rPr>
              <a:t>Step 2 — modulo q: identical argument.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880360"/>
            <a:ext cx="3520440" cy="34747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156448" y="2953512"/>
            <a:ext cx="3300984" cy="33284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02060"/>
                </a:solidFill>
              </a:rPr>
              <a:t>Step 3 — CRT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404040"/>
                </a:solidFill>
              </a:rPr>
              <a:t>m^ed − m is divisible by both p and q, which are coprime, hence by N = pq:</a:t>
            </a:r>
          </a:p>
          <a:p>
            <a:pPr algn="ctr">
              <a:spcAft>
                <a:spcPts val="400"/>
              </a:spcAft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Para>
                    <m:oMathParaPr>
                      <m:jc m:val="center"/>
                    </m:oMathParaPr>
                    <m:oMath>
                      <m:sSup>
                        <m:e>
                          <m:r>
                            <a:rPr lang="en-US" sz="1800">
                              <a:solidFill>
                                <a:srgbClr val="002060"/>
                              </a:solidFill>
                            </a:rPr>
                            <m:t>m</m:t>
                          </m:r>
                        </m:e>
                        <m:sup>
                          <m:r>
                            <a:rPr lang="en-US" sz="1800">
                              <a:solidFill>
                                <a:srgbClr val="002060"/>
                              </a:solidFill>
                            </a:rPr>
                            <m:t>ed</m:t>
                          </m:r>
                        </m:sup>
                      </m:sSup>
                      <m:r>
                        <a:rPr lang="en-US" sz="1800">
                          <a:solidFill>
                            <a:srgbClr val="002060"/>
                          </a:solidFill>
                        </a:rPr>
                        <m:t>≡m</m:t>
                      </m:r>
                      <m:r>
                        <a:rPr lang="en-US" sz="1800">
                          <a:solidFill>
                            <a:srgbClr val="002060"/>
                          </a:solidFill>
                        </a:rPr>
                        <m:rPr>
                          <m:sty m:val="p"/>
                        </m:rPr>
                        <m:t> </m:t>
                      </m:r>
                      <m:d>
                        <m:dPr>
                          <m:sepChr m:val=""/>
                        </m:dPr>
                        <m:e>
                          <m:r>
                            <a:rPr lang="en-US" sz="1800">
                              <a:solidFill>
                                <a:srgbClr val="002060"/>
                              </a:solidFill>
                            </a:rPr>
                            <m:rPr>
                              <m:sty m:val="p"/>
                            </m:rPr>
                            <m:t>mod</m:t>
                          </m:r>
                          <m:r>
                            <a:rPr lang="en-US" sz="1800">
                              <a:solidFill>
                                <a:srgbClr val="002060"/>
                              </a:solidFill>
                            </a:rPr>
                            <m:rPr>
                              <m:sty m:val="p"/>
                            </m:rPr>
                            <m:t> </m:t>
                          </m:r>
                          <m:r>
                            <a:rPr lang="en-US" sz="1800">
                              <a:solidFill>
                                <a:srgbClr val="002060"/>
                              </a:solidFill>
                            </a:rPr>
                            <m:t>N</m:t>
                          </m:r>
                        </m:e>
                      </m:d>
                      <m:r>
                        <a:rPr lang="en-US" sz="1800">
                          <a:solidFill>
                            <a:srgbClr val="002060"/>
                          </a:solidFill>
                        </a:rPr>
                        <m:rPr>
                          <m:sty m:val="p"/>
                        </m:rPr>
                        <m:t>   </m:t>
                      </m:r>
                      <m:r>
                        <a:rPr lang="en-US" sz="1800">
                          <a:solidFill>
                            <a:srgbClr val="002060"/>
                          </a:solidFill>
                        </a:rPr>
                        <m:t>∎</m:t>
                      </m:r>
                    </m:oMath>
                  </m:oMathPara>
                </a14:m>
              </mc:Choice>
              <mc:Fallback>
                <a:r>
                  <a:rPr lang="en-US"/>
                  <a:t>[equation]</a:t>
                </a:r>
              </mc:Fallback>
            </mc:AlternateContent>
          </a:p>
          <a:p>
            <a:pPr algn="l">
              <a:spcAft>
                <a:spcPts val="0"/>
              </a:spcAft>
            </a:pPr>
            <a:r>
              <a:rPr sz="1500" b="1">
                <a:solidFill>
                  <a:srgbClr val="C00000"/>
                </a:solidFill>
              </a:rPr>
              <a:t>Everything used: Bézout (d exists), Fermat (the exponent collapses), CRT (glue).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Band"/>
          <p:cNvSpPr/>
          <p:nvPr/>
        </p:nvSpPr>
        <p:spPr>
          <a:xfrm>
            <a:off x="0" y="0"/>
            <a:ext cx="12192000" cy="1153391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5069"/>
            <a:ext cx="10515600" cy="603250"/>
          </a:xfrm>
          <a:solidFill>
            <a:srgbClr val="C00000"/>
          </a:solidFill>
          <a:ln w="9525">
            <a:solidFill>
              <a:srgbClr val="FFFFFF"/>
            </a:solidFill>
          </a:ln>
        </p:spPr>
        <p:txBody>
          <a:bodyPr>
            <a:normAutofit/>
          </a:bodyPr>
          <a:lstStyle/>
          <a:p>
            <a:pPr algn="ctr"/>
            <a:r>
              <a:rPr sz="3600">
                <a:solidFill>
                  <a:srgbClr val="FFFFFF"/>
                </a:solidFill>
              </a:rPr>
              <a:t>RSA by hand: p = 5, q = 11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17320"/>
            <a:ext cx="3520440" cy="4937760"/>
          </a:xfrm>
          <a:prstGeom prst="roundRect">
            <a:avLst>
              <a:gd name="adj" fmla="val 6000"/>
            </a:avLst>
          </a:prstGeom>
          <a:solidFill>
            <a:srgbClr val="DEEBF7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49808" y="1490472"/>
            <a:ext cx="3300984" cy="4791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02060"/>
                </a:solidFill>
              </a:rPr>
              <a:t>Key generation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sz="1600">
                <a:solidFill>
                  <a:srgbClr val="404040"/>
                </a:solidFill>
              </a:rPr>
              <a:t>N = 5 · 11 = 55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sz="1600">
                <a:solidFill>
                  <a:srgbClr val="404040"/>
                </a:solidFill>
              </a:rPr>
              <a:t>φ(N) = 4 · 10 = 40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sz="1600">
                <a:solidFill>
                  <a:srgbClr val="404040"/>
                </a:solidFill>
              </a:rPr>
              <a:t>e = 3  (gcd(3, 40) = 1)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sz="1600">
                <a:solidFill>
                  <a:srgbClr val="404040"/>
                </a:solidFill>
              </a:rPr>
              <a:t>d: 3d ≡ 1 (mod 40). Since 3·27 = 81 = 2·40 + 1, d = 27</a:t>
            </a:r>
          </a:p>
          <a:p>
            <a:pPr algn="l">
              <a:spcAft>
                <a:spcPts val="200"/>
              </a:spcAft>
            </a:pPr>
            <a:r>
              <a:rPr sz="1600" b="1">
                <a:solidFill>
                  <a:srgbClr val="37863C"/>
                </a:solidFill>
              </a:rPr>
              <a:t>pk = (55, 3)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C00000"/>
                </a:solidFill>
              </a:rPr>
              <a:t>sk = (55, 27)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417320"/>
            <a:ext cx="3520440" cy="49377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453128" y="1490472"/>
            <a:ext cx="3300984" cy="4791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02060"/>
                </a:solidFill>
              </a:rPr>
              <a:t>Encrypt m = 7</a:t>
            </a:r>
          </a:p>
          <a:p>
            <a:pPr algn="l">
              <a:spcAft>
                <a:spcPts val="400"/>
              </a:spcAft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Para>
                    <m:oMathParaPr>
                      <m:jc m:val="left"/>
                    </m:oMathParaPr>
                    <m:oMath>
                      <m:r>
                        <a:rPr lang="en-US" sz="1600">
                          <a:solidFill>
                            <a:srgbClr val="002060"/>
                          </a:solidFill>
                        </a:rPr>
                        <m:t>c=</m:t>
                      </m:r>
                      <m:sSup>
                        <m:e>
                          <m:r>
                            <a:rPr lang="en-US" sz="1600">
                              <a:solidFill>
                                <a:srgbClr val="002060"/>
                              </a:solidFill>
                            </a:rPr>
                            <m:t>7</m:t>
                          </m:r>
                        </m:e>
                        <m:sup>
                          <m:r>
                            <a:rPr lang="en-US" sz="1600">
                              <a:solidFill>
                                <a:srgbClr val="002060"/>
                              </a:solidFill>
                            </a:rPr>
                            <m:t>3</m:t>
                          </m:r>
                        </m:sup>
                      </m:sSup>
                      <m:r>
                        <a:rPr lang="en-US" sz="1600">
                          <a:solidFill>
                            <a:srgbClr val="002060"/>
                          </a:solidFill>
                        </a:rPr>
                        <m:rPr>
                          <m:sty m:val="p"/>
                        </m:rPr>
                        <m:t> </m:t>
                      </m:r>
                      <m:r>
                        <a:rPr lang="en-US" sz="1600">
                          <a:solidFill>
                            <a:srgbClr val="002060"/>
                          </a:solidFill>
                        </a:rPr>
                        <m:rPr>
                          <m:sty m:val="p"/>
                        </m:rPr>
                        <m:t>mod</m:t>
                      </m:r>
                      <m:r>
                        <a:rPr lang="en-US" sz="1600">
                          <a:solidFill>
                            <a:srgbClr val="002060"/>
                          </a:solidFill>
                        </a:rPr>
                        <m:rPr>
                          <m:sty m:val="p"/>
                        </m:rPr>
                        <m:t> </m:t>
                      </m:r>
                      <m:r>
                        <a:rPr lang="en-US" sz="1600">
                          <a:solidFill>
                            <a:srgbClr val="002060"/>
                          </a:solidFill>
                        </a:rPr>
                        <m:t>55=343</m:t>
                      </m:r>
                      <m:r>
                        <a:rPr lang="en-US" sz="1600">
                          <a:solidFill>
                            <a:srgbClr val="002060"/>
                          </a:solidFill>
                        </a:rPr>
                        <m:rPr>
                          <m:sty m:val="p"/>
                        </m:rPr>
                        <m:t> </m:t>
                      </m:r>
                      <m:r>
                        <a:rPr lang="en-US" sz="1600">
                          <a:solidFill>
                            <a:srgbClr val="002060"/>
                          </a:solidFill>
                        </a:rPr>
                        <m:rPr>
                          <m:sty m:val="p"/>
                        </m:rPr>
                        <m:t>mod</m:t>
                      </m:r>
                      <m:r>
                        <a:rPr lang="en-US" sz="1600">
                          <a:solidFill>
                            <a:srgbClr val="002060"/>
                          </a:solidFill>
                        </a:rPr>
                        <m:rPr>
                          <m:sty m:val="p"/>
                        </m:rPr>
                        <m:t> </m:t>
                      </m:r>
                      <m:r>
                        <a:rPr lang="en-US" sz="1600">
                          <a:solidFill>
                            <a:srgbClr val="002060"/>
                          </a:solidFill>
                        </a:rPr>
                        <m:t>55=13</m:t>
                      </m:r>
                    </m:oMath>
                  </m:oMathPara>
                </a14:m>
              </mc:Choice>
              <mc:Fallback>
                <a:r>
                  <a:rPr lang="en-US"/>
                  <a:t>[equation]</a:t>
                </a:r>
              </mc:Fallback>
            </mc:AlternateContent>
          </a:p>
          <a:p>
            <a:pPr algn="l">
              <a:spcAft>
                <a:spcPts val="1000"/>
              </a:spcAft>
            </a:pPr>
            <a:r>
              <a:rPr sz="1400">
                <a:solidFill>
                  <a:srgbClr val="404040"/>
                </a:solidFill>
              </a:rPr>
              <a:t>343 = 6·55 + 13</a:t>
            </a:r>
          </a:p>
          <a:p>
            <a:pPr algn="l">
              <a:spcAft>
                <a:spcPts val="400"/>
              </a:spcAft>
            </a:pPr>
            <a:r>
              <a:rPr sz="1800" b="1">
                <a:solidFill>
                  <a:srgbClr val="002060"/>
                </a:solidFill>
              </a:rPr>
              <a:t>Decrypt c = 13 (with CRT)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sz="1400">
                <a:solidFill>
                  <a:srgbClr val="404040"/>
                </a:solidFill>
              </a:rPr>
              <a:t>mod 5: 13 ≡ 3,  3²⁷ ≡ 3^(27 mod 4) = 3³ = 27 ≡ 2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sz="1400">
                <a:solidFill>
                  <a:srgbClr val="404040"/>
                </a:solidFill>
              </a:rPr>
              <a:t>mod 11: 13 ≡ 2,  2²⁷ ≡ 2^(27 mod 10) = 2⁷ = 128 ≡ 7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sz="1400">
                <a:solidFill>
                  <a:srgbClr val="404040"/>
                </a:solidFill>
              </a:rPr>
              <a:t>CRT: x ≡ 2 (mod 5), x ≡ 7 (mod 11)  ⇒  x = 7  ✓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417320"/>
            <a:ext cx="3520440" cy="49377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56448" y="1490472"/>
            <a:ext cx="3300984" cy="4791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02060"/>
                </a:solidFill>
              </a:rPr>
              <a:t>The textbook ‘big’ example</a:t>
            </a:r>
          </a:p>
          <a:p>
            <a:pPr algn="l">
              <a:spcAft>
                <a:spcPts val="600"/>
              </a:spcAft>
            </a:pPr>
            <a:r>
              <a:rPr sz="1300">
                <a:solidFill>
                  <a:srgbClr val="404040"/>
                </a:solidFill>
              </a:rPr>
              <a:t>(RSA example.ipynb in the course repo)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sz="1500">
                <a:solidFill>
                  <a:srgbClr val="404040"/>
                </a:solidFill>
              </a:rPr>
              <a:t>p = 61, q = 53 → N = 3233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sz="1500">
                <a:solidFill>
                  <a:srgbClr val="404040"/>
                </a:solidFill>
              </a:rPr>
              <a:t>φ(N) = 60 · 52 = 3120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sz="1500">
                <a:solidFill>
                  <a:srgbClr val="404040"/>
                </a:solidFill>
              </a:rPr>
              <a:t>e = 17, d = 2753  (17 · 2753 = 46801 = 15·3120 + 1)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sz="1500">
                <a:solidFill>
                  <a:srgbClr val="404040"/>
                </a:solidFill>
              </a:rPr>
              <a:t>m = 65 → c = 65¹⁷ mod 3233 = 2790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sz="1500">
                <a:solidFill>
                  <a:srgbClr val="404040"/>
                </a:solidFill>
              </a:rPr>
              <a:t>2790²⁷⁵³ mod 3233 = 65  ✓</a:t>
            </a:r>
          </a:p>
          <a:p>
            <a:pPr algn="l">
              <a:spcAft>
                <a:spcPts val="0"/>
              </a:spcAft>
            </a:pPr>
            <a:r>
              <a:rPr sz="1400" b="1">
                <a:solidFill>
                  <a:srgbClr val="C00000"/>
                </a:solidFill>
              </a:rPr>
              <a:t>Real keys: N has ~617 decimal digits.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Band"/>
          <p:cNvSpPr/>
          <p:nvPr/>
        </p:nvSpPr>
        <p:spPr>
          <a:xfrm>
            <a:off x="0" y="0"/>
            <a:ext cx="12192000" cy="1153391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5069"/>
            <a:ext cx="10515600" cy="603250"/>
          </a:xfrm>
          <a:solidFill>
            <a:srgbClr val="C00000"/>
          </a:solidFill>
          <a:ln w="9525">
            <a:solidFill>
              <a:srgbClr val="FFFFFF"/>
            </a:solidFill>
          </a:ln>
        </p:spPr>
        <p:txBody>
          <a:bodyPr>
            <a:normAutofit/>
          </a:bodyPr>
          <a:lstStyle/>
          <a:p>
            <a:pPr algn="ctr"/>
            <a:r>
              <a:rPr sz="3600">
                <a:solidFill>
                  <a:srgbClr val="FFFFFF"/>
                </a:solidFill>
              </a:rPr>
              <a:t>Security: what an attacker must do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17320"/>
            <a:ext cx="5760720" cy="2514600"/>
          </a:xfrm>
          <a:prstGeom prst="roundRect">
            <a:avLst>
              <a:gd name="adj" fmla="val 6000"/>
            </a:avLst>
          </a:prstGeom>
          <a:solidFill>
            <a:srgbClr val="DEEBF7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49808" y="1490472"/>
            <a:ext cx="5541264" cy="23682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02060"/>
                </a:solidFill>
              </a:rPr>
              <a:t>Proposition — knowing φ(N) is as hard as factoring</a:t>
            </a:r>
          </a:p>
          <a:p>
            <a:pPr algn="l">
              <a:spcAft>
                <a:spcPts val="400"/>
              </a:spcAft>
            </a:pPr>
            <a:r>
              <a:rPr sz="1500">
                <a:solidFill>
                  <a:srgbClr val="404040"/>
                </a:solidFill>
              </a:rPr>
              <a:t>Given N = pq, recovering φ(N) is computationally equivalent to factoring N.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404040"/>
                </a:solidFill>
              </a:rPr>
              <a:t>Proof. </a:t>
            </a:r>
            <a:r>
              <a:rPr sz="1500">
                <a:solidFill>
                  <a:srgbClr val="404040"/>
                </a:solidFill>
              </a:rPr>
              <a:t>From φ(N) = N − (p + q) + 1 we get s := p + q = N − φ(N) + 1; then p, q are the roots of</a:t>
            </a:r>
          </a:p>
          <a:p>
            <a:pPr algn="ctr">
              <a:spcAft>
                <a:spcPts val="400"/>
              </a:spcAft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Para>
                    <m:oMathParaPr>
                      <m:jc m:val="center"/>
                    </m:oMathParaPr>
                    <m:oMath>
                      <m:sSup>
                        <m:e>
                          <m:r>
                            <a:rPr lang="en-US" sz="1800">
                              <a:solidFill>
                                <a:srgbClr val="002060"/>
                              </a:solidFill>
                            </a:rPr>
                            <m:t>t</m:t>
                          </m:r>
                        </m:e>
                        <m:sup>
                          <m:r>
                            <a:rPr lang="en-US" sz="1800">
                              <a:solidFill>
                                <a:srgbClr val="002060"/>
                              </a:solidFill>
                            </a:rPr>
                            <m:t>2</m:t>
                          </m:r>
                        </m:sup>
                      </m:sSup>
                      <m:r>
                        <a:rPr lang="en-US" sz="1800">
                          <a:solidFill>
                            <a:srgbClr val="002060"/>
                          </a:solidFill>
                        </a:rPr>
                        <m:t>−s</m:t>
                      </m:r>
                      <m:r>
                        <a:rPr lang="en-US" sz="1800">
                          <a:solidFill>
                            <a:srgbClr val="002060"/>
                          </a:solidFill>
                        </a:rPr>
                        <m:t>t+N=0,</m:t>
                      </m:r>
                      <m:r>
                        <a:rPr lang="en-US" sz="1800">
                          <a:solidFill>
                            <a:srgbClr val="002060"/>
                          </a:solidFill>
                        </a:rPr>
                        <m:rPr>
                          <m:sty m:val="p"/>
                        </m:rPr>
                        <m:t>      </m:t>
                      </m:r>
                      <m:r>
                        <a:rPr lang="en-US" sz="1800">
                          <a:solidFill>
                            <a:srgbClr val="002060"/>
                          </a:solidFill>
                        </a:rPr>
                        <m:t>p,q=</m:t>
                      </m:r>
                      <m:f>
                        <m:fPr>
                          <m:type m:val="bar"/>
                        </m:fPr>
                        <m:num>
                          <m:r>
                            <a:rPr lang="en-US" sz="1800">
                              <a:solidFill>
                                <a:srgbClr val="002060"/>
                              </a:solidFill>
                            </a:rPr>
                            <m:t>s±</m:t>
                          </m:r>
                          <m:rad>
                            <m:radPr>
                              <m:degHide m:val="on"/>
                            </m:radPr>
                            <m:deg/>
                            <m:e>
                              <m:sSup>
                                <m:e>
                                  <m:r>
                                    <a:rPr lang="en-US" sz="1800">
                                      <a:solidFill>
                                        <a:srgbClr val="002060"/>
                                      </a:solidFill>
                                    </a:rPr>
                                    <m:t>s</m:t>
                                  </m:r>
                                </m:e>
                                <m:sup>
                                  <m:r>
                                    <a:rPr lang="en-US" sz="1800">
                                      <a:solidFill>
                                        <a:srgbClr val="002060"/>
                                      </a:solidFill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1800">
                                  <a:solidFill>
                                    <a:srgbClr val="002060"/>
                                  </a:solidFill>
                                </a:rPr>
                                <m:t>−4N</m:t>
                              </m:r>
                            </m:e>
                          </m:rad>
                        </m:num>
                        <m:den>
                          <m:r>
                            <a:rPr lang="en-US" sz="1800">
                              <a:solidFill>
                                <a:srgbClr val="002060"/>
                              </a:solidFill>
                            </a:rPr>
                            <m:t>2</m:t>
                          </m:r>
                        </m:den>
                      </m:f>
                      <m:r>
                        <a:rPr lang="en-US" sz="1800">
                          <a:solidFill>
                            <a:srgbClr val="002060"/>
                          </a:solidFill>
                        </a:rPr>
                        <m:rPr>
                          <m:sty m:val="p"/>
                        </m:rPr>
                        <m:t>   </m:t>
                      </m:r>
                      <m:r>
                        <a:rPr lang="en-US" sz="1800">
                          <a:solidFill>
                            <a:srgbClr val="002060"/>
                          </a:solidFill>
                        </a:rPr>
                        <m:t>∎</m:t>
                      </m:r>
                    </m:oMath>
                  </m:oMathPara>
                </a14:m>
              </mc:Choice>
              <mc:Fallback>
                <a:r>
                  <a:rPr lang="en-US"/>
                  <a:t>[equation]</a:t>
                </a:r>
              </mc:Fallback>
            </mc:AlternateContent>
          </a:p>
        </p:txBody>
      </p:sp>
      <p:sp>
        <p:nvSpPr>
          <p:cNvPr id="6" name="Rounded Rectangle 5"/>
          <p:cNvSpPr/>
          <p:nvPr/>
        </p:nvSpPr>
        <p:spPr>
          <a:xfrm>
            <a:off x="6629400" y="1417320"/>
            <a:ext cx="4937760" cy="25146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739128" y="1490472"/>
            <a:ext cx="4718304" cy="23682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02060"/>
                </a:solidFill>
              </a:rPr>
              <a:t>Best classical attack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404040"/>
                </a:solidFill>
              </a:rPr>
              <a:t>General Number Field Sieve — sub-exponential but super-polynomial:</a:t>
            </a:r>
          </a:p>
          <a:p>
            <a:pPr algn="ctr">
              <a:spcAft>
                <a:spcPts val="400"/>
              </a:spcAft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Para>
                    <m:oMathParaPr>
                      <m:jc m:val="center"/>
                    </m:oMathParaPr>
                    <m:oMath>
                      <m:r>
                        <a:rPr lang="en-US" sz="1800">
                          <a:solidFill>
                            <a:srgbClr val="002060"/>
                          </a:solidFill>
                        </a:rPr>
                        <m:rPr>
                          <m:sty m:val="p"/>
                        </m:rPr>
                        <m:t>exp</m:t>
                      </m:r>
                      <m:d>
                        <m:dPr>
                          <m:sepChr m:val=""/>
                        </m:dPr>
                        <m:e>
                          <m:r>
                            <a:rPr lang="en-US" sz="1800">
                              <a:solidFill>
                                <a:srgbClr val="002060"/>
                              </a:solidFill>
                            </a:rPr>
                            <m:t>O</m:t>
                          </m:r>
                          <m:d>
                            <m:dPr>
                              <m:sepChr m:val=""/>
                            </m:dPr>
                            <m:e>
                              <m:sSup>
                                <m:e>
                                  <m:d>
                                    <m:dPr>
                                      <m:sepChr m:val=""/>
                                    </m:dPr>
                                    <m:e>
                                      <m:r>
                                        <a:rPr lang="en-US" sz="1800">
                                          <a:solidFill>
                                            <a:srgbClr val="002060"/>
                                          </a:solidFill>
                                        </a:rPr>
                                        <m:rPr>
                                          <m:sty m:val="p"/>
                                        </m:rPr>
                                        <m:t>log</m:t>
                                      </m:r>
                                      <m:r>
                                        <a:rPr lang="en-US" sz="1800">
                                          <a:solidFill>
                                            <a:srgbClr val="002060"/>
                                          </a:solidFill>
                                        </a:rPr>
                                        <m:t>N</m:t>
                                      </m:r>
                                      <m:sSup>
                                        <m:e>
                                          <m:r>
                                            <a:rPr lang="en-US" sz="1800">
                                              <a:solidFill>
                                                <a:srgbClr val="002060"/>
                                              </a:solidFill>
                                            </a:rPr>
                                            <m:t>)</m:t>
                                          </m:r>
                                        </m:e>
                                        <m:sup>
                                          <m:f>
                                            <m:fPr>
                                              <m:type m:val="lin"/>
                                            </m:fPr>
                                            <m:num>
                                              <m:r>
                                                <a:rPr lang="en-US" sz="1800">
                                                  <a:solidFill>
                                                    <a:srgbClr val="002060"/>
                                                  </a:solidFill>
                                                </a:rPr>
                                                <m:t>1</m:t>
                                              </m:r>
                                            </m:num>
                                            <m:den>
                                              <m:r>
                                                <a:rPr lang="en-US" sz="1800">
                                                  <a:solidFill>
                                                    <a:srgbClr val="002060"/>
                                                  </a:solidFill>
                                                </a:rPr>
                                                <m:t>3</m:t>
                                              </m:r>
                                            </m:den>
                                          </m:f>
                                        </m:sup>
                                      </m:sSup>
                                      <m:r>
                                        <a:rPr lang="en-US" sz="1800">
                                          <a:solidFill>
                                            <a:srgbClr val="002060"/>
                                          </a:solidFill>
                                        </a:rPr>
                                        <m:t>(</m:t>
                                      </m:r>
                                      <m:r>
                                        <a:rPr lang="en-US" sz="1800">
                                          <a:solidFill>
                                            <a:srgbClr val="002060"/>
                                          </a:solidFill>
                                        </a:rPr>
                                        <m:rPr>
                                          <m:sty m:val="p"/>
                                        </m:rPr>
                                        <m:t>log</m:t>
                                      </m:r>
                                      <m:r>
                                        <a:rPr lang="en-US" sz="1800">
                                          <a:solidFill>
                                            <a:srgbClr val="002060"/>
                                          </a:solidFill>
                                        </a:rPr>
                                        <m:rPr>
                                          <m:sty m:val="p"/>
                                        </m:rPr>
                                        <m:t>log</m:t>
                                      </m:r>
                                      <m:r>
                                        <a:rPr lang="en-US" sz="1800">
                                          <a:solidFill>
                                            <a:srgbClr val="002060"/>
                                          </a:solidFill>
                                        </a:rPr>
                                        <m:t>N</m:t>
                                      </m:r>
                                    </m:e>
                                  </m:d>
                                </m:e>
                                <m:sup>
                                  <m:f>
                                    <m:fPr>
                                      <m:type m:val="lin"/>
                                    </m:fPr>
                                    <m:num>
                                      <m:r>
                                        <a:rPr lang="en-US" sz="1800">
                                          <a:solidFill>
                                            <a:srgbClr val="002060"/>
                                          </a:solidFill>
                                        </a:rPr>
                                        <m:t>2</m:t>
                                      </m:r>
                                    </m:num>
                                    <m:den>
                                      <m:r>
                                        <a:rPr lang="en-US" sz="1800">
                                          <a:solidFill>
                                            <a:srgbClr val="002060"/>
                                          </a:solidFill>
                                        </a:rPr>
                                        <m:t>3</m:t>
                                      </m:r>
                                    </m:den>
                                  </m:f>
                                </m:sup>
                              </m:sSup>
                            </m:e>
                          </m:d>
                        </m:e>
                      </m:d>
                    </m:oMath>
                  </m:oMathPara>
                </a14:m>
              </mc:Choice>
              <mc:Fallback>
                <a:r>
                  <a:rPr lang="en-US"/>
                  <a:t>[equation]</a:t>
                </a:r>
              </mc:Fallback>
            </mc:AlternateContent>
          </a:p>
          <a:p>
            <a:pPr algn="l">
              <a:spcAft>
                <a:spcPts val="0"/>
              </a:spcAft>
            </a:pPr>
            <a:r>
              <a:rPr sz="1400" b="1">
                <a:solidFill>
                  <a:srgbClr val="C00000"/>
                </a:solidFill>
              </a:rPr>
              <a:t>Record: RSA-250 (829 bits), 2020, ≈ 2 700 core-years. RSA-2048 is far out of reach.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14800"/>
            <a:ext cx="10927080" cy="22402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49808" y="4187952"/>
            <a:ext cx="10707624" cy="20939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02060"/>
                </a:solidFill>
              </a:rPr>
              <a:t>Textbook RSA vs real RSA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404040"/>
                </a:solidFill>
              </a:rPr>
              <a:t>Textbook RSA as above is deterministic, hence insecure in practice: equal messages give equal cipher-texts; a small m with e = 3 may satisfy m³ &lt; N so c = m³ exactly; chosen-cipher-text tricks exploit multiplicativity (c₁c₂ = (m₁m₂)^e).</a:t>
            </a:r>
          </a:p>
          <a:p>
            <a:pPr algn="l">
              <a:spcAft>
                <a:spcPts val="0"/>
              </a:spcAft>
            </a:pPr>
            <a:r>
              <a:rPr sz="1500" b="1">
                <a:solidFill>
                  <a:srgbClr val="404040"/>
                </a:solidFill>
              </a:rPr>
              <a:t>Real deployments add randomised padding — RSA-OAEP for encryption, RSA-PSS for signatures — and use e = 65537. </a:t>
            </a:r>
            <a:r>
              <a:rPr sz="1500">
                <a:solidFill>
                  <a:srgbClr val="404040"/>
                </a:solidFill>
              </a:rPr>
              <a:t>None of this changes the number theory: the security still reduces to the integer-factorisation problem.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Band"/>
          <p:cNvSpPr/>
          <p:nvPr/>
        </p:nvSpPr>
        <p:spPr>
          <a:xfrm>
            <a:off x="0" y="0"/>
            <a:ext cx="12192000" cy="1153391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5069"/>
            <a:ext cx="10515600" cy="603250"/>
          </a:xfrm>
          <a:solidFill>
            <a:srgbClr val="C00000"/>
          </a:solidFill>
          <a:ln w="9525">
            <a:solidFill>
              <a:srgbClr val="FFFFFF"/>
            </a:solidFill>
          </a:ln>
        </p:spPr>
        <p:txBody>
          <a:bodyPr>
            <a:normAutofit/>
          </a:bodyPr>
          <a:lstStyle/>
          <a:p>
            <a:pPr algn="ctr"/>
            <a:r>
              <a:rPr sz="3600">
                <a:solidFill>
                  <a:srgbClr val="FFFFFF"/>
                </a:solidFill>
              </a:rPr>
              <a:t>Shor’s algorithm (1994)</a:t>
            </a:r>
          </a:p>
        </p:txBody>
      </p:sp>
      <p:pic>
        <p:nvPicPr>
          <p:cNvPr id="4" name="ShorPhoto" descr="shor_phot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0" y="1371600"/>
            <a:ext cx="2148840" cy="12033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418320" y="2606040"/>
            <a:ext cx="2148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>
                <a:solidFill>
                  <a:srgbClr val="0563C1"/>
                </a:solidFill>
              </a:rPr>
              <a:t>Peter Shor, 1994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85039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>
                <a:solidFill>
                  <a:srgbClr val="0563C1"/>
                </a:solidFill>
              </a:rPr>
              <a:t>Factors N in time polynomial in log N on a quantum computer — </a:t>
            </a:r>
            <a:r>
              <a:rPr sz="1800" b="1">
                <a:solidFill>
                  <a:srgbClr val="C00000"/>
                </a:solidFill>
              </a:rPr>
              <a:t>breaking RSA asymptotically.</a:t>
            </a:r>
          </a:p>
          <a:p>
            <a:pPr algn="l">
              <a:spcAft>
                <a:spcPts val="0"/>
              </a:spcAft>
            </a:pPr>
            <a:r>
              <a:rPr sz="1800">
                <a:solidFill>
                  <a:srgbClr val="0563C1"/>
                </a:solidFill>
              </a:rPr>
              <a:t>Its heart is a purely classical reduction wrapped around one quantum subroutine: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743200"/>
            <a:ext cx="2606040" cy="1737360"/>
          </a:xfrm>
          <a:prstGeom prst="roundRect">
            <a:avLst>
              <a:gd name="adj" fmla="val 10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2606040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</a:rPr>
              <a:t>Classical</a:t>
            </a:r>
          </a:p>
          <a:p>
            <a:pPr algn="ctr">
              <a:spcAft>
                <a:spcPts val="0"/>
              </a:spcAft>
            </a:pPr>
            <a:r>
              <a:rPr sz="1400">
                <a:solidFill>
                  <a:srgbClr val="FFFFFF"/>
                </a:solidFill>
              </a:rPr>
              <a:t>pick a random a,</a:t>
            </a:r>
          </a:p>
          <a:p>
            <a:pPr algn="ctr">
              <a:spcAft>
                <a:spcPts val="0"/>
              </a:spcAft>
            </a:pPr>
            <a:r>
              <a:rPr sz="1400">
                <a:solidFill>
                  <a:srgbClr val="FFFFFF"/>
                </a:solidFill>
              </a:rPr>
              <a:t>check gcd(a, N)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291839" y="3383280"/>
            <a:ext cx="274320" cy="457200"/>
          </a:xfrm>
          <a:prstGeom prst="rightArrow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611880" y="2743200"/>
            <a:ext cx="2606040" cy="1737360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611880" y="2743200"/>
            <a:ext cx="2606040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</a:rPr>
              <a:t>Quantum</a:t>
            </a:r>
          </a:p>
          <a:p>
            <a:pPr algn="ctr">
              <a:spcAft>
                <a:spcPts val="0"/>
              </a:spcAft>
            </a:pPr>
            <a:r>
              <a:rPr sz="1400">
                <a:solidFill>
                  <a:srgbClr val="FFFFFF"/>
                </a:solidFill>
              </a:rPr>
              <a:t>find the order r of a:</a:t>
            </a:r>
          </a:p>
          <a:p>
            <a:pPr algn="ctr">
              <a:spcAft>
                <a:spcPts val="0"/>
              </a:spcAft>
            </a:pPr>
            <a:r>
              <a:rPr sz="1400">
                <a:solidFill>
                  <a:srgbClr val="FFFFFF"/>
                </a:solidFill>
              </a:rPr>
              <a:t>a^r ≡ 1 (mod N)</a:t>
            </a:r>
          </a:p>
          <a:p>
            <a:pPr algn="ctr">
              <a:spcAft>
                <a:spcPts val="0"/>
              </a:spcAft>
            </a:pPr>
            <a:r>
              <a:rPr sz="1400">
                <a:solidFill>
                  <a:srgbClr val="FFFFFF"/>
                </a:solidFill>
              </a:rPr>
              <a:t>(phase estimation + continued fractions)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263640" y="3383280"/>
            <a:ext cx="274320" cy="457200"/>
          </a:xfrm>
          <a:prstGeom prst="rightArrow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583680" y="2743200"/>
            <a:ext cx="2606040" cy="1737360"/>
          </a:xfrm>
          <a:prstGeom prst="roundRect">
            <a:avLst>
              <a:gd name="adj" fmla="val 10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583680" y="2743200"/>
            <a:ext cx="2606040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</a:rPr>
              <a:t>Classical</a:t>
            </a:r>
          </a:p>
          <a:p>
            <a:pPr algn="ctr">
              <a:spcAft>
                <a:spcPts val="0"/>
              </a:spcAft>
            </a:pPr>
            <a:r>
              <a:rPr sz="1400">
                <a:solidFill>
                  <a:srgbClr val="FFFFFF"/>
                </a:solidFill>
              </a:rPr>
              <a:t>if r even and a^(r/2) ≢ −1:</a:t>
            </a:r>
          </a:p>
          <a:p>
            <a:pPr algn="ctr">
              <a:spcAft>
                <a:spcPts val="0"/>
              </a:spcAft>
            </a:pPr>
            <a:r>
              <a:rPr sz="1400">
                <a:solidFill>
                  <a:srgbClr val="FFFFFF"/>
                </a:solidFill>
              </a:rPr>
              <a:t>factors = gcd(a^(r/2) ± 1, 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709160"/>
            <a:ext cx="850392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85750" indent="-285750">
              <a:spcAft>
                <a:spcPts val="600"/>
              </a:spcAft>
              <a:buFont typeface="Arial"/>
              <a:buChar char="•"/>
            </a:pPr>
            <a:r>
              <a:rPr sz="1600" b="1">
                <a:solidFill>
                  <a:srgbClr val="0563C1"/>
                </a:solidFill>
              </a:rPr>
              <a:t>Cost: </a:t>
            </a:r>
            <a:r>
              <a:rPr sz="1600">
                <a:solidFill>
                  <a:srgbClr val="0563C1"/>
                </a:solidFill>
              </a:rPr>
              <a:t>Õ((log N)²) quantum gates and O(log N) qubits per run, plus O((log N)³) classical post-processing — polynomial in the input size.</a:t>
            </a:r>
          </a:p>
          <a:p>
            <a:pPr algn="l" marL="285750" indent="-285750">
              <a:spcAft>
                <a:spcPts val="600"/>
              </a:spcAft>
              <a:buFont typeface="Arial"/>
              <a:buChar char="•"/>
            </a:pPr>
            <a:r>
              <a:rPr sz="1600" b="1">
                <a:solidFill>
                  <a:srgbClr val="0563C1"/>
                </a:solidFill>
              </a:rPr>
              <a:t>It is probabilistic: </a:t>
            </a:r>
            <a:r>
              <a:rPr sz="1600">
                <a:solidFill>
                  <a:srgbClr val="0563C1"/>
                </a:solidFill>
              </a:rPr>
              <a:t>each run succeeds with constant probability; failures are detected cheaply and the run is repeated.</a:t>
            </a:r>
          </a:p>
          <a:p>
            <a:pPr algn="l" marL="285750" indent="-285750">
              <a:spcAft>
                <a:spcPts val="600"/>
              </a:spcAft>
              <a:buFont typeface="Arial"/>
              <a:buChar char="•"/>
            </a:pPr>
            <a:r>
              <a:rPr sz="1600" b="1">
                <a:solidFill>
                  <a:srgbClr val="0563C1"/>
                </a:solidFill>
              </a:rPr>
              <a:t>Same machinery solves discrete logarithms</a:t>
            </a:r>
            <a:r>
              <a:rPr sz="1600">
                <a:solidFill>
                  <a:srgbClr val="0563C1"/>
                </a:solidFill>
              </a:rPr>
              <a:t> — so Diffie–Hellman and elliptic-curve cryptography fall too.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Band"/>
          <p:cNvSpPr/>
          <p:nvPr/>
        </p:nvSpPr>
        <p:spPr>
          <a:xfrm>
            <a:off x="0" y="0"/>
            <a:ext cx="12192000" cy="1153391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5069"/>
            <a:ext cx="10515600" cy="603250"/>
          </a:xfrm>
          <a:solidFill>
            <a:srgbClr val="C00000"/>
          </a:solidFill>
          <a:ln w="9525">
            <a:solidFill>
              <a:srgbClr val="FFFFFF"/>
            </a:solidFill>
          </a:ln>
        </p:spPr>
        <p:txBody>
          <a:bodyPr>
            <a:normAutofit/>
          </a:bodyPr>
          <a:lstStyle/>
          <a:p>
            <a:pPr algn="ctr"/>
            <a:r>
              <a:rPr sz="3600">
                <a:solidFill>
                  <a:srgbClr val="FFFFFF"/>
                </a:solidFill>
              </a:rPr>
              <a:t>Step 1 — reduce factoring to order finding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17320"/>
            <a:ext cx="3931920" cy="1737360"/>
          </a:xfrm>
          <a:prstGeom prst="roundRect">
            <a:avLst>
              <a:gd name="adj" fmla="val 6000"/>
            </a:avLst>
          </a:prstGeom>
          <a:solidFill>
            <a:srgbClr val="DEEBF7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49808" y="1490472"/>
            <a:ext cx="3712463" cy="15910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02060"/>
                </a:solidFill>
              </a:rPr>
              <a:t>Definition (multiplicative order)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404040"/>
                </a:solidFill>
              </a:rPr>
              <a:t>For a with gcd(a, N) = 1, the order r = ord_N(a) is the smallest positive integer with</a:t>
            </a:r>
          </a:p>
          <a:p>
            <a:pPr algn="ctr">
              <a:spcAft>
                <a:spcPts val="400"/>
              </a:spcAft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Para>
                    <m:oMathParaPr>
                      <m:jc m:val="center"/>
                    </m:oMathParaPr>
                    <m:oMath>
                      <m:sSup>
                        <m:e>
                          <m:r>
                            <a:rPr lang="en-US" sz="2000">
                              <a:solidFill>
                                <a:srgbClr val="002060"/>
                              </a:solidFill>
                            </a:rPr>
                            <m:t>a</m:t>
                          </m:r>
                        </m:e>
                        <m:sup>
                          <m:r>
                            <a:rPr lang="en-US" sz="2000">
                              <a:solidFill>
                                <a:srgbClr val="002060"/>
                              </a:solidFill>
                            </a:rPr>
                            <m:t>r</m:t>
                          </m:r>
                        </m:sup>
                      </m:sSup>
                      <m:r>
                        <a:rPr lang="en-US" sz="2000">
                          <a:solidFill>
                            <a:srgbClr val="002060"/>
                          </a:solidFill>
                        </a:rPr>
                        <m:t>≡1</m:t>
                      </m:r>
                      <m:r>
                        <a:rPr lang="en-US" sz="2000">
                          <a:solidFill>
                            <a:srgbClr val="002060"/>
                          </a:solidFill>
                        </a:rPr>
                        <m:rPr>
                          <m:sty m:val="p"/>
                        </m:rPr>
                        <m:t> </m:t>
                      </m:r>
                      <m:d>
                        <m:dPr>
                          <m:sepChr m:val=""/>
                        </m:dPr>
                        <m:e>
                          <m:r>
                            <a:rPr lang="en-US" sz="2000">
                              <a:solidFill>
                                <a:srgbClr val="002060"/>
                              </a:solidFill>
                            </a:rPr>
                            <m:rPr>
                              <m:sty m:val="p"/>
                            </m:rPr>
                            <m:t>mod</m:t>
                          </m:r>
                          <m:r>
                            <a:rPr lang="en-US" sz="2000">
                              <a:solidFill>
                                <a:srgbClr val="002060"/>
                              </a:solidFill>
                            </a:rPr>
                            <m:rPr>
                              <m:sty m:val="p"/>
                            </m:rPr>
                            <m:t> </m:t>
                          </m:r>
                          <m:r>
                            <a:rPr lang="en-US" sz="2000">
                              <a:solidFill>
                                <a:srgbClr val="002060"/>
                              </a:solidFill>
                            </a:rPr>
                            <m:t>N</m:t>
                          </m:r>
                        </m:e>
                      </m:d>
                    </m:oMath>
                  </m:oMathPara>
                </a14:m>
              </mc:Choice>
              <mc:Fallback>
                <a:r>
                  <a:rPr lang="en-US"/>
                  <a:t>[equation]</a:t>
                </a:r>
              </mc:Fallback>
            </mc:AlternateContent>
          </a:p>
        </p:txBody>
      </p:sp>
      <p:sp>
        <p:nvSpPr>
          <p:cNvPr id="6" name="Rounded Rectangle 5"/>
          <p:cNvSpPr/>
          <p:nvPr/>
        </p:nvSpPr>
        <p:spPr>
          <a:xfrm>
            <a:off x="4754880" y="1417320"/>
            <a:ext cx="6812280" cy="1737360"/>
          </a:xfrm>
          <a:prstGeom prst="roundRect">
            <a:avLst>
              <a:gd name="adj" fmla="val 6000"/>
            </a:avLst>
          </a:prstGeom>
          <a:solidFill>
            <a:srgbClr val="DEEBF7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864608" y="1490472"/>
            <a:ext cx="6592824" cy="15910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02060"/>
                </a:solidFill>
              </a:rPr>
              <a:t>Theorem (order finding yields factors)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404040"/>
                </a:solidFill>
              </a:rPr>
              <a:t>Let N be odd and composite, a coprime to N with order r. If </a:t>
            </a:r>
            <a:r>
              <a:rPr sz="1500" b="1">
                <a:solidFill>
                  <a:srgbClr val="404040"/>
                </a:solidFill>
              </a:rPr>
              <a:t>(i) r is even</a:t>
            </a:r>
            <a:r>
              <a:rPr sz="1500">
                <a:solidFill>
                  <a:srgbClr val="404040"/>
                </a:solidFill>
              </a:rPr>
              <a:t> and </a:t>
            </a:r>
            <a:r>
              <a:rPr sz="1500" b="1">
                <a:solidFill>
                  <a:srgbClr val="404040"/>
                </a:solidFill>
              </a:rPr>
              <a:t>(ii) a^(r/2) ≢ −1 (mod N)</a:t>
            </a:r>
            <a:r>
              <a:rPr sz="1500">
                <a:solidFill>
                  <a:srgbClr val="404040"/>
                </a:solidFill>
              </a:rPr>
              <a:t>, then</a:t>
            </a:r>
          </a:p>
          <a:p>
            <a:pPr algn="ctr">
              <a:spcAft>
                <a:spcPts val="200"/>
              </a:spcAft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Para>
                    <m:oMathParaPr>
                      <m:jc m:val="center"/>
                    </m:oMathParaPr>
                    <m:oMath>
                      <m:r>
                        <a:rPr lang="en-US" sz="1800">
                          <a:solidFill>
                            <a:srgbClr val="C00000"/>
                          </a:solidFill>
                        </a:rPr>
                        <m:rPr>
                          <m:sty m:val="p"/>
                        </m:rPr>
                        <m:t>gcd</m:t>
                      </m:r>
                      <m:d>
                        <m:dPr>
                          <m:sepChr m:val=""/>
                        </m:dPr>
                        <m:e>
                          <m:sSup>
                            <m:e>
                              <m:r>
                                <a:rPr lang="en-US" sz="1800">
                                  <a:solidFill>
                                    <a:srgbClr val="C00000"/>
                                  </a:solidFill>
                                </a:rPr>
                                <m:t>a</m:t>
                              </m:r>
                            </m:e>
                            <m:sup>
                              <m:f>
                                <m:fPr>
                                  <m:type m:val="lin"/>
                                </m:fPr>
                                <m:num>
                                  <m:r>
                                    <a:rPr lang="en-US" sz="1800">
                                      <a:solidFill>
                                        <a:srgbClr val="C00000"/>
                                      </a:solidFill>
                                    </a:rPr>
                                    <m:t>r</m:t>
                                  </m:r>
                                </m:num>
                                <m:den>
                                  <m:r>
                                    <a:rPr lang="en-US" sz="1800">
                                      <a:solidFill>
                                        <a:srgbClr val="C00000"/>
                                      </a:solidFill>
                                    </a:rPr>
                                    <m:t>2</m:t>
                                  </m:r>
                                </m:den>
                              </m:f>
                            </m:sup>
                          </m:sSup>
                          <m:r>
                            <a:rPr lang="en-US" sz="1800">
                              <a:solidFill>
                                <a:srgbClr val="C00000"/>
                              </a:solidFill>
                            </a:rPr>
                            <m:t>−1,</m:t>
                          </m:r>
                          <m:r>
                            <a:rPr lang="en-US" sz="1800">
                              <a:solidFill>
                                <a:srgbClr val="C00000"/>
                              </a:solidFill>
                            </a:rPr>
                            <m:t>N</m:t>
                          </m:r>
                        </m:e>
                      </m:d>
                      <m:r>
                        <a:rPr lang="en-US" sz="1800">
                          <a:solidFill>
                            <a:srgbClr val="C00000"/>
                          </a:solidFill>
                        </a:rPr>
                        <m:rPr>
                          <m:sty m:val="p"/>
                        </m:rPr>
                        <m:t>   and   </m:t>
                      </m:r>
                      <m:r>
                        <a:rPr lang="en-US" sz="1800">
                          <a:solidFill>
                            <a:srgbClr val="C00000"/>
                          </a:solidFill>
                        </a:rPr>
                        <m:rPr>
                          <m:sty m:val="p"/>
                        </m:rPr>
                        <m:t>gcd</m:t>
                      </m:r>
                      <m:d>
                        <m:dPr>
                          <m:sepChr m:val=""/>
                        </m:dPr>
                        <m:e>
                          <m:sSup>
                            <m:e>
                              <m:r>
                                <a:rPr lang="en-US" sz="1800">
                                  <a:solidFill>
                                    <a:srgbClr val="C00000"/>
                                  </a:solidFill>
                                </a:rPr>
                                <m:t>a</m:t>
                              </m:r>
                            </m:e>
                            <m:sup>
                              <m:f>
                                <m:fPr>
                                  <m:type m:val="lin"/>
                                </m:fPr>
                                <m:num>
                                  <m:r>
                                    <a:rPr lang="en-US" sz="1800">
                                      <a:solidFill>
                                        <a:srgbClr val="C00000"/>
                                      </a:solidFill>
                                    </a:rPr>
                                    <m:t>r</m:t>
                                  </m:r>
                                </m:num>
                                <m:den>
                                  <m:r>
                                    <a:rPr lang="en-US" sz="1800">
                                      <a:solidFill>
                                        <a:srgbClr val="C00000"/>
                                      </a:solidFill>
                                    </a:rPr>
                                    <m:t>2</m:t>
                                  </m:r>
                                </m:den>
                              </m:f>
                            </m:sup>
                          </m:sSup>
                          <m:r>
                            <a:rPr lang="en-US" sz="1800">
                              <a:solidFill>
                                <a:srgbClr val="C00000"/>
                              </a:solidFill>
                            </a:rPr>
                            <m:t>+1,</m:t>
                          </m:r>
                          <m:r>
                            <a:rPr lang="en-US" sz="1800">
                              <a:solidFill>
                                <a:srgbClr val="C00000"/>
                              </a:solidFill>
                            </a:rPr>
                            <m:t>N</m:t>
                          </m:r>
                        </m:e>
                      </m:d>
                    </m:oMath>
                  </m:oMathPara>
                </a14:m>
              </mc:Choice>
              <mc:Fallback>
                <a:r>
                  <a:rPr lang="en-US"/>
                  <a:t>[equation]</a:t>
                </a:r>
              </mc:Fallback>
            </mc:AlternateContent>
          </a:p>
          <a:p>
            <a:pPr algn="ctr">
              <a:spcAft>
                <a:spcPts val="0"/>
              </a:spcAft>
            </a:pPr>
            <a:r>
              <a:rPr sz="1500" b="1">
                <a:solidFill>
                  <a:srgbClr val="C00000"/>
                </a:solidFill>
              </a:rPr>
              <a:t>are non-trivial factors of 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6812280" cy="30175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49808" y="3410712"/>
            <a:ext cx="6592824" cy="28712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02060"/>
                </a:solidFill>
              </a:rPr>
              <a:t>Proof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404040"/>
                </a:solidFill>
              </a:rPr>
              <a:t>Set x = a^(r/2) mod N. Then x² = a^r ≡ 1, so</a:t>
            </a:r>
          </a:p>
          <a:p>
            <a:pPr algn="ctr">
              <a:spcAft>
                <a:spcPts val="400"/>
              </a:spcAft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Para>
                    <m:oMathParaPr>
                      <m:jc m:val="center"/>
                    </m:oMathParaPr>
                    <m:oMath>
                      <m:r>
                        <a:rPr lang="en-US" sz="2000">
                          <a:solidFill>
                            <a:srgbClr val="002060"/>
                          </a:solidFill>
                        </a:rPr>
                        <m:t>N∣</m:t>
                      </m:r>
                      <m:sSup>
                        <m:e>
                          <m:r>
                            <a:rPr lang="en-US" sz="2000">
                              <a:solidFill>
                                <a:srgbClr val="002060"/>
                              </a:solidFill>
                            </a:rPr>
                            <m:t>x</m:t>
                          </m:r>
                        </m:e>
                        <m:sup>
                          <m:r>
                            <a:rPr lang="en-US" sz="2000">
                              <a:solidFill>
                                <a:srgbClr val="002060"/>
                              </a:solidFill>
                            </a:rPr>
                            <m:t>2</m:t>
                          </m:r>
                        </m:sup>
                      </m:sSup>
                      <m:r>
                        <a:rPr lang="en-US" sz="2000">
                          <a:solidFill>
                            <a:srgbClr val="002060"/>
                          </a:solidFill>
                        </a:rPr>
                        <m:t>−1=(x−1)(x+1)</m:t>
                      </m:r>
                    </m:oMath>
                  </m:oMathPara>
                </a14:m>
              </mc:Choice>
              <mc:Fallback>
                <a:r>
                  <a:rPr lang="en-US"/>
                  <a:t>[equation]</a:t>
                </a:r>
              </mc:Fallback>
            </mc:AlternateContent>
          </a:p>
          <a:p>
            <a:pPr algn="l">
              <a:spcAft>
                <a:spcPts val="0"/>
              </a:spcAft>
            </a:pPr>
            <a:r>
              <a:rPr sz="1500">
                <a:solidFill>
                  <a:srgbClr val="404040"/>
                </a:solidFill>
              </a:rPr>
              <a:t>If N divided x − 1 we would have x ≡ 1, contradicting the minimality of r (since r/2 &lt; r). If N divided x + 1 we would have x ≡ −1, excluded by (ii). Hence N divides the product but neither factor: its prime factors are split between x − 1 and x + 1, and gcd(x − 1, N) is a proper divisor &gt; 1 of N (and so is gcd(x + 1, N)).  ∎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0" y="3337560"/>
            <a:ext cx="3886200" cy="30175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790688" y="3410712"/>
            <a:ext cx="3666744" cy="28712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02060"/>
                </a:solidFill>
              </a:rPr>
              <a:t>Why (i) and (ii) matter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sz="1500">
                <a:solidFill>
                  <a:srgbClr val="404040"/>
                </a:solidFill>
              </a:rPr>
              <a:t>r odd → a^(r/2) is not an integer power: no square root of 1 to exploit.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sz="1500">
                <a:solidFill>
                  <a:srgbClr val="404040"/>
                </a:solidFill>
              </a:rPr>
              <a:t>a^(r/2) ≡ −1 → the trivial square root of 1: both gcds are N and 1.</a:t>
            </a:r>
          </a:p>
          <a:p>
            <a:pPr algn="l">
              <a:spcAft>
                <a:spcPts val="0"/>
              </a:spcAft>
            </a:pPr>
            <a:r>
              <a:rPr sz="1500" b="1">
                <a:solidFill>
                  <a:srgbClr val="C00000"/>
                </a:solidFill>
              </a:rPr>
              <a:t>Either failure → pick another 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Band"/>
          <p:cNvSpPr/>
          <p:nvPr/>
        </p:nvSpPr>
        <p:spPr>
          <a:xfrm>
            <a:off x="0" y="0"/>
            <a:ext cx="12192000" cy="1153391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5069"/>
            <a:ext cx="10515600" cy="603250"/>
          </a:xfrm>
          <a:solidFill>
            <a:srgbClr val="C00000"/>
          </a:solidFill>
          <a:ln w="9525">
            <a:solidFill>
              <a:srgbClr val="FFFFFF"/>
            </a:solidFill>
          </a:ln>
        </p:spPr>
        <p:txBody>
          <a:bodyPr>
            <a:normAutofit/>
          </a:bodyPr>
          <a:lstStyle/>
          <a:p>
            <a:pPr algn="ctr"/>
            <a:r>
              <a:rPr sz="3600">
                <a:solidFill>
                  <a:srgbClr val="FFFFFF"/>
                </a:solidFill>
              </a:rPr>
              <a:t>The gamble usually pays off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17320"/>
            <a:ext cx="5486400" cy="1828800"/>
          </a:xfrm>
          <a:prstGeom prst="roundRect">
            <a:avLst>
              <a:gd name="adj" fmla="val 6000"/>
            </a:avLst>
          </a:prstGeom>
          <a:solidFill>
            <a:srgbClr val="DEEBF7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49808" y="1490472"/>
            <a:ext cx="5266944" cy="16824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02060"/>
                </a:solidFill>
              </a:rPr>
              <a:t>Lemma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404040"/>
                </a:solidFill>
              </a:rPr>
              <a:t>If N has k distinct odd prime factors and a is drawn uniformly from (Z/NZ)*, then conditions (i)–(ii) both hold with probability at least</a:t>
            </a:r>
          </a:p>
          <a:p>
            <a:pPr algn="ctr">
              <a:spcAft>
                <a:spcPts val="400"/>
              </a:spcAft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Para>
                    <m:oMathParaPr>
                      <m:jc m:val="center"/>
                    </m:oMathParaPr>
                    <m:oMath>
                      <m:r>
                        <a:rPr lang="en-US" sz="2200">
                          <a:solidFill>
                            <a:srgbClr val="002060"/>
                          </a:solidFill>
                        </a:rPr>
                        <m:t>1−</m:t>
                      </m:r>
                      <m:sSup>
                        <m:e>
                          <m:r>
                            <a:rPr lang="en-US" sz="2200">
                              <a:solidFill>
                                <a:srgbClr val="002060"/>
                              </a:solidFill>
                            </a:rPr>
                            <m:t>2</m:t>
                          </m:r>
                        </m:e>
                        <m:sup>
                          <m:r>
                            <a:rPr lang="en-US" sz="2200">
                              <a:solidFill>
                                <a:srgbClr val="002060"/>
                              </a:solidFill>
                            </a:rPr>
                            <m:t>−k</m:t>
                          </m:r>
                        </m:sup>
                      </m:sSup>
                      <m:r>
                        <a:rPr lang="en-US" sz="2200">
                          <a:solidFill>
                            <a:srgbClr val="002060"/>
                          </a:solidFill>
                        </a:rPr>
                        <m:rPr>
                          <m:sty m:val="p"/>
                        </m:rPr>
                        <m:t> </m:t>
                      </m:r>
                      <m:r>
                        <a:rPr lang="en-US" sz="2200">
                          <a:solidFill>
                            <a:srgbClr val="002060"/>
                          </a:solidFill>
                        </a:rPr>
                        <m:t>≥</m:t>
                      </m:r>
                      <m:r>
                        <a:rPr lang="en-US" sz="2200">
                          <a:solidFill>
                            <a:srgbClr val="002060"/>
                          </a:solidFill>
                        </a:rPr>
                        <m:rPr>
                          <m:sty m:val="p"/>
                        </m:rPr>
                        <m:t> </m:t>
                      </m:r>
                      <m:f>
                        <m:fPr>
                          <m:type m:val="bar"/>
                        </m:fPr>
                        <m:num>
                          <m:r>
                            <a:rPr lang="en-US" sz="2200">
                              <a:solidFill>
                                <a:srgbClr val="002060"/>
                              </a:solidFill>
                            </a:rPr>
                            <m:t>1</m:t>
                          </m:r>
                        </m:num>
                        <m:den>
                          <m:r>
                            <a:rPr lang="en-US" sz="2200">
                              <a:solidFill>
                                <a:srgbClr val="002060"/>
                              </a:solidFill>
                            </a:rPr>
                            <m:t>2</m:t>
                          </m:r>
                        </m:den>
                      </m:f>
                    </m:oMath>
                  </m:oMathPara>
                </a14:m>
              </mc:Choice>
              <mc:Fallback>
                <a:r>
                  <a:rPr lang="en-US"/>
                  <a:t>[equation]</a:t>
                </a:r>
              </mc:Fallback>
            </mc:AlternateContent>
          </a:p>
        </p:txBody>
      </p:sp>
      <p:sp>
        <p:nvSpPr>
          <p:cNvPr id="6" name="TextBox 5"/>
          <p:cNvSpPr txBox="1"/>
          <p:nvPr/>
        </p:nvSpPr>
        <p:spPr>
          <a:xfrm>
            <a:off x="640080" y="3291840"/>
            <a:ext cx="54864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>
                <a:solidFill>
                  <a:srgbClr val="404040"/>
                </a:solidFill>
              </a:rPr>
              <a:t>So two or three random choices of a suffice on average; if a fails, pick another. (Idea of proof: by CRT the order of a mod N combines the orders modulo each prime, and the ‘bad’ cases need all their 2-adic parts to line up.)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343400"/>
            <a:ext cx="5486400" cy="20116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49808" y="4416552"/>
            <a:ext cx="5266944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02060"/>
                </a:solidFill>
              </a:rPr>
              <a:t>Example: N = 35, a = 3</a:t>
            </a:r>
          </a:p>
          <a:p>
            <a:pPr algn="l">
              <a:spcAft>
                <a:spcPts val="200"/>
              </a:spcAft>
            </a:pPr>
            <a:r>
              <a:rPr sz="1400">
                <a:solidFill>
                  <a:srgbClr val="404040"/>
                </a:solidFill>
              </a:rPr>
              <a:t>Powers of 3 mod 35: 3, 9, 27, 11, 33, 29, 17, 16, 13, 4, 12, 1  →  r = 12 (even ✓)</a:t>
            </a:r>
          </a:p>
          <a:p>
            <a:pPr algn="l">
              <a:spcAft>
                <a:spcPts val="400"/>
              </a:spcAft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Para>
                    <m:oMathParaPr>
                      <m:jc m:val="left"/>
                    </m:oMathParaPr>
                    <m:oMath>
                      <m:sSup>
                        <m:e>
                          <m:r>
                            <a:rPr lang="en-US" sz="1700">
                              <a:solidFill>
                                <a:srgbClr val="002060"/>
                              </a:solidFill>
                            </a:rPr>
                            <m:t>3</m:t>
                          </m:r>
                        </m:e>
                        <m:sup>
                          <m:r>
                            <a:rPr lang="en-US" sz="1700">
                              <a:solidFill>
                                <a:srgbClr val="002060"/>
                              </a:solidFill>
                            </a:rPr>
                            <m:t>6</m:t>
                          </m:r>
                        </m:sup>
                      </m:sSup>
                      <m:r>
                        <a:rPr lang="en-US" sz="1700">
                          <a:solidFill>
                            <a:srgbClr val="002060"/>
                          </a:solidFill>
                        </a:rPr>
                        <m:t>=729≡29≢−1</m:t>
                      </m:r>
                      <m:r>
                        <a:rPr lang="en-US" sz="1700">
                          <a:solidFill>
                            <a:srgbClr val="002060"/>
                          </a:solidFill>
                        </a:rPr>
                        <m:rPr>
                          <m:sty m:val="p"/>
                        </m:rPr>
                        <m:t> </m:t>
                      </m:r>
                      <m:d>
                        <m:dPr>
                          <m:sepChr m:val=""/>
                        </m:dPr>
                        <m:e>
                          <m:r>
                            <a:rPr lang="en-US" sz="1700">
                              <a:solidFill>
                                <a:srgbClr val="002060"/>
                              </a:solidFill>
                            </a:rPr>
                            <m:rPr>
                              <m:sty m:val="p"/>
                            </m:rPr>
                            <m:t>mod</m:t>
                          </m:r>
                          <m:r>
                            <a:rPr lang="en-US" sz="1700">
                              <a:solidFill>
                                <a:srgbClr val="002060"/>
                              </a:solidFill>
                            </a:rPr>
                            <m:rPr>
                              <m:sty m:val="p"/>
                            </m:rPr>
                            <m:t> </m:t>
                          </m:r>
                          <m:r>
                            <a:rPr lang="en-US" sz="1700">
                              <a:solidFill>
                                <a:srgbClr val="002060"/>
                              </a:solidFill>
                            </a:rPr>
                            <m:t>35</m:t>
                          </m:r>
                        </m:e>
                      </m:d>
                      <m:r>
                        <a:rPr lang="en-US" sz="1700">
                          <a:solidFill>
                            <a:srgbClr val="002060"/>
                          </a:solidFill>
                        </a:rPr>
                        <m:rPr>
                          <m:sty m:val="p"/>
                        </m:rPr>
                        <m:t> </m:t>
                      </m:r>
                      <m:r>
                        <a:rPr lang="en-US" sz="1700">
                          <a:solidFill>
                            <a:srgbClr val="002060"/>
                          </a:solidFill>
                        </a:rPr>
                        <m:t>✓</m:t>
                      </m:r>
                    </m:oMath>
                  </m:oMathPara>
                </a14:m>
              </mc:Choice>
              <mc:Fallback>
                <a:r>
                  <a:rPr lang="en-US"/>
                  <a:t>[equation]</a:t>
                </a:r>
              </mc:Fallback>
            </mc:AlternateContent>
          </a:p>
          <a:p>
            <a:pPr algn="l">
              <a:spcAft>
                <a:spcPts val="400"/>
              </a:spcAft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Para>
                    <m:oMathParaPr>
                      <m:jc m:val="left"/>
                    </m:oMathParaPr>
                    <m:oMath>
                      <m:r>
                        <a:rPr lang="en-US" sz="1700">
                          <a:solidFill>
                            <a:srgbClr val="C00000"/>
                          </a:solidFill>
                        </a:rPr>
                        <m:rPr>
                          <m:sty m:val="p"/>
                        </m:rPr>
                        <m:t>gcd</m:t>
                      </m:r>
                      <m:r>
                        <a:rPr lang="en-US" sz="1700">
                          <a:solidFill>
                            <a:srgbClr val="C00000"/>
                          </a:solidFill>
                        </a:rPr>
                        <m:t>(29−1,35)=7,</m:t>
                      </m:r>
                      <m:r>
                        <a:rPr lang="en-US" sz="1700">
                          <a:solidFill>
                            <a:srgbClr val="C00000"/>
                          </a:solidFill>
                        </a:rPr>
                        <m:rPr>
                          <m:sty m:val="p"/>
                        </m:rPr>
                        <m:t>      </m:t>
                      </m:r>
                      <m:r>
                        <a:rPr lang="en-US" sz="1700">
                          <a:solidFill>
                            <a:srgbClr val="C00000"/>
                          </a:solidFill>
                        </a:rPr>
                        <m:rPr>
                          <m:sty m:val="p"/>
                        </m:rPr>
                        <m:t>gcd</m:t>
                      </m:r>
                      <m:r>
                        <a:rPr lang="en-US" sz="1700">
                          <a:solidFill>
                            <a:srgbClr val="C00000"/>
                          </a:solidFill>
                        </a:rPr>
                        <m:t>(29+1,35)=5</m:t>
                      </m:r>
                    </m:oMath>
                  </m:oMathPara>
                </a14:m>
              </mc:Choice>
              <mc:Fallback>
                <a:r>
                  <a:rPr lang="en-US"/>
                  <a:t>[equation]</a:t>
                </a:r>
              </mc:Fallback>
            </mc:AlternateContent>
          </a:p>
        </p:txBody>
      </p:sp>
      <p:pic>
        <p:nvPicPr>
          <p:cNvPr id="9" name="PeriodicPlot" descr="aer_cell3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417320"/>
            <a:ext cx="5212080" cy="418629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5394960"/>
            <a:ext cx="52120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>
                <a:solidFill>
                  <a:srgbClr val="404040"/>
                </a:solidFill>
              </a:rPr>
              <a:t>The function x ↦ aˣ mod N is periodic with period r: finding r is a period-finding problem — exactly what the quantum Fourier transform is good at.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Band"/>
          <p:cNvSpPr/>
          <p:nvPr/>
        </p:nvSpPr>
        <p:spPr>
          <a:xfrm>
            <a:off x="0" y="0"/>
            <a:ext cx="12192000" cy="1153391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5069"/>
            <a:ext cx="10515600" cy="603250"/>
          </a:xfrm>
          <a:solidFill>
            <a:srgbClr val="C00000"/>
          </a:solidFill>
          <a:ln w="9525">
            <a:solidFill>
              <a:srgbClr val="FFFFFF"/>
            </a:solidFill>
          </a:ln>
        </p:spPr>
        <p:txBody>
          <a:bodyPr>
            <a:normAutofit/>
          </a:bodyPr>
          <a:lstStyle/>
          <a:p>
            <a:pPr algn="ctr"/>
            <a:r>
              <a:rPr sz="3600">
                <a:solidFill>
                  <a:srgbClr val="FFFFFF"/>
                </a:solidFill>
              </a:rPr>
              <a:t>Step 2 — the operator U and its eigenstates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270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>
                <a:solidFill>
                  <a:srgbClr val="0563C1"/>
                </a:solidFill>
              </a:rPr>
              <a:t>Classically, finding r is as hard as factoring. Quantumly it is easy — via Quantum Phase Estimation of the modular-multiplication operator</a:t>
            </a:r>
          </a:p>
          <a:p>
            <a:pPr algn="ctr">
              <a:spcAft>
                <a:spcPts val="600"/>
              </a:spcAft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Para>
                    <m:oMathParaPr>
                      <m:jc m:val="center"/>
                    </m:oMathParaPr>
                    <m:oMath>
                      <m:r>
                        <a:rPr lang="en-US" sz="2000">
                          <a:solidFill>
                            <a:srgbClr val="002060"/>
                          </a:solidFill>
                        </a:rPr>
                        <m:t>U</m:t>
                      </m:r>
                      <m:r>
                        <a:rPr lang="en-US" sz="2000">
                          <a:solidFill>
                            <a:srgbClr val="002060"/>
                          </a:solidFill>
                        </a:rPr>
                        <m:t>|</m:t>
                      </m:r>
                      <m:r>
                        <a:rPr lang="en-US" sz="2000">
                          <a:solidFill>
                            <a:srgbClr val="002060"/>
                          </a:solidFill>
                        </a:rPr>
                        <m:t>y</m:t>
                      </m:r>
                      <m:r>
                        <a:rPr lang="en-US" sz="2000">
                          <a:solidFill>
                            <a:srgbClr val="002060"/>
                          </a:solidFill>
                        </a:rPr>
                        <m:t>⟩</m:t>
                      </m:r>
                      <m:r>
                        <a:rPr lang="en-US" sz="2000">
                          <a:solidFill>
                            <a:srgbClr val="002060"/>
                          </a:solidFill>
                        </a:rPr>
                        <m:t>=</m:t>
                      </m:r>
                      <m:r>
                        <a:rPr lang="en-US" sz="2000">
                          <a:solidFill>
                            <a:srgbClr val="002060"/>
                          </a:solidFill>
                        </a:rPr>
                        <m:t>|</m:t>
                      </m:r>
                      <m:r>
                        <a:rPr lang="en-US" sz="2000">
                          <a:solidFill>
                            <a:srgbClr val="002060"/>
                          </a:solidFill>
                        </a:rPr>
                        <m:t>a</m:t>
                      </m:r>
                      <m:r>
                        <a:rPr lang="en-US" sz="2000">
                          <a:solidFill>
                            <a:srgbClr val="002060"/>
                          </a:solidFill>
                        </a:rPr>
                        <m:t>y</m:t>
                      </m:r>
                      <m:r>
                        <a:rPr lang="en-US" sz="2000">
                          <a:solidFill>
                            <a:srgbClr val="002060"/>
                          </a:solidFill>
                        </a:rPr>
                        <m:rPr>
                          <m:sty m:val="p"/>
                        </m:rPr>
                        <m:t> </m:t>
                      </m:r>
                      <m:r>
                        <a:rPr lang="en-US" sz="2000">
                          <a:solidFill>
                            <a:srgbClr val="002060"/>
                          </a:solidFill>
                        </a:rPr>
                        <m:rPr>
                          <m:sty m:val="p"/>
                        </m:rPr>
                        <m:t>mod</m:t>
                      </m:r>
                      <m:r>
                        <a:rPr lang="en-US" sz="2000">
                          <a:solidFill>
                            <a:srgbClr val="002060"/>
                          </a:solidFill>
                        </a:rPr>
                        <m:rPr>
                          <m:sty m:val="p"/>
                        </m:rPr>
                        <m:t> </m:t>
                      </m:r>
                      <m:r>
                        <a:rPr lang="en-US" sz="2000">
                          <a:solidFill>
                            <a:srgbClr val="002060"/>
                          </a:solidFill>
                        </a:rPr>
                        <m:t>N</m:t>
                      </m:r>
                      <m:r>
                        <a:rPr lang="en-US" sz="2000">
                          <a:solidFill>
                            <a:srgbClr val="002060"/>
                          </a:solidFill>
                        </a:rPr>
                        <m:t>⟩</m:t>
                      </m:r>
                      <m:r>
                        <a:rPr lang="en-US" sz="2000">
                          <a:solidFill>
                            <a:srgbClr val="002060"/>
                          </a:solidFill>
                        </a:rPr>
                        <m:t>,</m:t>
                      </m:r>
                      <m:r>
                        <a:rPr lang="en-US" sz="2000">
                          <a:solidFill>
                            <a:srgbClr val="002060"/>
                          </a:solidFill>
                        </a:rPr>
                        <m:rPr>
                          <m:sty m:val="p"/>
                        </m:rPr>
                        <m:t>      </m:t>
                      </m:r>
                      <m:r>
                        <a:rPr lang="en-US" sz="2000">
                          <a:solidFill>
                            <a:srgbClr val="002060"/>
                          </a:solidFill>
                        </a:rPr>
                        <m:t>y∈{0,1,…,N−1}</m:t>
                      </m:r>
                      <m:r>
                        <a:rPr lang="en-US" sz="2000">
                          <a:solidFill>
                            <a:srgbClr val="002060"/>
                          </a:solidFill>
                        </a:rPr>
                        <m:rPr>
                          <m:sty m:val="p"/>
                        </m:rPr>
                        <m:t>      (a permutation of the residues ⇒ unitary)</m:t>
                      </m:r>
                    </m:oMath>
                  </m:oMathPara>
                </a14:m>
              </mc:Choice>
              <mc:Fallback>
                <a:r>
                  <a:rPr lang="en-US"/>
                  <a:t>[equation]</a:t>
                </a:r>
              </mc:Fallback>
            </mc:AlternateContent>
          </a:p>
        </p:txBody>
      </p:sp>
      <p:sp>
        <p:nvSpPr>
          <p:cNvPr id="5" name="Rounded Rectangle 4"/>
          <p:cNvSpPr/>
          <p:nvPr/>
        </p:nvSpPr>
        <p:spPr>
          <a:xfrm>
            <a:off x="640080" y="2514600"/>
            <a:ext cx="6400800" cy="2377440"/>
          </a:xfrm>
          <a:prstGeom prst="roundRect">
            <a:avLst>
              <a:gd name="adj" fmla="val 6000"/>
            </a:avLst>
          </a:prstGeom>
          <a:solidFill>
            <a:srgbClr val="DEEBF7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49808" y="2587752"/>
            <a:ext cx="6181344" cy="22311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02060"/>
                </a:solidFill>
              </a:rPr>
              <a:t>Proposition (eigenstructure of U)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404040"/>
                </a:solidFill>
              </a:rPr>
              <a:t>For each s ∈ {0, 1, …, r − 1} the state</a:t>
            </a:r>
          </a:p>
          <a:p>
            <a:pPr algn="ctr">
              <a:spcAft>
                <a:spcPts val="400"/>
              </a:spcAft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Para>
                    <m:oMathParaPr>
                      <m:jc m:val="center"/>
                    </m:oMathParaPr>
                    <m:oMath>
                      <m:r>
                        <a:rPr lang="en-US" sz="1900">
                          <a:solidFill>
                            <a:srgbClr val="002060"/>
                          </a:solidFill>
                        </a:rPr>
                        <m:t>|</m:t>
                      </m:r>
                      <m:sSub>
                        <m:e>
                          <m:r>
                            <a:rPr lang="en-US" sz="1900">
                              <a:solidFill>
                                <a:srgbClr val="002060"/>
                              </a:solidFill>
                            </a:rPr>
                            <m:t>u</m:t>
                          </m:r>
                        </m:e>
                        <m:sub>
                          <m:r>
                            <a:rPr lang="en-US" sz="1900">
                              <a:solidFill>
                                <a:srgbClr val="002060"/>
                              </a:solidFill>
                            </a:rPr>
                            <m:t>s</m:t>
                          </m:r>
                        </m:sub>
                      </m:sSub>
                      <m:r>
                        <a:rPr lang="en-US" sz="1900">
                          <a:solidFill>
                            <a:srgbClr val="002060"/>
                          </a:solidFill>
                        </a:rPr>
                        <m:t>⟩</m:t>
                      </m:r>
                      <m:r>
                        <a:rPr lang="en-US" sz="1900">
                          <a:solidFill>
                            <a:srgbClr val="002060"/>
                          </a:solidFill>
                        </a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a:rPr lang="en-US" sz="1900">
                              <a:solidFill>
                                <a:srgbClr val="002060"/>
                              </a:solidFill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a:rPr lang="en-US" sz="1900">
                                  <a:solidFill>
                                    <a:srgbClr val="002060"/>
                                  </a:solidFill>
                                </a:rPr>
                                <m:t>r</m:t>
                              </m:r>
                            </m:e>
                          </m:rad>
                        </m:den>
                      </m:f>
                      <m:nary>
                        <m:naryPr>
                          <m:chr m:val="∑"/>
                          <m:limLoc m:val="subSup"/>
                          <m:grow m:val="1"/>
                          <m:subHide m:val="off"/>
                          <m:supHide m:val="off"/>
                        </m:naryPr>
                        <m:sub>
                          <m:r>
                            <a:rPr lang="en-US" sz="1900">
                              <a:solidFill>
                                <a:srgbClr val="002060"/>
                              </a:solidFill>
                            </a:rPr>
                            <m:t>k=0</m:t>
                          </m:r>
                        </m:sub>
                        <m:sup>
                          <m:r>
                            <a:rPr lang="en-US" sz="1900">
                              <a:solidFill>
                                <a:srgbClr val="002060"/>
                              </a:solidFill>
                            </a:rPr>
                            <m:t>r−1</m:t>
                          </m:r>
                        </m:sup>
                        <m:e>
                          <m:sSup>
                            <m:e>
                              <m:r>
                                <a:rPr lang="en-US" sz="1900">
                                  <a:solidFill>
                                    <a:srgbClr val="002060"/>
                                  </a:solidFill>
                                </a:rPr>
                                <m:t>e</m:t>
                              </m:r>
                            </m:e>
                            <m:sup>
                              <m:r>
                                <a:rPr lang="en-US" sz="1900">
                                  <a:solidFill>
                                    <a:srgbClr val="002060"/>
                                  </a:solidFill>
                                </a:rPr>
                                <m:t>−2πi</m:t>
                              </m:r>
                              <m:r>
                                <a:rPr lang="en-US" sz="1900">
                                  <a:solidFill>
                                    <a:srgbClr val="002060"/>
                                  </a:solidFill>
                                </a:rPr>
                                <m:t>sk/r</m:t>
                              </m:r>
                            </m:sup>
                          </m:sSup>
                        </m:e>
                      </m:nary>
                      <m:r>
                        <a:rPr lang="en-US" sz="1900">
                          <a:solidFill>
                            <a:srgbClr val="002060"/>
                          </a:solidFill>
                        </a:rPr>
                        <m:t>|</m:t>
                      </m:r>
                      <m:sSup>
                        <m:e>
                          <m:r>
                            <a:rPr lang="en-US" sz="1900">
                              <a:solidFill>
                                <a:srgbClr val="002060"/>
                              </a:solidFill>
                            </a:rPr>
                            <m:t>a</m:t>
                          </m:r>
                        </m:e>
                        <m:sup>
                          <m:r>
                            <a:rPr lang="en-US" sz="1900">
                              <a:solidFill>
                                <a:srgbClr val="002060"/>
                              </a:solidFill>
                            </a:rPr>
                            <m:t>k</m:t>
                          </m:r>
                        </m:sup>
                      </m:sSup>
                      <m:r>
                        <a:rPr lang="en-US" sz="1900">
                          <a:solidFill>
                            <a:srgbClr val="002060"/>
                          </a:solidFill>
                        </a:rPr>
                        <m:rPr>
                          <m:sty m:val="p"/>
                        </m:rPr>
                        <m:t> </m:t>
                      </m:r>
                      <m:r>
                        <a:rPr lang="en-US" sz="1900">
                          <a:solidFill>
                            <a:srgbClr val="002060"/>
                          </a:solidFill>
                        </a:rPr>
                        <m:rPr>
                          <m:sty m:val="p"/>
                        </m:rPr>
                        <m:t>mod</m:t>
                      </m:r>
                      <m:r>
                        <a:rPr lang="en-US" sz="1900">
                          <a:solidFill>
                            <a:srgbClr val="002060"/>
                          </a:solidFill>
                        </a:rPr>
                        <m:rPr>
                          <m:sty m:val="p"/>
                        </m:rPr>
                        <m:t> </m:t>
                      </m:r>
                      <m:r>
                        <a:rPr lang="en-US" sz="1900">
                          <a:solidFill>
                            <a:srgbClr val="002060"/>
                          </a:solidFill>
                        </a:rPr>
                        <m:t>N</m:t>
                      </m:r>
                      <m:r>
                        <a:rPr lang="en-US" sz="1900">
                          <a:solidFill>
                            <a:srgbClr val="002060"/>
                          </a:solidFill>
                        </a:rPr>
                        <m:t>⟩</m:t>
                      </m:r>
                    </m:oMath>
                  </m:oMathPara>
                </a14:m>
              </mc:Choice>
              <mc:Fallback>
                <a:r>
                  <a:rPr lang="en-US"/>
                  <a:t>[equation]</a:t>
                </a:r>
              </mc:Fallback>
            </mc:AlternateContent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404040"/>
                </a:solidFill>
              </a:rPr>
              <a:t>is an eigenvector of U with eigenvalue e^{2πi s/r}. Moreover</a:t>
            </a:r>
          </a:p>
          <a:p>
            <a:pPr algn="ctr">
              <a:spcAft>
                <a:spcPts val="400"/>
              </a:spcAft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Para>
                    <m:oMathParaPr>
                      <m:jc m:val="center"/>
                    </m:oMathParaPr>
                    <m:oMath>
                      <m:r>
                        <a:rPr lang="en-US" sz="1900">
                          <a:solidFill>
                            <a:srgbClr val="002060"/>
                          </a:solidFill>
                        </a:rPr>
                        <m:t>U</m:t>
                      </m:r>
                      <m:r>
                        <a:rPr lang="en-US" sz="1900">
                          <a:solidFill>
                            <a:srgbClr val="002060"/>
                          </a:solidFill>
                        </a:rPr>
                        <m:t>|</m:t>
                      </m:r>
                      <m:sSub>
                        <m:e>
                          <m:r>
                            <a:rPr lang="en-US" sz="1900">
                              <a:solidFill>
                                <a:srgbClr val="002060"/>
                              </a:solidFill>
                            </a:rPr>
                            <m:t>u</m:t>
                          </m:r>
                        </m:e>
                        <m:sub>
                          <m:r>
                            <a:rPr lang="en-US" sz="1900">
                              <a:solidFill>
                                <a:srgbClr val="002060"/>
                              </a:solidFill>
                            </a:rPr>
                            <m:t>s</m:t>
                          </m:r>
                        </m:sub>
                      </m:sSub>
                      <m:r>
                        <a:rPr lang="en-US" sz="1900">
                          <a:solidFill>
                            <a:srgbClr val="002060"/>
                          </a:solidFill>
                        </a:rPr>
                        <m:t>⟩</m:t>
                      </m:r>
                      <m:r>
                        <a:rPr lang="en-US" sz="1900">
                          <a:solidFill>
                            <a:srgbClr val="002060"/>
                          </a:solidFill>
                        </a:rPr>
                        <m:t>=</m:t>
                      </m:r>
                      <m:sSup>
                        <m:e>
                          <m:r>
                            <a:rPr lang="en-US" sz="1900">
                              <a:solidFill>
                                <a:srgbClr val="002060"/>
                              </a:solidFill>
                            </a:rPr>
                            <m:t>e</m:t>
                          </m:r>
                        </m:e>
                        <m:sup>
                          <m:r>
                            <a:rPr lang="en-US" sz="1900">
                              <a:solidFill>
                                <a:srgbClr val="002060"/>
                              </a:solidFill>
                            </a:rPr>
                            <m:t>2πi</m:t>
                          </m:r>
                          <m:r>
                            <a:rPr lang="en-US" sz="1900">
                              <a:solidFill>
                                <a:srgbClr val="002060"/>
                              </a:solidFill>
                            </a:rPr>
                            <m:t>s/r</m:t>
                          </m:r>
                        </m:sup>
                      </m:sSup>
                      <m:r>
                        <a:rPr lang="en-US" sz="1900">
                          <a:solidFill>
                            <a:srgbClr val="002060"/>
                          </a:solidFill>
                        </a:rPr>
                        <m:t>|</m:t>
                      </m:r>
                      <m:sSub>
                        <m:e>
                          <m:r>
                            <a:rPr lang="en-US" sz="1900">
                              <a:solidFill>
                                <a:srgbClr val="002060"/>
                              </a:solidFill>
                            </a:rPr>
                            <m:t>u</m:t>
                          </m:r>
                        </m:e>
                        <m:sub>
                          <m:r>
                            <a:rPr lang="en-US" sz="1900">
                              <a:solidFill>
                                <a:srgbClr val="002060"/>
                              </a:solidFill>
                            </a:rPr>
                            <m:t>s</m:t>
                          </m:r>
                        </m:sub>
                      </m:sSub>
                      <m:r>
                        <a:rPr lang="en-US" sz="1900">
                          <a:solidFill>
                            <a:srgbClr val="002060"/>
                          </a:solidFill>
                        </a:rPr>
                        <m:t>⟩</m:t>
                      </m:r>
                      <m:r>
                        <a:rPr lang="en-US" sz="1900">
                          <a:solidFill>
                            <a:srgbClr val="002060"/>
                          </a:solidFill>
                        </a:rPr>
                        <m:t>,</m:t>
                      </m:r>
                      <m:r>
                        <a:rPr lang="en-US" sz="1900">
                          <a:solidFill>
                            <a:srgbClr val="002060"/>
                          </a:solidFill>
                        </a:rPr>
                        <m:rPr>
                          <m:sty m:val="p"/>
                        </m:rPr>
                        <m:t>      </m:t>
                      </m:r>
                      <m:f>
                        <m:fPr>
                          <m:type m:val="bar"/>
                        </m:fPr>
                        <m:num>
                          <m:r>
                            <a:rPr lang="en-US" sz="1900">
                              <a:solidFill>
                                <a:srgbClr val="002060"/>
                              </a:solidFill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a:rPr lang="en-US" sz="1900">
                                  <a:solidFill>
                                    <a:srgbClr val="002060"/>
                                  </a:solidFill>
                                </a:rPr>
                                <m:t>r</m:t>
                              </m:r>
                            </m:e>
                          </m:rad>
                        </m:den>
                      </m:f>
                      <m:nary>
                        <m:naryPr>
                          <m:chr m:val="∑"/>
                          <m:limLoc m:val="subSup"/>
                          <m:grow m:val="1"/>
                          <m:subHide m:val="off"/>
                          <m:supHide m:val="off"/>
                        </m:naryPr>
                        <m:sub>
                          <m:r>
                            <a:rPr lang="en-US" sz="1900">
                              <a:solidFill>
                                <a:srgbClr val="002060"/>
                              </a:solidFill>
                            </a:rPr>
                            <m:t>s=0</m:t>
                          </m:r>
                        </m:sub>
                        <m:sup>
                          <m:r>
                            <a:rPr lang="en-US" sz="1900">
                              <a:solidFill>
                                <a:srgbClr val="002060"/>
                              </a:solidFill>
                            </a:rPr>
                            <m:t>r−1</m:t>
                          </m:r>
                        </m:sup>
                        <m:e>
                          <m:r>
                            <a:rPr lang="en-US" sz="1900">
                              <a:solidFill>
                                <a:srgbClr val="002060"/>
                              </a:solidFill>
                            </a:rPr>
                            <m:t>|</m:t>
                          </m:r>
                          <m:sSub>
                            <m:e>
                              <m:r>
                                <a:rPr lang="en-US" sz="1900">
                                  <a:solidFill>
                                    <a:srgbClr val="002060"/>
                                  </a:solidFill>
                                </a:rPr>
                                <m:t>u</m:t>
                              </m:r>
                            </m:e>
                            <m:sub>
                              <m:r>
                                <a:rPr lang="en-US" sz="1900">
                                  <a:solidFill>
                                    <a:srgbClr val="002060"/>
                                  </a:solidFill>
                                </a:rPr>
                                <m:t>s</m:t>
                              </m:r>
                            </m:sub>
                          </m:sSub>
                          <m:r>
                            <a:rPr lang="en-US" sz="1900">
                              <a:solidFill>
                                <a:srgbClr val="002060"/>
                              </a:solidFill>
                            </a:rPr>
                            <m:t>⟩</m:t>
                          </m:r>
                        </m:e>
                      </m:nary>
                      <m:r>
                        <a:rPr lang="en-US" sz="1900">
                          <a:solidFill>
                            <a:srgbClr val="002060"/>
                          </a:solidFill>
                        </a:rPr>
                        <m:t>=</m:t>
                      </m:r>
                      <m:r>
                        <a:rPr lang="en-US" sz="1900">
                          <a:solidFill>
                            <a:srgbClr val="002060"/>
                          </a:solidFill>
                        </a:rPr>
                        <m:t>|</m:t>
                      </m:r>
                      <m:r>
                        <a:rPr lang="en-US" sz="1900">
                          <a:solidFill>
                            <a:srgbClr val="002060"/>
                          </a:solidFill>
                        </a:rPr>
                        <m:t>1</m:t>
                      </m:r>
                      <m:r>
                        <a:rPr lang="en-US" sz="1900">
                          <a:solidFill>
                            <a:srgbClr val="002060"/>
                          </a:solidFill>
                        </a:rPr>
                        <m:t>⟩</m:t>
                      </m:r>
                    </m:oMath>
                  </m:oMathPara>
                </a14:m>
              </mc:Choice>
              <mc:Fallback>
                <a:r>
                  <a:rPr lang="en-US"/>
                  <a:t>[equation]</a:t>
                </a:r>
              </mc:Fallback>
            </mc:AlternateContent>
          </a:p>
        </p:txBody>
      </p:sp>
      <p:sp>
        <p:nvSpPr>
          <p:cNvPr id="7" name="Rounded Rectangle 6"/>
          <p:cNvSpPr/>
          <p:nvPr/>
        </p:nvSpPr>
        <p:spPr>
          <a:xfrm>
            <a:off x="7223760" y="2514600"/>
            <a:ext cx="4343400" cy="23774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333488" y="2587752"/>
            <a:ext cx="4123944" cy="22311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02060"/>
                </a:solidFill>
              </a:rPr>
              <a:t>Proof idea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sz="1400">
                <a:solidFill>
                  <a:srgbClr val="404040"/>
                </a:solidFill>
              </a:rPr>
              <a:t>U shifts a^k ↦ a^(k+1) inside the sum; re-indexing k ↦ k − 1 pulls out exactly the factor e^{2πi s/r}.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sz="1400">
                <a:solidFill>
                  <a:srgbClr val="404040"/>
                </a:solidFill>
              </a:rPr>
              <a:t>Summing |u_s⟩ over s, the phases Σ_s e^{−2πi sk/r} cancel for k ≢ 0 and reinforce for k = 0, leaving |a⁰⟩ = |1⟩.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5029200"/>
            <a:ext cx="10927080" cy="13258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49808" y="5102352"/>
            <a:ext cx="10707624" cy="1179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02060"/>
                </a:solidFill>
              </a:rPr>
              <a:t>Two facts that make this usable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sz="1500" b="1">
                <a:solidFill>
                  <a:srgbClr val="404040"/>
                </a:solidFill>
              </a:rPr>
              <a:t>The eigenphase φ_s = s/r </a:t>
            </a:r>
            <a:r>
              <a:rPr sz="1500" b="1">
                <a:solidFill>
                  <a:srgbClr val="C00000"/>
                </a:solidFill>
              </a:rPr>
              <a:t>contains the order</a:t>
            </a:r>
            <a:r>
              <a:rPr sz="1500">
                <a:solidFill>
                  <a:srgbClr val="404040"/>
                </a:solidFill>
              </a:rPr>
              <a:t>. We cannot prepare one |u_s⟩ (we don’t know r) — but |1⟩ = r^(−1/2) Σ_s |u_s⟩ is trivial to prepare.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sz="1500">
                <a:solidFill>
                  <a:srgbClr val="404040"/>
                </a:solidFill>
              </a:rPr>
              <a:t>QPE on U with input |1⟩ therefore measures a phase φ ≈ s/r for a </a:t>
            </a:r>
            <a:r>
              <a:rPr sz="1500" b="1">
                <a:solidFill>
                  <a:srgbClr val="404040"/>
                </a:solidFill>
              </a:rPr>
              <a:t>uniformly random s ∈ {0, …, r − 1}</a:t>
            </a:r>
            <a:r>
              <a:rPr sz="1500">
                <a:solidFill>
                  <a:srgbClr val="404040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Band"/>
          <p:cNvSpPr/>
          <p:nvPr/>
        </p:nvSpPr>
        <p:spPr>
          <a:xfrm>
            <a:off x="0" y="0"/>
            <a:ext cx="12192000" cy="1153391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5069"/>
            <a:ext cx="10515600" cy="603250"/>
          </a:xfrm>
          <a:solidFill>
            <a:srgbClr val="C00000"/>
          </a:solidFill>
          <a:ln w="9525">
            <a:solidFill>
              <a:srgbClr val="FFFFFF"/>
            </a:solidFill>
          </a:ln>
        </p:spPr>
        <p:txBody>
          <a:bodyPr>
            <a:normAutofit/>
          </a:bodyPr>
          <a:lstStyle/>
          <a:p>
            <a:pPr algn="ctr"/>
            <a:r>
              <a:rPr sz="3600">
                <a:solidFill>
                  <a:srgbClr val="FFFFFF"/>
                </a:solidFill>
              </a:rPr>
              <a:t>Step 2 — the quantum phase estimation circuit</a:t>
            </a:r>
          </a:p>
        </p:txBody>
      </p:sp>
      <p:pic>
        <p:nvPicPr>
          <p:cNvPr id="4" name="QPEcircuit" descr="qpe_circuit_t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71600"/>
            <a:ext cx="6766560" cy="3166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4892040"/>
            <a:ext cx="6766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>
                <a:solidFill>
                  <a:srgbClr val="404040"/>
                </a:solidFill>
              </a:rPr>
              <a:t>shor.ipynb: build_order_finding_circuit(a=7, n_count=4) for N = 15 — counting register on top, 4-qubit work register below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35240" y="1371600"/>
            <a:ext cx="3931920" cy="3977639"/>
          </a:xfrm>
          <a:prstGeom prst="roundRect">
            <a:avLst>
              <a:gd name="adj" fmla="val 6000"/>
            </a:avLst>
          </a:prstGeom>
          <a:solidFill>
            <a:srgbClr val="DEEBF7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744967" y="1444752"/>
            <a:ext cx="3712463" cy="383133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02060"/>
                </a:solidFill>
              </a:rPr>
              <a:t>Reading the circuit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sz="1400">
                <a:solidFill>
                  <a:srgbClr val="404040"/>
                </a:solidFill>
              </a:rPr>
              <a:t>t counting qubits → |+⟩^⊗t (Hadamards); work register → |1⟩ (one X)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sz="1400">
                <a:solidFill>
                  <a:srgbClr val="404040"/>
                </a:solidFill>
              </a:rPr>
              <a:t>controlled U^(2⁰), U^(2¹), …, U^(2^(t−1)): qubit j picks up the phase e^{2πi s·2^j/r}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sz="1400">
                <a:solidFill>
                  <a:srgbClr val="404040"/>
                </a:solidFill>
              </a:rPr>
              <a:t>inverse QFT turns the phases into a binary number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sz="1400">
                <a:solidFill>
                  <a:srgbClr val="404040"/>
                </a:solidFill>
              </a:rPr>
              <a:t>measure y ∈ {0, …, 2^t − 1}:</a:t>
            </a:r>
          </a:p>
          <a:p>
            <a:pPr algn="ctr">
              <a:spcAft>
                <a:spcPts val="400"/>
              </a:spcAft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Para>
                    <m:oMathParaPr>
                      <m:jc m:val="center"/>
                    </m:oMathParaPr>
                    <m:oMath>
                      <m:r>
                        <a:rPr lang="en-US" sz="2000">
                          <a:solidFill>
                            <a:srgbClr val="C00000"/>
                          </a:solidFill>
                        </a:rPr>
                        <m:t>ϕ≈</m:t>
                      </m:r>
                      <m:f>
                        <m:fPr>
                          <m:type m:val="bar"/>
                        </m:fPr>
                        <m:num>
                          <m:r>
                            <a:rPr lang="en-US" sz="2000">
                              <a:solidFill>
                                <a:srgbClr val="C00000"/>
                              </a:solidFill>
                            </a:rPr>
                            <m:t>y</m:t>
                          </m:r>
                        </m:num>
                        <m:den>
                          <m:sSup>
                            <m:e>
                              <m:r>
                                <a:rPr lang="en-US" sz="2000">
                                  <a:solidFill>
                                    <a:srgbClr val="C00000"/>
                                  </a:solidFill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sz="2000">
                                  <a:solidFill>
                                    <a:srgbClr val="C00000"/>
                                  </a:solidFill>
                                </a:rPr>
                                <m:t>t</m:t>
                              </m:r>
                            </m:sup>
                          </m:sSup>
                        </m:den>
                      </m:f>
                      <m:r>
                        <a:rPr lang="en-US" sz="2000">
                          <a:solidFill>
                            <a:srgbClr val="C00000"/>
                          </a:solidFill>
                        </a:rPr>
                        <m:t>≈</m:t>
                      </m:r>
                      <m:f>
                        <m:fPr>
                          <m:type m:val="bar"/>
                        </m:fPr>
                        <m:num>
                          <m:r>
                            <a:rPr lang="en-US" sz="2000">
                              <a:solidFill>
                                <a:srgbClr val="C00000"/>
                              </a:solidFill>
                            </a:rPr>
                            <m:t>s</m:t>
                          </m:r>
                        </m:num>
                        <m:den>
                          <m:r>
                            <a:rPr lang="en-US" sz="2000">
                              <a:solidFill>
                                <a:srgbClr val="C00000"/>
                              </a:solidFill>
                            </a:rPr>
                            <m:t>r</m:t>
                          </m:r>
                        </m:den>
                      </m:f>
                    </m:oMath>
                  </m:oMathPara>
                </a14:m>
              </mc:Choice>
              <mc:Fallback>
                <a:r>
                  <a:rPr lang="en-US"/>
                  <a:t>[equation]</a:t>
                </a:r>
              </mc:Fallback>
            </mc:AlternateContent>
          </a:p>
          <a:p>
            <a:pPr algn="l">
              <a:spcAft>
                <a:spcPts val="0"/>
              </a:spcAft>
            </a:pPr>
            <a:r>
              <a:rPr sz="1400">
                <a:solidFill>
                  <a:srgbClr val="404040"/>
                </a:solidFill>
              </a:rPr>
              <a:t>t ≈ 2 log₂N + 1 counting qubits make φ sharp enough for the next step.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440680"/>
            <a:ext cx="1092708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85750" indent="-285750">
              <a:spcAft>
                <a:spcPts val="600"/>
              </a:spcAft>
              <a:buFont typeface="Arial"/>
              <a:buChar char="•"/>
            </a:pPr>
            <a:r>
              <a:rPr sz="1500" b="1">
                <a:solidFill>
                  <a:srgbClr val="0563C1"/>
                </a:solidFill>
              </a:rPr>
              <a:t>Qubit budget: </a:t>
            </a:r>
            <a:r>
              <a:rPr sz="1500">
                <a:solidFill>
                  <a:srgbClr val="0563C1"/>
                </a:solidFill>
              </a:rPr>
              <a:t>t + ⌈log₂N⌉ qubits here (8 + 4 = 12 for N = 15 in the notebook). Beauregard’s construction needs 2n + 3 qubits for an n-bit N.</a:t>
            </a:r>
          </a:p>
          <a:p>
            <a:pPr algn="l" marL="285750" indent="-285750">
              <a:spcAft>
                <a:spcPts val="600"/>
              </a:spcAft>
              <a:buFont typeface="Arial"/>
              <a:buChar char="•"/>
            </a:pPr>
            <a:r>
              <a:rPr sz="1500" b="1">
                <a:solidFill>
                  <a:srgbClr val="0563C1"/>
                </a:solidFill>
              </a:rPr>
              <a:t>Where the gates go: </a:t>
            </a:r>
            <a:r>
              <a:rPr sz="1500">
                <a:solidFill>
                  <a:srgbClr val="0563C1"/>
                </a:solidFill>
              </a:rPr>
              <a:t>the controlled modular multiplications dominate — see ‘the bottleneck’ later.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Band"/>
          <p:cNvSpPr/>
          <p:nvPr/>
        </p:nvSpPr>
        <p:spPr>
          <a:xfrm>
            <a:off x="0" y="0"/>
            <a:ext cx="12192000" cy="1153391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5069"/>
            <a:ext cx="10515600" cy="603250"/>
          </a:xfrm>
          <a:solidFill>
            <a:srgbClr val="C00000"/>
          </a:solidFill>
          <a:ln w="9525">
            <a:solidFill>
              <a:srgbClr val="FFFFFF"/>
            </a:solidFill>
          </a:ln>
        </p:spPr>
        <p:txBody>
          <a:bodyPr>
            <a:normAutofit/>
          </a:bodyPr>
          <a:lstStyle/>
          <a:p>
            <a:pPr algn="ctr"/>
            <a:r>
              <a:rPr sz="3600">
                <a:solidFill>
                  <a:srgbClr val="FFFFFF"/>
                </a:solidFill>
              </a:rPr>
              <a:t>Step 3 — recover r by continued fractions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17320"/>
            <a:ext cx="6583680" cy="2331720"/>
          </a:xfrm>
          <a:prstGeom prst="roundRect">
            <a:avLst>
              <a:gd name="adj" fmla="val 6000"/>
            </a:avLst>
          </a:prstGeom>
          <a:solidFill>
            <a:srgbClr val="DEEBF7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49808" y="1490472"/>
            <a:ext cx="6364224" cy="21854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02060"/>
                </a:solidFill>
              </a:rPr>
              <a:t>Theorem (continued-fraction recovery)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404040"/>
                </a:solidFill>
              </a:rPr>
              <a:t>If a rational s/r with 0 ≤ s &lt; r ≤ N is approximated by φ to within</a:t>
            </a:r>
          </a:p>
          <a:p>
            <a:pPr algn="ctr">
              <a:spcAft>
                <a:spcPts val="400"/>
              </a:spcAft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Para>
                    <m:oMathParaPr>
                      <m:jc m:val="center"/>
                    </m:oMathParaPr>
                    <m:oMath>
                      <m:d>
                        <m:dPr>
                          <m:begChr m:val="|"/>
                          <m:sepChr m:val=""/>
                          <m:endChr m:val="|"/>
                        </m:dPr>
                        <m:e>
                          <m:r>
                            <a:rPr lang="en-US" sz="2200">
                              <a:solidFill>
                                <a:srgbClr val="002060"/>
                              </a:solidFill>
                            </a:rPr>
                            <m:t>ϕ−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a:rPr lang="en-US" sz="2200">
                                  <a:solidFill>
                                    <a:srgbClr val="002060"/>
                                  </a:solidFill>
                                </a:rPr>
                                <m:t>s</m:t>
                              </m:r>
                            </m:num>
                            <m:den>
                              <m:r>
                                <a:rPr lang="en-US" sz="2200">
                                  <a:solidFill>
                                    <a:srgbClr val="002060"/>
                                  </a:solidFill>
                                </a:rPr>
                                <m:t>r</m:t>
                              </m:r>
                            </m:den>
                          </m:f>
                        </m:e>
                      </m:d>
                      <m:r>
                        <a:rPr lang="en-US" sz="2200">
                          <a:solidFill>
                            <a:srgbClr val="002060"/>
                          </a:solidFill>
                        </a:rPr>
                        <m:t>≤</m:t>
                      </m:r>
                      <m:f>
                        <m:fPr>
                          <m:type m:val="bar"/>
                        </m:fPr>
                        <m:num>
                          <m:r>
                            <a:rPr lang="en-US" sz="2200">
                              <a:solidFill>
                                <a:srgbClr val="002060"/>
                              </a:solidFill>
                            </a:rPr>
                            <m:t>1</m:t>
                          </m:r>
                        </m:num>
                        <m:den>
                          <m:r>
                            <a:rPr lang="en-US" sz="2200">
                              <a:solidFill>
                                <a:srgbClr val="002060"/>
                              </a:solidFill>
                            </a:rPr>
                            <m:t>2</m:t>
                          </m:r>
                          <m:sSup>
                            <m:e>
                              <m:r>
                                <a:rPr lang="en-US" sz="2200">
                                  <a:solidFill>
                                    <a:srgbClr val="002060"/>
                                  </a:solidFill>
                                </a:rPr>
                                <m:t>r</m:t>
                              </m:r>
                            </m:e>
                            <m:sup>
                              <m:r>
                                <a:rPr lang="en-US" sz="2200">
                                  <a:solidFill>
                                    <a:srgbClr val="002060"/>
                                  </a:solidFill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</mc:Choice>
              <mc:Fallback>
                <a:r>
                  <a:rPr lang="en-US"/>
                  <a:t>[equation]</a:t>
                </a:r>
              </mc:Fallback>
            </mc:AlternateContent>
          </a:p>
          <a:p>
            <a:pPr algn="l">
              <a:spcAft>
                <a:spcPts val="0"/>
              </a:spcAft>
            </a:pPr>
            <a:r>
              <a:rPr sz="1500">
                <a:solidFill>
                  <a:srgbClr val="404040"/>
                </a:solidFill>
              </a:rPr>
              <a:t>then s/r is one of the convergents of the continued-fraction expansion of φ, found in O(log N) steps.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06640" y="1417320"/>
            <a:ext cx="4160520" cy="23317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516367" y="1490472"/>
            <a:ext cx="3941063" cy="21854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02060"/>
                </a:solidFill>
              </a:rPr>
              <a:t>In code: one line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002060"/>
                </a:solidFill>
              </a:rPr>
              <a:t>Fraction(phi).limit_denominator(N)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404040"/>
                </a:solidFill>
              </a:rPr>
              <a:t>returns the best rational approximation to φ with denominator ≤ N — exactly the convergent above. Its denominator is the candidate r.</a:t>
            </a:r>
          </a:p>
          <a:p>
            <a:pPr algn="l">
              <a:spcAft>
                <a:spcPts val="0"/>
              </a:spcAft>
            </a:pPr>
            <a:r>
              <a:rPr sz="1300">
                <a:solidFill>
                  <a:srgbClr val="404040"/>
                </a:solidFill>
              </a:rPr>
              <a:t>Example: Fraction(0.75).limit_denominator(15) = 3/4  →  r = 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931920"/>
            <a:ext cx="10927080" cy="24231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49808" y="4005072"/>
            <a:ext cx="10707624" cy="2276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02060"/>
                </a:solidFill>
              </a:rPr>
              <a:t>Why the algorithm is probabilistic — and why that is fine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sz="1500" b="1">
                <a:solidFill>
                  <a:srgbClr val="404040"/>
                </a:solidFill>
              </a:rPr>
              <a:t>s = 0: </a:t>
            </a:r>
            <a:r>
              <a:rPr sz="1500">
                <a:solidFill>
                  <a:srgbClr val="404040"/>
                </a:solidFill>
              </a:rPr>
              <a:t>φ = 0 carries no information.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sz="1500" b="1">
                <a:solidFill>
                  <a:srgbClr val="404040"/>
                </a:solidFill>
              </a:rPr>
              <a:t>gcd(s, r) &gt; 1: </a:t>
            </a:r>
            <a:r>
              <a:rPr sz="1500">
                <a:solidFill>
                  <a:srgbClr val="404040"/>
                </a:solidFill>
              </a:rPr>
              <a:t>we recover a divisor of r, not r itself (e.g. s/r = 2/4 → r′ = 2).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sz="1500" b="1">
                <a:solidFill>
                  <a:srgbClr val="404040"/>
                </a:solidFill>
              </a:rPr>
              <a:t>r odd, or a^(r/2) ≡ −1: </a:t>
            </a:r>
            <a:r>
              <a:rPr sz="1500">
                <a:solidFill>
                  <a:srgbClr val="404040"/>
                </a:solidFill>
              </a:rPr>
              <a:t>the theorem of Step 1 does not apply.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sz="1500" b="1">
                <a:solidFill>
                  <a:srgbClr val="C00000"/>
                </a:solidFill>
              </a:rPr>
              <a:t>Each failure is detected cheaply </a:t>
            </a:r>
            <a:r>
              <a:rPr sz="1500">
                <a:solidFill>
                  <a:srgbClr val="404040"/>
                </a:solidFill>
              </a:rPr>
              <a:t>(test a^r ≡ 1? and the gcds) and we simply repeat with a new run or a new a. A constant number of repetitions gives any desired success probability.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Band"/>
          <p:cNvSpPr/>
          <p:nvPr/>
        </p:nvSpPr>
        <p:spPr>
          <a:xfrm>
            <a:off x="0" y="0"/>
            <a:ext cx="12192000" cy="1153391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5069"/>
            <a:ext cx="10515600" cy="603250"/>
          </a:xfrm>
          <a:solidFill>
            <a:srgbClr val="C00000"/>
          </a:solidFill>
          <a:ln w="9525">
            <a:solidFill>
              <a:srgbClr val="FFFFFF"/>
            </a:solidFill>
          </a:ln>
        </p:spPr>
        <p:txBody>
          <a:bodyPr>
            <a:normAutofit/>
          </a:bodyPr>
          <a:lstStyle/>
          <a:p>
            <a:pPr algn="ctr"/>
            <a:r>
              <a:rPr sz="3600">
                <a:solidFill>
                  <a:srgbClr val="FFFFFF"/>
                </a:solidFill>
              </a:rPr>
              <a:t>The complete recipe (S1)</a:t>
            </a:r>
          </a:p>
        </p:txBody>
      </p:sp>
      <p:sp>
        <p:nvSpPr>
          <p:cNvPr id="4" name="Oval 3"/>
          <p:cNvSpPr/>
          <p:nvPr/>
        </p:nvSpPr>
        <p:spPr>
          <a:xfrm>
            <a:off x="731520" y="1508760"/>
            <a:ext cx="594360" cy="594360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31520" y="1508760"/>
            <a:ext cx="59436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1399032"/>
            <a:ext cx="7498079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002060"/>
                </a:solidFill>
              </a:rPr>
              <a:t>Classical shortcuts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404040"/>
                </a:solidFill>
              </a:rPr>
              <a:t>If N is even output 2. If N = cᵇ is a perfect power (checkable classically) output c.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2496312"/>
            <a:ext cx="594360" cy="594360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31520" y="2496312"/>
            <a:ext cx="59436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2386584"/>
            <a:ext cx="7498079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002060"/>
                </a:solidFill>
              </a:rPr>
              <a:t>Pick a random a ∈ {2, …, N − 1}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404040"/>
                </a:solidFill>
              </a:rPr>
              <a:t>Compute g = gcd(a, N). If g &gt; 1 output g — a lucky factor, no quantum computer needed.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3483864"/>
            <a:ext cx="594360" cy="59436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31520" y="3483864"/>
            <a:ext cx="59436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374136"/>
            <a:ext cx="7498079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C00000"/>
                </a:solidFill>
              </a:rPr>
              <a:t>Quantum order finding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404040"/>
                </a:solidFill>
              </a:rPr>
              <a:t>QPE on U|y⟩ = |ay mod N⟩ with input |1⟩; measure φ ≈ s/r.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4471416"/>
            <a:ext cx="594360" cy="594360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31520" y="4471416"/>
            <a:ext cx="59436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4361688"/>
            <a:ext cx="7498079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002060"/>
                </a:solidFill>
              </a:rPr>
              <a:t>Continued fractions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404040"/>
                </a:solidFill>
              </a:rPr>
              <a:t>r = denominator of limit_denominator(φ, N). Verify aʳ ≡ 1 (mod N); if not, go to 2.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5458968"/>
            <a:ext cx="594360" cy="594360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31520" y="5458968"/>
            <a:ext cx="59436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5349240"/>
            <a:ext cx="7498079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002060"/>
                </a:solidFill>
              </a:rPr>
              <a:t>Extract the factors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404040"/>
                </a:solidFill>
              </a:rPr>
              <a:t>If r is even and a^(r/2) ≢ −1 (mod N), output gcd(a^(r/2) ± 1, N). Otherwise go to 2.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89720" y="1417320"/>
            <a:ext cx="2377440" cy="48463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299448" y="1490472"/>
            <a:ext cx="2157984" cy="47000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02060"/>
                </a:solidFill>
              </a:rPr>
              <a:t>Legend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002060"/>
                </a:solidFill>
              </a:rPr>
              <a:t>■ classical</a:t>
            </a:r>
          </a:p>
          <a:p>
            <a:pPr algn="l">
              <a:spcAft>
                <a:spcPts val="1000"/>
              </a:spcAft>
            </a:pPr>
            <a:r>
              <a:rPr sz="1400" b="1">
                <a:solidFill>
                  <a:srgbClr val="C00000"/>
                </a:solidFill>
              </a:rPr>
              <a:t>■ quantum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404040"/>
                </a:solidFill>
              </a:rPr>
              <a:t>Only step 3 runs on the QPU. Everything else is a few lines of Python.</a:t>
            </a:r>
          </a:p>
          <a:p>
            <a:pPr algn="l">
              <a:spcAft>
                <a:spcPts val="0"/>
              </a:spcAft>
            </a:pPr>
            <a:r>
              <a:rPr sz="1200">
                <a:solidFill>
                  <a:srgbClr val="002060"/>
                </a:solidFill>
              </a:rPr>
              <a:t>Notebook: shor_factor(N)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Band"/>
          <p:cNvSpPr/>
          <p:nvPr/>
        </p:nvSpPr>
        <p:spPr>
          <a:xfrm>
            <a:off x="0" y="0"/>
            <a:ext cx="12192000" cy="1153391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5069"/>
            <a:ext cx="10515600" cy="603250"/>
          </a:xfrm>
          <a:solidFill>
            <a:srgbClr val="C00000"/>
          </a:solidFill>
          <a:ln w="9525">
            <a:solidFill>
              <a:srgbClr val="FFFFFF"/>
            </a:solidFill>
          </a:ln>
        </p:spPr>
        <p:txBody>
          <a:bodyPr>
            <a:normAutofit/>
          </a:bodyPr>
          <a:lstStyle/>
          <a:p>
            <a:pPr algn="ctr"/>
            <a:r>
              <a:rPr sz="3600">
                <a:solidFill>
                  <a:srgbClr val="FFFFFF"/>
                </a:solidFill>
              </a:rPr>
              <a:t>Example: factoring N = 15 with a = 7 on a simulator</a:t>
            </a:r>
          </a:p>
        </p:txBody>
      </p:sp>
      <p:pic>
        <p:nvPicPr>
          <p:cNvPr id="4" name="HistIdeal" descr="hist_id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71600"/>
            <a:ext cx="6035040" cy="27089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4251960"/>
            <a:ext cx="6035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>
                <a:solidFill>
                  <a:srgbClr val="404040"/>
                </a:solidFill>
              </a:rPr>
              <a:t>IBM/shor.ipynb on the Aer simulator — 8 counting qubits, 2048 shots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03720" y="1371600"/>
            <a:ext cx="4663440" cy="3291840"/>
          </a:xfrm>
          <a:prstGeom prst="roundRect">
            <a:avLst>
              <a:gd name="adj" fmla="val 6000"/>
            </a:avLst>
          </a:prstGeom>
          <a:solidFill>
            <a:srgbClr val="DEEBF7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013448" y="1444752"/>
            <a:ext cx="4443983" cy="31455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02060"/>
                </a:solidFill>
              </a:rPr>
              <a:t>Reading the histogram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404040"/>
                </a:solidFill>
              </a:rPr>
              <a:t>r = 4 (7¹=7, 7²≡4, 7³≡13, 7⁴≡1), so QPE returns φ ∈ {0, ¼, ½, ¾} with equal probability: register values {0, 64, 128, 192} out of 256.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sz="1400" b="1">
                <a:solidFill>
                  <a:srgbClr val="404040"/>
                </a:solidFill>
              </a:rPr>
              <a:t>φ = ¾: </a:t>
            </a:r>
            <a:r>
              <a:rPr sz="1400">
                <a:solidFill>
                  <a:srgbClr val="404040"/>
                </a:solidFill>
              </a:rPr>
              <a:t>limit_denominator(15) → 3/4, r = 4 ✓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sz="1400" b="1">
                <a:solidFill>
                  <a:srgbClr val="404040"/>
                </a:solidFill>
              </a:rPr>
              <a:t>φ = ¼: </a:t>
            </a:r>
            <a:r>
              <a:rPr sz="1400">
                <a:solidFill>
                  <a:srgbClr val="404040"/>
                </a:solidFill>
              </a:rPr>
              <a:t>→ 1/4, r = 4 ✓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sz="1400" b="1">
                <a:solidFill>
                  <a:srgbClr val="404040"/>
                </a:solidFill>
              </a:rPr>
              <a:t>φ = ½: </a:t>
            </a:r>
            <a:r>
              <a:rPr sz="1400">
                <a:solidFill>
                  <a:srgbClr val="404040"/>
                </a:solidFill>
              </a:rPr>
              <a:t>→ 1/2, r = 2: but 7² ≢ 1 — rejected, retry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sz="1400" b="1">
                <a:solidFill>
                  <a:srgbClr val="404040"/>
                </a:solidFill>
              </a:rPr>
              <a:t>φ = 0: </a:t>
            </a:r>
            <a:r>
              <a:rPr sz="1400">
                <a:solidFill>
                  <a:srgbClr val="404040"/>
                </a:solidFill>
              </a:rPr>
              <a:t>no information — retry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846320"/>
            <a:ext cx="10927080" cy="15087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49808" y="4919472"/>
            <a:ext cx="10707624" cy="1362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02060"/>
                </a:solidFill>
              </a:rPr>
              <a:t>Then the classical finish</a:t>
            </a:r>
          </a:p>
          <a:p>
            <a:pPr algn="ctr">
              <a:spcAft>
                <a:spcPts val="400"/>
              </a:spcAft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Para>
                    <m:oMathParaPr>
                      <m:jc m:val="center"/>
                    </m:oMathParaPr>
                    <m:oMath>
                      <m:sSup>
                        <m:e>
                          <m:r>
                            <a:rPr lang="en-US" sz="1700">
                              <a:solidFill>
                                <a:srgbClr val="C00000"/>
                              </a:solidFill>
                            </a:rPr>
                            <m:t>a</m:t>
                          </m:r>
                        </m:e>
                        <m:sup>
                          <m:f>
                            <m:fPr>
                              <m:type m:val="lin"/>
                            </m:fPr>
                            <m:num>
                              <m:r>
                                <a:rPr lang="en-US" sz="1700">
                                  <a:solidFill>
                                    <a:srgbClr val="C00000"/>
                                  </a:solidFill>
                                </a:rPr>
                                <m:t>r</m:t>
                              </m:r>
                            </m:num>
                            <m:den>
                              <m:r>
                                <a:rPr lang="en-US" sz="1700">
                                  <a:solidFill>
                                    <a:srgbClr val="C00000"/>
                                  </a:solidFill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  <m:r>
                        <a:rPr lang="en-US" sz="1700">
                          <a:solidFill>
                            <a:srgbClr val="C00000"/>
                          </a:solidFill>
                        </a:rPr>
                        <m:t>=</m:t>
                      </m:r>
                      <m:sSup>
                        <m:e>
                          <m:r>
                            <a:rPr lang="en-US" sz="1700">
                              <a:solidFill>
                                <a:srgbClr val="C00000"/>
                              </a:solidFill>
                            </a:rPr>
                            <m:t>7</m:t>
                          </m:r>
                        </m:e>
                        <m:sup>
                          <m:r>
                            <a:rPr lang="en-US" sz="1700">
                              <a:solidFill>
                                <a:srgbClr val="C00000"/>
                              </a:solidFill>
                            </a:rPr>
                            <m:t>2</m:t>
                          </m:r>
                        </m:sup>
                      </m:sSup>
                      <m:r>
                        <a:rPr lang="en-US" sz="1700">
                          <a:solidFill>
                            <a:srgbClr val="C00000"/>
                          </a:solidFill>
                        </a:rPr>
                        <m:t>=49≡4</m:t>
                      </m:r>
                      <m:r>
                        <a:rPr lang="en-US" sz="1700">
                          <a:solidFill>
                            <a:srgbClr val="C00000"/>
                          </a:solidFill>
                        </a:rPr>
                        <m:rPr>
                          <m:sty m:val="p"/>
                        </m:rPr>
                        <m:t> </m:t>
                      </m:r>
                      <m:d>
                        <m:dPr>
                          <m:sepChr m:val=""/>
                        </m:dPr>
                        <m:e>
                          <m:r>
                            <a:rPr lang="en-US" sz="1700">
                              <a:solidFill>
                                <a:srgbClr val="C00000"/>
                              </a:solidFill>
                            </a:rPr>
                            <m:rPr>
                              <m:sty m:val="p"/>
                            </m:rPr>
                            <m:t>mod</m:t>
                          </m:r>
                          <m:r>
                            <a:rPr lang="en-US" sz="1700">
                              <a:solidFill>
                                <a:srgbClr val="C00000"/>
                              </a:solidFill>
                            </a:rPr>
                            <m:rPr>
                              <m:sty m:val="p"/>
                            </m:rPr>
                            <m:t> </m:t>
                          </m:r>
                          <m:r>
                            <a:rPr lang="en-US" sz="1700">
                              <a:solidFill>
                                <a:srgbClr val="C00000"/>
                              </a:solidFill>
                            </a:rPr>
                            <m:t>15</m:t>
                          </m:r>
                        </m:e>
                      </m:d>
                      <m:r>
                        <a:rPr lang="en-US" sz="1700">
                          <a:solidFill>
                            <a:srgbClr val="C00000"/>
                          </a:solidFill>
                        </a:rPr>
                        <m:t>,</m:t>
                      </m:r>
                      <m:r>
                        <a:rPr lang="en-US" sz="1700">
                          <a:solidFill>
                            <a:srgbClr val="C00000"/>
                          </a:solidFill>
                        </a:rPr>
                        <m:rPr>
                          <m:sty m:val="p"/>
                        </m:rPr>
                        <m:t>      </m:t>
                      </m:r>
                      <m:r>
                        <a:rPr lang="en-US" sz="1700">
                          <a:solidFill>
                            <a:srgbClr val="C00000"/>
                          </a:solidFill>
                        </a:rPr>
                        <m:rPr>
                          <m:sty m:val="p"/>
                        </m:rPr>
                        <m:t>gcd</m:t>
                      </m:r>
                      <m:r>
                        <a:rPr lang="en-US" sz="1700">
                          <a:solidFill>
                            <a:srgbClr val="C00000"/>
                          </a:solidFill>
                        </a:rPr>
                        <m:t>(4−1,15)=3,</m:t>
                      </m:r>
                      <m:r>
                        <a:rPr lang="en-US" sz="1700">
                          <a:solidFill>
                            <a:srgbClr val="C00000"/>
                          </a:solidFill>
                        </a:rPr>
                        <m:rPr>
                          <m:sty m:val="p"/>
                        </m:rPr>
                        <m:t>      </m:t>
                      </m:r>
                      <m:r>
                        <a:rPr lang="en-US" sz="1700">
                          <a:solidFill>
                            <a:srgbClr val="C00000"/>
                          </a:solidFill>
                        </a:rPr>
                        <m:rPr>
                          <m:sty m:val="p"/>
                        </m:rPr>
                        <m:t>gcd</m:t>
                      </m:r>
                      <m:r>
                        <a:rPr lang="en-US" sz="1700">
                          <a:solidFill>
                            <a:srgbClr val="C00000"/>
                          </a:solidFill>
                        </a:rPr>
                        <m:t>(4+1,15)=5</m:t>
                      </m:r>
                      <m:r>
                        <a:rPr lang="en-US" sz="1700">
                          <a:solidFill>
                            <a:srgbClr val="C00000"/>
                          </a:solidFill>
                        </a:rPr>
                        <m:rPr>
                          <m:sty m:val="p"/>
                        </m:rPr>
                        <m:t>      </m:t>
                      </m:r>
                      <m:r>
                        <a:rPr lang="en-US" sz="1700">
                          <a:solidFill>
                            <a:srgbClr val="C00000"/>
                          </a:solidFill>
                        </a:rPr>
                        <m:t>⟹</m:t>
                      </m:r>
                      <m:r>
                        <a:rPr lang="en-US" sz="1700">
                          <a:solidFill>
                            <a:srgbClr val="C00000"/>
                          </a:solidFill>
                        </a:rPr>
                        <m:rPr>
                          <m:sty m:val="p"/>
                        </m:rPr>
                        <m:t>      </m:t>
                      </m:r>
                      <m:r>
                        <a:rPr lang="en-US" sz="1700">
                          <a:solidFill>
                            <a:srgbClr val="C00000"/>
                          </a:solidFill>
                        </a:rPr>
                        <m:t>15=3×5</m:t>
                      </m:r>
                    </m:oMath>
                  </m:oMathPara>
                </a14:m>
              </mc:Choice>
              <mc:Fallback>
                <a:r>
                  <a:rPr lang="en-US"/>
                  <a:t>[equation]</a:t>
                </a:r>
              </mc:Fallback>
            </mc:AlternateContent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Band"/>
          <p:cNvSpPr/>
          <p:nvPr/>
        </p:nvSpPr>
        <p:spPr>
          <a:xfrm>
            <a:off x="0" y="0"/>
            <a:ext cx="12192000" cy="1153391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5069"/>
            <a:ext cx="10515600" cy="603250"/>
          </a:xfrm>
          <a:solidFill>
            <a:srgbClr val="C00000"/>
          </a:solidFill>
          <a:ln w="9525">
            <a:solidFill>
              <a:srgbClr val="FFFFFF"/>
            </a:solidFill>
          </a:ln>
        </p:spPr>
        <p:txBody>
          <a:bodyPr>
            <a:normAutofit/>
          </a:bodyPr>
          <a:lstStyle/>
          <a:p>
            <a:pPr algn="ctr"/>
            <a:r>
              <a:rPr sz="3600">
                <a:solidFill>
                  <a:srgbClr val="FFFFFF"/>
                </a:solidFill>
              </a:rPr>
              <a:t>The same circuit on a noisy 20-qubit device model</a:t>
            </a:r>
          </a:p>
        </p:txBody>
      </p:sp>
      <p:pic>
        <p:nvPicPr>
          <p:cNvPr id="4" name="HistNoisy" descr="hist_nois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71600"/>
            <a:ext cx="6035040" cy="257633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4251960"/>
            <a:ext cx="6035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>
                <a:solidFill>
                  <a:srgbClr val="404040"/>
                </a:solidFill>
              </a:rPr>
              <a:t>IQM/shor.ipynb on fake_apollo — IQM’s noisy model of a 20-qubit Garnet-class chip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03720" y="1371600"/>
            <a:ext cx="4663440" cy="3291840"/>
          </a:xfrm>
          <a:prstGeom prst="roundRect">
            <a:avLst>
              <a:gd name="adj" fmla="val 6000"/>
            </a:avLst>
          </a:prstGeom>
          <a:solidFill>
            <a:srgbClr val="DEEBF7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013448" y="1444752"/>
            <a:ext cx="4443983" cy="31455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02060"/>
                </a:solidFill>
              </a:rPr>
              <a:t>What the hardware sees</a:t>
            </a:r>
          </a:p>
          <a:p>
            <a:pPr algn="l">
              <a:spcAft>
                <a:spcPts val="200"/>
              </a:spcAft>
            </a:pPr>
            <a:r>
              <a:rPr sz="1400">
                <a:solidFill>
                  <a:srgbClr val="404040"/>
                </a:solidFill>
              </a:rPr>
              <a:t>Transpiled to the native gate set (PRX + CZ) on a square lattice: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0000"/>
                </a:solidFill>
              </a:rPr>
              <a:t>12 qubits · ≈ 600 native instructions · depth ≈ 350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404040"/>
                </a:solidFill>
              </a:rPr>
              <a:t>The four ideal peaks are still the four tallest bars, but most of the 2048 shots are scattered by gate errors and decoherence (T₁, T₂).</a:t>
            </a:r>
          </a:p>
          <a:p>
            <a:pPr algn="l">
              <a:spcAft>
                <a:spcPts val="0"/>
              </a:spcAft>
            </a:pPr>
            <a:r>
              <a:rPr sz="1400">
                <a:solidFill>
                  <a:srgbClr val="404040"/>
                </a:solidFill>
              </a:rPr>
              <a:t>shor_factor(15) still succeeds — after a few more retries (continued fractions + the aʳ ≡ 1 check reject the bad samples).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846320"/>
            <a:ext cx="10927080" cy="15087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49808" y="4919472"/>
            <a:ext cx="10707624" cy="1362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02060"/>
                </a:solidFill>
              </a:rPr>
              <a:t>Run it yourself</a:t>
            </a:r>
          </a:p>
          <a:p>
            <a:pPr algn="l">
              <a:spcAft>
                <a:spcPts val="400"/>
              </a:spcAft>
            </a:pPr>
            <a:r>
              <a:rPr sz="1500">
                <a:solidFill>
                  <a:srgbClr val="404040"/>
                </a:solidFill>
              </a:rPr>
              <a:t>One line selects the backend in IQM/shor.ipynb:  </a:t>
            </a:r>
            <a:r>
              <a:rPr sz="1500" b="1">
                <a:solidFill>
                  <a:srgbClr val="002060"/>
                </a:solidFill>
                <a:latin typeface="Courier New"/>
              </a:rPr>
              <a:t>TARGET = "fake_apollo"</a:t>
            </a:r>
            <a:r>
              <a:rPr sz="1500">
                <a:solidFill>
                  <a:srgbClr val="404040"/>
                </a:solidFill>
              </a:rPr>
              <a:t>  (local noisy simulator)  →  </a:t>
            </a:r>
            <a:r>
              <a:rPr sz="1500" b="1">
                <a:solidFill>
                  <a:srgbClr val="002060"/>
                </a:solidFill>
                <a:latin typeface="Courier New"/>
              </a:rPr>
              <a:t>"garnet"</a:t>
            </a:r>
            <a:r>
              <a:rPr sz="1500">
                <a:solidFill>
                  <a:srgbClr val="404040"/>
                </a:solidFill>
              </a:rPr>
              <a:t> / </a:t>
            </a:r>
            <a:r>
              <a:rPr sz="1500" b="1">
                <a:solidFill>
                  <a:srgbClr val="002060"/>
                </a:solidFill>
                <a:latin typeface="Courier New"/>
              </a:rPr>
              <a:t>"emerald"</a:t>
            </a:r>
            <a:r>
              <a:rPr sz="1500">
                <a:solidFill>
                  <a:srgbClr val="404040"/>
                </a:solidFill>
              </a:rPr>
              <a:t>  (real 20- / 54-qubit QPUs on IQM Resonance).</a:t>
            </a:r>
          </a:p>
          <a:p>
            <a:pPr algn="l">
              <a:spcAft>
                <a:spcPts val="0"/>
              </a:spcAft>
            </a:pPr>
            <a:r>
              <a:rPr sz="1300">
                <a:solidFill>
                  <a:srgbClr val="404040"/>
                </a:solidFill>
              </a:rPr>
              <a:t>The ‘:mock’ targets only test the cloud pipeline (they return random bitstrings); verify logic on fake_apollo, then spend QPU credits.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Band"/>
          <p:cNvSpPr/>
          <p:nvPr/>
        </p:nvSpPr>
        <p:spPr>
          <a:xfrm>
            <a:off x="0" y="0"/>
            <a:ext cx="12192000" cy="1153391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5069"/>
            <a:ext cx="10515600" cy="603250"/>
          </a:xfrm>
          <a:solidFill>
            <a:srgbClr val="C00000"/>
          </a:solidFill>
          <a:ln w="9525">
            <a:solidFill>
              <a:srgbClr val="FFFFFF"/>
            </a:solidFill>
          </a:ln>
        </p:spPr>
        <p:txBody>
          <a:bodyPr>
            <a:normAutofit/>
          </a:bodyPr>
          <a:lstStyle/>
          <a:p>
            <a:pPr algn="ctr"/>
            <a:r>
              <a:rPr sz="3600">
                <a:solidFill>
                  <a:srgbClr val="FFFFFF"/>
                </a:solidFill>
              </a:rPr>
              <a:t>Breaking a toy RSA key — and N = 21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17320"/>
            <a:ext cx="6583680" cy="4937760"/>
          </a:xfrm>
          <a:prstGeom prst="roundRect">
            <a:avLst>
              <a:gd name="adj" fmla="val 6000"/>
            </a:avLst>
          </a:prstGeom>
          <a:solidFill>
            <a:srgbClr val="FBE5E5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49808" y="1490472"/>
            <a:ext cx="6364224" cy="4791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02060"/>
                </a:solidFill>
              </a:rPr>
              <a:t>The attack (shor.ipynb, last section)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404040"/>
                </a:solidFill>
              </a:rPr>
              <a:t>The attacker sees only the public key </a:t>
            </a:r>
            <a:r>
              <a:rPr sz="1500" b="1">
                <a:solidFill>
                  <a:srgbClr val="37863C"/>
                </a:solidFill>
              </a:rPr>
              <a:t>(N, e) = (55, 3)</a:t>
            </a:r>
            <a:r>
              <a:rPr sz="1500">
                <a:solidFill>
                  <a:srgbClr val="404040"/>
                </a:solidFill>
              </a:rPr>
              <a:t> and the cipher-text </a:t>
            </a:r>
            <a:r>
              <a:rPr sz="1500" b="1">
                <a:solidFill>
                  <a:srgbClr val="404040"/>
                </a:solidFill>
              </a:rPr>
              <a:t>c = 13</a:t>
            </a:r>
            <a:r>
              <a:rPr sz="1500">
                <a:solidFill>
                  <a:srgbClr val="404040"/>
                </a:solidFill>
              </a:rPr>
              <a:t>.</a:t>
            </a:r>
          </a:p>
          <a:p>
            <a:pPr algn="l">
              <a:spcAft>
                <a:spcPts val="300"/>
              </a:spcAft>
            </a:pPr>
            <a:r>
              <a:rPr sz="1500" b="1">
                <a:solidFill>
                  <a:srgbClr val="404040"/>
                </a:solidFill>
              </a:rPr>
              <a:t>1. </a:t>
            </a:r>
            <a:r>
              <a:rPr sz="1500">
                <a:solidFill>
                  <a:srgbClr val="404040"/>
                </a:solidFill>
              </a:rPr>
              <a:t>Run Recipe S1 on N = 55  →  p = 5, q = 11</a:t>
            </a:r>
          </a:p>
          <a:p>
            <a:pPr algn="l">
              <a:spcAft>
                <a:spcPts val="300"/>
              </a:spcAft>
            </a:pPr>
            <a:r>
              <a:rPr sz="1500" b="1">
                <a:solidFill>
                  <a:srgbClr val="404040"/>
                </a:solidFill>
              </a:rPr>
              <a:t>2. </a:t>
            </a:r>
            <a:r>
              <a:rPr sz="1500">
                <a:solidFill>
                  <a:srgbClr val="404040"/>
                </a:solidFill>
              </a:rPr>
              <a:t>φ(N) = 4 · 10 = 40</a:t>
            </a:r>
          </a:p>
          <a:p>
            <a:pPr algn="l">
              <a:spcAft>
                <a:spcPts val="300"/>
              </a:spcAft>
            </a:pPr>
            <a:r>
              <a:rPr sz="1500" b="1">
                <a:solidFill>
                  <a:srgbClr val="404040"/>
                </a:solidFill>
              </a:rPr>
              <a:t>3. </a:t>
            </a:r>
            <a:r>
              <a:rPr sz="1500">
                <a:solidFill>
                  <a:srgbClr val="404040"/>
                </a:solidFill>
              </a:rPr>
              <a:t>d ≡ 3⁻¹ ≡ 27 (mod 40)   — the private key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404040"/>
                </a:solidFill>
              </a:rPr>
              <a:t>4. </a:t>
            </a:r>
            <a:r>
              <a:rPr sz="1500">
                <a:solidFill>
                  <a:srgbClr val="404040"/>
                </a:solidFill>
              </a:rPr>
              <a:t>m = c^d mod N = 13²⁷ mod 55 = 7   — the message</a:t>
            </a:r>
          </a:p>
          <a:p>
            <a:pPr algn="ctr">
              <a:spcAft>
                <a:spcPts val="800"/>
              </a:spcAft>
            </a:pPr>
            <a:r>
              <a:rPr sz="2000" b="1">
                <a:solidFill>
                  <a:srgbClr val="C00000"/>
                </a:solidFill>
              </a:rPr>
              <a:t>public data  →  factor N  →  φ(N)  →  d  →  m</a:t>
            </a:r>
          </a:p>
          <a:p>
            <a:pPr algn="l">
              <a:spcAft>
                <a:spcPts val="0"/>
              </a:spcAft>
            </a:pPr>
            <a:r>
              <a:rPr sz="1500" b="1">
                <a:solidFill>
                  <a:srgbClr val="404040"/>
                </a:solidFill>
              </a:rPr>
              <a:t>The private key and the message are recovered purely from public data: the trapdoor is gone.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06640" y="1417320"/>
            <a:ext cx="4160520" cy="49377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516367" y="1490472"/>
            <a:ext cx="3941063" cy="4791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02060"/>
                </a:solidFill>
              </a:rPr>
              <a:t>Second example: N = 21, a = 2</a:t>
            </a:r>
          </a:p>
          <a:p>
            <a:pPr algn="l">
              <a:spcAft>
                <a:spcPts val="400"/>
              </a:spcAft>
            </a:pPr>
            <a:r>
              <a:rPr sz="1500">
                <a:solidFill>
                  <a:srgbClr val="404040"/>
                </a:solidFill>
              </a:rPr>
              <a:t>Powers of 2 mod 21: 2, 4, 8, 16, 11, 1  →  r = 6 (even)</a:t>
            </a:r>
          </a:p>
          <a:p>
            <a:pPr algn="ctr">
              <a:spcAft>
                <a:spcPts val="400"/>
              </a:spcAft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Para>
                    <m:oMathParaPr>
                      <m:jc m:val="center"/>
                    </m:oMathParaPr>
                    <m:oMath>
                      <m:sSup>
                        <m:e>
                          <m:r>
                            <a:rPr lang="en-US" sz="1800">
                              <a:solidFill>
                                <a:srgbClr val="002060"/>
                              </a:solidFill>
                            </a:rPr>
                            <m:t>a</m:t>
                          </m:r>
                        </m:e>
                        <m:sup>
                          <m:f>
                            <m:fPr>
                              <m:type m:val="lin"/>
                            </m:fPr>
                            <m:num>
                              <m:r>
                                <a:rPr lang="en-US" sz="1800">
                                  <a:solidFill>
                                    <a:srgbClr val="002060"/>
                                  </a:solidFill>
                                </a:rPr>
                                <m:t>r</m:t>
                              </m:r>
                            </m:num>
                            <m:den>
                              <m:r>
                                <a:rPr lang="en-US" sz="1800">
                                  <a:solidFill>
                                    <a:srgbClr val="002060"/>
                                  </a:solidFill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  <m:r>
                        <a:rPr lang="en-US" sz="1800">
                          <a:solidFill>
                            <a:srgbClr val="002060"/>
                          </a:solidFill>
                        </a:rPr>
                        <m:t>=</m:t>
                      </m:r>
                      <m:sSup>
                        <m:e>
                          <m:r>
                            <a:rPr lang="en-US" sz="1800">
                              <a:solidFill>
                                <a:srgbClr val="002060"/>
                              </a:solidFill>
                            </a:rPr>
                            <m:t>2</m:t>
                          </m:r>
                        </m:e>
                        <m:sup>
                          <m:r>
                            <a:rPr lang="en-US" sz="1800">
                              <a:solidFill>
                                <a:srgbClr val="002060"/>
                              </a:solidFill>
                            </a:rPr>
                            <m:t>3</m:t>
                          </m:r>
                        </m:sup>
                      </m:sSup>
                      <m:r>
                        <a:rPr lang="en-US" sz="1800">
                          <a:solidFill>
                            <a:srgbClr val="002060"/>
                          </a:solidFill>
                        </a:rPr>
                        <m:t>=8</m:t>
                      </m:r>
                    </m:oMath>
                  </m:oMathPara>
                </a14:m>
              </mc:Choice>
              <mc:Fallback>
                <a:r>
                  <a:rPr lang="en-US"/>
                  <a:t>[equation]</a:t>
                </a:r>
              </mc:Fallback>
            </mc:AlternateContent>
          </a:p>
          <a:p>
            <a:pPr algn="ctr">
              <a:spcAft>
                <a:spcPts val="400"/>
              </a:spcAft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Para>
                    <m:oMathParaPr>
                      <m:jc m:val="center"/>
                    </m:oMathParaPr>
                    <m:oMath>
                      <m:r>
                        <a:rPr lang="en-US" sz="1800">
                          <a:solidFill>
                            <a:srgbClr val="002060"/>
                          </a:solidFill>
                        </a:rPr>
                        <m:rPr>
                          <m:sty m:val="p"/>
                        </m:rPr>
                        <m:t>gcd</m:t>
                      </m:r>
                      <m:r>
                        <a:rPr lang="en-US" sz="1800">
                          <a:solidFill>
                            <a:srgbClr val="002060"/>
                          </a:solidFill>
                        </a:rPr>
                        <m:t>(8−1,21)=7</m:t>
                      </m:r>
                    </m:oMath>
                  </m:oMathPara>
                </a14:m>
              </mc:Choice>
              <mc:Fallback>
                <a:r>
                  <a:rPr lang="en-US"/>
                  <a:t>[equation]</a:t>
                </a:r>
              </mc:Fallback>
            </mc:AlternateContent>
          </a:p>
          <a:p>
            <a:pPr algn="ctr">
              <a:spcAft>
                <a:spcPts val="400"/>
              </a:spcAft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Para>
                    <m:oMathParaPr>
                      <m:jc m:val="center"/>
                    </m:oMathParaPr>
                    <m:oMath>
                      <m:r>
                        <a:rPr lang="en-US" sz="1800">
                          <a:solidFill>
                            <a:srgbClr val="002060"/>
                          </a:solidFill>
                        </a:rPr>
                        <m:rPr>
                          <m:sty m:val="p"/>
                        </m:rPr>
                        <m:t>gcd</m:t>
                      </m:r>
                      <m:r>
                        <a:rPr lang="en-US" sz="1800">
                          <a:solidFill>
                            <a:srgbClr val="002060"/>
                          </a:solidFill>
                        </a:rPr>
                        <m:t>(8+1,21)=3</m:t>
                      </m:r>
                    </m:oMath>
                  </m:oMathPara>
                </a14:m>
              </mc:Choice>
              <mc:Fallback>
                <a:r>
                  <a:rPr lang="en-US"/>
                  <a:t>[equation]</a:t>
                </a:r>
              </mc:Fallback>
            </mc:AlternateContent>
          </a:p>
          <a:p>
            <a:pPr algn="ctr">
              <a:spcAft>
                <a:spcPts val="400"/>
              </a:spcAft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Para>
                    <m:oMathParaPr>
                      <m:jc m:val="center"/>
                    </m:oMathParaPr>
                    <m:oMath>
                      <m:r>
                        <a:rPr lang="en-US" sz="2000">
                          <a:solidFill>
                            <a:srgbClr val="C00000"/>
                          </a:solidFill>
                        </a:rPr>
                        <m:t>21=3×7</m:t>
                      </m:r>
                    </m:oMath>
                  </m:oMathPara>
                </a14:m>
              </mc:Choice>
              <mc:Fallback>
                <a:r>
                  <a:rPr lang="en-US"/>
                  <a:t>[equation]</a:t>
                </a:r>
              </mc:Fallback>
            </mc:AlternateContent>
          </a:p>
          <a:p>
            <a:pPr algn="l">
              <a:spcAft>
                <a:spcPts val="0"/>
              </a:spcAft>
            </a:pPr>
            <a:r>
              <a:rPr sz="1300">
                <a:solidFill>
                  <a:srgbClr val="404040"/>
                </a:solidFill>
              </a:rPr>
              <a:t>Exercise: which measured phases y/2⁸ fail for N = 21, and why?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Band"/>
          <p:cNvSpPr/>
          <p:nvPr/>
        </p:nvSpPr>
        <p:spPr>
          <a:xfrm>
            <a:off x="0" y="0"/>
            <a:ext cx="12192000" cy="1153391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5069"/>
            <a:ext cx="10515600" cy="603250"/>
          </a:xfrm>
          <a:solidFill>
            <a:srgbClr val="C00000"/>
          </a:solidFill>
          <a:ln w="9525">
            <a:solidFill>
              <a:srgbClr val="FFFFFF"/>
            </a:solidFill>
          </a:ln>
        </p:spPr>
        <p:txBody>
          <a:bodyPr>
            <a:normAutofit/>
          </a:bodyPr>
          <a:lstStyle/>
          <a:p>
            <a:pPr algn="ctr"/>
            <a:r>
              <a:rPr sz="3600">
                <a:solidFill>
                  <a:srgbClr val="FFFFFF"/>
                </a:solidFill>
              </a:rPr>
              <a:t>The bottleneck: modular exponentiation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270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>
                <a:solidFill>
                  <a:srgbClr val="0563C1"/>
                </a:solidFill>
              </a:rPr>
              <a:t>The controlled-U^(2^j) gates dominate the cost. We never build U^(2^j) by repeating U 2^j times (that is exponential): </a:t>
            </a:r>
            <a:r>
              <a:rPr sz="1600" b="1">
                <a:solidFill>
                  <a:srgbClr val="C00000"/>
                </a:solidFill>
              </a:rPr>
              <a:t>a^(2^j) mod N is precomputed classically by repeated squaring</a:t>
            </a:r>
            <a:r>
              <a:rPr sz="1600">
                <a:solidFill>
                  <a:srgbClr val="0563C1"/>
                </a:solidFill>
              </a:rPr>
              <a:t> in O(j) multiplications, and the circuit performs one controlled modular multiplication by that number.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514600"/>
            <a:ext cx="5349240" cy="2103120"/>
          </a:xfrm>
          <a:prstGeom prst="roundRect">
            <a:avLst>
              <a:gd name="adj" fmla="val 6000"/>
            </a:avLst>
          </a:prstGeom>
          <a:solidFill>
            <a:srgbClr val="DEEBF7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49808" y="2587752"/>
            <a:ext cx="5129783" cy="19568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02060"/>
                </a:solidFill>
              </a:rPr>
              <a:t>Measured in the course notebook (N = 15, t = 8)</a:t>
            </a:r>
          </a:p>
          <a:p>
            <a:pPr algn="l">
              <a:spcAft>
                <a:spcPts val="400"/>
              </a:spcAft>
            </a:pPr>
            <a:r>
              <a:rPr sz="1500">
                <a:solidFill>
                  <a:srgbClr val="404040"/>
                </a:solidFill>
              </a:rPr>
              <a:t>Naive: repeat U 2^j times → </a:t>
            </a:r>
            <a:r>
              <a:rPr sz="2200" b="1">
                <a:solidFill>
                  <a:srgbClr val="C00000"/>
                </a:solidFill>
              </a:rPr>
              <a:t>69 914</a:t>
            </a:r>
            <a:r>
              <a:rPr sz="1500">
                <a:solidFill>
                  <a:srgbClr val="404040"/>
                </a:solidFill>
              </a:rPr>
              <a:t> native instructions</a:t>
            </a:r>
          </a:p>
          <a:p>
            <a:pPr algn="l">
              <a:spcAft>
                <a:spcPts val="400"/>
              </a:spcAft>
            </a:pPr>
            <a:r>
              <a:rPr sz="1500">
                <a:solidFill>
                  <a:srgbClr val="404040"/>
                </a:solidFill>
              </a:rPr>
              <a:t>Classical pre-computation → </a:t>
            </a:r>
            <a:r>
              <a:rPr sz="2200" b="1">
                <a:solidFill>
                  <a:srgbClr val="37863C"/>
                </a:solidFill>
              </a:rPr>
              <a:t>650</a:t>
            </a:r>
            <a:r>
              <a:rPr sz="1500">
                <a:solidFill>
                  <a:srgbClr val="404040"/>
                </a:solidFill>
              </a:rPr>
              <a:t> native instructions, depth 372</a:t>
            </a:r>
          </a:p>
          <a:p>
            <a:pPr algn="l">
              <a:spcAft>
                <a:spcPts val="0"/>
              </a:spcAft>
            </a:pPr>
            <a:r>
              <a:rPr sz="1300">
                <a:solidFill>
                  <a:srgbClr val="404040"/>
                </a:solidFill>
              </a:rPr>
              <a:t>(IQM transpiler, PRX + CZ gate set; IQM Resonance refuses jobs above 10 000 instructions — the naive circuit cannot even be submitted.)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514600"/>
            <a:ext cx="5349240" cy="2103120"/>
          </a:xfrm>
          <a:prstGeom prst="roundRect">
            <a:avLst>
              <a:gd name="adj" fmla="val 6000"/>
            </a:avLst>
          </a:prstGeom>
          <a:solidFill>
            <a:srgbClr val="DEEBF7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327648" y="2587752"/>
            <a:ext cx="5129783" cy="19568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02060"/>
                </a:solidFill>
              </a:rPr>
              <a:t>Theorem (complexity of Shor’s algorithm)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404040"/>
                </a:solidFill>
              </a:rPr>
              <a:t>Order finding, hence factoring N, succeeds with constant probability using</a:t>
            </a:r>
          </a:p>
          <a:p>
            <a:pPr algn="ctr">
              <a:spcAft>
                <a:spcPts val="0"/>
              </a:spcAft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Para>
                    <m:oMathParaPr>
                      <m:jc m:val="center"/>
                    </m:oMathParaPr>
                    <m:oMath>
                      <m:r>
                        <a:rPr lang="en-US" sz="1700">
                          <a:solidFill>
                            <a:srgbClr val="002060"/>
                          </a:solidFill>
                        </a:rPr>
                        <m:t>O(</m:t>
                      </m:r>
                      <m:r>
                        <a:rPr lang="en-US" sz="1700">
                          <a:solidFill>
                            <a:srgbClr val="002060"/>
                          </a:solidFill>
                        </a:rPr>
                        <m:rPr>
                          <m:sty m:val="p"/>
                        </m:rPr>
                        <m:t>log</m:t>
                      </m:r>
                      <m:r>
                        <a:rPr lang="en-US" sz="1700">
                          <a:solidFill>
                            <a:srgbClr val="002060"/>
                          </a:solidFill>
                        </a:rPr>
                        <m:t>N)</m:t>
                      </m:r>
                      <m:r>
                        <a:rPr lang="en-US" sz="1700">
                          <a:solidFill>
                            <a:srgbClr val="002060"/>
                          </a:solidFill>
                        </a:rPr>
                        <m:rPr>
                          <m:sty m:val="p"/>
                        </m:rPr>
                        <m:t> qubits</m:t>
                      </m:r>
                    </m:oMath>
                  </m:oMathPara>
                </a14:m>
              </mc:Choice>
              <mc:Fallback>
                <a:r>
                  <a:rPr lang="en-US"/>
                  <a:t>[equation]</a:t>
                </a:r>
              </mc:Fallback>
            </mc:AlternateContent>
          </a:p>
          <a:p>
            <a:pPr algn="ctr">
              <a:spcAft>
                <a:spcPts val="400"/>
              </a:spcAft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Para>
                    <m:oMathParaPr>
                      <m:jc m:val="center"/>
                    </m:oMathParaPr>
                    <m:oMath>
                      <m:limUpp>
                        <m:e>
                          <m:r>
                            <a:rPr lang="en-US" sz="1700">
                              <a:solidFill>
                                <a:srgbClr val="002060"/>
                              </a:solidFill>
                            </a:rPr>
                            <m:t>O</m:t>
                          </m:r>
                        </m:e>
                        <m:lim>
                          <m:r>
                            <a:rPr lang="en-US" sz="1700">
                              <a:solidFill>
                                <a:srgbClr val="002060"/>
                              </a:solidFill>
                            </a:rPr>
                            <m:t>~</m:t>
                          </m:r>
                        </m:lim>
                      </m:limUpp>
                      <m:d>
                        <m:dPr>
                          <m:sepChr m:val=""/>
                        </m:dPr>
                        <m:e>
                          <m:sSup>
                            <m:e>
                              <m:d>
                                <m:dPr>
                                  <m:sepChr m:val=""/>
                                </m:dPr>
                                <m:e>
                                  <m:r>
                                    <a:rPr lang="en-US" sz="1700">
                                      <a:solidFill>
                                        <a:srgbClr val="002060"/>
                                      </a:solidFill>
                                    </a:rPr>
                                    <m:rPr>
                                      <m:sty m:val="p"/>
                                    </m:rPr>
                                    <m:t>log</m:t>
                                  </m:r>
                                  <m:r>
                                    <a:rPr lang="en-US" sz="1700">
                                      <a:solidFill>
                                        <a:srgbClr val="002060"/>
                                      </a:solidFill>
                                    </a:rPr>
                                    <m:t>N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sz="1700">
                                  <a:solidFill>
                                    <a:srgbClr val="002060"/>
                                  </a:solidFill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en-US" sz="1700">
                          <a:solidFill>
                            <a:srgbClr val="002060"/>
                          </a:solidFill>
                        </a:rPr>
                        <m:rPr>
                          <m:sty m:val="p"/>
                        </m:rPr>
                        <m:t> quantum gates per run</m:t>
                      </m:r>
                    </m:oMath>
                  </m:oMathPara>
                </a14:m>
              </mc:Choice>
              <mc:Fallback>
                <a:r>
                  <a:rPr lang="en-US"/>
                  <a:t>[equation]</a:t>
                </a:r>
              </mc:Fallback>
            </mc:AlternateContent>
          </a:p>
          <a:p>
            <a:pPr algn="l">
              <a:spcAft>
                <a:spcPts val="0"/>
              </a:spcAft>
            </a:pPr>
            <a:r>
              <a:rPr sz="1500">
                <a:solidFill>
                  <a:srgbClr val="404040"/>
                </a:solidFill>
              </a:rPr>
              <a:t>plus O((log N)³) classical post-processing — polynomial in the input size log 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754880"/>
            <a:ext cx="10927080" cy="16002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49808" y="4828032"/>
            <a:ext cx="10707624" cy="1453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02060"/>
                </a:solidFill>
              </a:rPr>
              <a:t>How the multiplier is built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sz="1400">
                <a:solidFill>
                  <a:srgbClr val="404040"/>
                </a:solidFill>
              </a:rPr>
              <a:t>Reversible modular multiplication = QFT-based adders (Draper) + controlled modular additions: Beauregard (2003) factors an n-bit N with 2n + 3 qubits and O(n³) gates.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sz="1400">
                <a:solidFill>
                  <a:srgbClr val="404040"/>
                </a:solidFill>
              </a:rPr>
              <a:t>For N = 15 the notebook cheats pedagogically: multiplication by 2, 4, 7, 8, 11, 13 is a permutation of 4 wires (swaps + X gates) — that is c_amod15.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Band"/>
          <p:cNvSpPr/>
          <p:nvPr/>
        </p:nvSpPr>
        <p:spPr>
          <a:xfrm>
            <a:off x="0" y="0"/>
            <a:ext cx="12192000" cy="1153391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5069"/>
            <a:ext cx="10515600" cy="603250"/>
          </a:xfrm>
          <a:solidFill>
            <a:srgbClr val="C00000"/>
          </a:solidFill>
          <a:ln w="9525">
            <a:solidFill>
              <a:srgbClr val="FFFFFF"/>
            </a:solidFill>
          </a:ln>
        </p:spPr>
        <p:txBody>
          <a:bodyPr>
            <a:normAutofit/>
          </a:bodyPr>
          <a:lstStyle/>
          <a:p>
            <a:pPr algn="ctr"/>
            <a:r>
              <a:rPr sz="3600">
                <a:solidFill>
                  <a:srgbClr val="FFFFFF"/>
                </a:solidFill>
              </a:rPr>
              <a:t>Reality check: how far are we from RSA-2048?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17320"/>
            <a:ext cx="2606040" cy="22860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2606040" cy="2240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C00000"/>
                </a:solidFill>
              </a:rPr>
              <a:t>20 000 000</a:t>
            </a:r>
          </a:p>
          <a:p>
            <a:pPr algn="ctr">
              <a:spcAft>
                <a:spcPts val="600"/>
              </a:spcAft>
            </a:pPr>
            <a:r>
              <a:rPr sz="1400">
                <a:solidFill>
                  <a:srgbClr val="404040"/>
                </a:solidFill>
              </a:rPr>
              <a:t>noisy physical qubits · 8 hours</a:t>
            </a:r>
          </a:p>
          <a:p>
            <a:pPr algn="ctr">
              <a:spcAft>
                <a:spcPts val="0"/>
              </a:spcAft>
            </a:pPr>
            <a:r>
              <a:rPr sz="1200">
                <a:solidFill>
                  <a:srgbClr val="0563C1"/>
                </a:solidFill>
              </a:rPr>
              <a:t>Gidney &amp; Ekerå (2019), RSA-2048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01568" y="1417320"/>
            <a:ext cx="2606040" cy="22860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3401568" y="1463040"/>
            <a:ext cx="2606040" cy="2240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C00000"/>
                </a:solidFill>
              </a:rPr>
              <a:t>&lt; 1 000 000</a:t>
            </a:r>
          </a:p>
          <a:p>
            <a:pPr algn="ctr">
              <a:spcAft>
                <a:spcPts val="600"/>
              </a:spcAft>
            </a:pPr>
            <a:r>
              <a:rPr sz="1400">
                <a:solidFill>
                  <a:srgbClr val="404040"/>
                </a:solidFill>
              </a:rPr>
              <a:t>noisy physical qubits · &lt; 1 week</a:t>
            </a:r>
          </a:p>
          <a:p>
            <a:pPr algn="ctr">
              <a:spcAft>
                <a:spcPts val="0"/>
              </a:spcAft>
            </a:pPr>
            <a:r>
              <a:rPr sz="1200">
                <a:solidFill>
                  <a:srgbClr val="0563C1"/>
                </a:solidFill>
              </a:rPr>
              <a:t>Gidney (2025), RSA-2048, improved codes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63056" y="1417320"/>
            <a:ext cx="2606040" cy="22860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163056" y="1463040"/>
            <a:ext cx="2606040" cy="2240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2060"/>
                </a:solidFill>
              </a:rPr>
              <a:t>20 / 54</a:t>
            </a:r>
          </a:p>
          <a:p>
            <a:pPr algn="ctr">
              <a:spcAft>
                <a:spcPts val="600"/>
              </a:spcAft>
            </a:pPr>
            <a:r>
              <a:rPr sz="1400">
                <a:solidFill>
                  <a:srgbClr val="404040"/>
                </a:solidFill>
              </a:rPr>
              <a:t>qubits on IQM Garnet / Emerald</a:t>
            </a:r>
          </a:p>
          <a:p>
            <a:pPr algn="ctr">
              <a:spcAft>
                <a:spcPts val="0"/>
              </a:spcAft>
            </a:pPr>
            <a:r>
              <a:rPr sz="1200">
                <a:solidFill>
                  <a:srgbClr val="0563C1"/>
                </a:solidFill>
              </a:rPr>
              <a:t>the machines behind IQM/shor.ipynb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24544" y="1417320"/>
            <a:ext cx="2606040" cy="22860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24544" y="1463040"/>
            <a:ext cx="2606040" cy="2240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2060"/>
                </a:solidFill>
              </a:rPr>
              <a:t>≈ 10³</a:t>
            </a:r>
          </a:p>
          <a:p>
            <a:pPr algn="ctr">
              <a:spcAft>
                <a:spcPts val="600"/>
              </a:spcAft>
            </a:pPr>
            <a:r>
              <a:rPr sz="1400">
                <a:solidFill>
                  <a:srgbClr val="404040"/>
                </a:solidFill>
              </a:rPr>
              <a:t>physical qubits on the largest chips</a:t>
            </a:r>
          </a:p>
          <a:p>
            <a:pPr algn="ctr">
              <a:spcAft>
                <a:spcPts val="0"/>
              </a:spcAft>
            </a:pPr>
            <a:r>
              <a:rPr sz="1200">
                <a:solidFill>
                  <a:srgbClr val="0563C1"/>
                </a:solidFill>
              </a:rPr>
              <a:t>no fault-tolerant logical qubits at scale yet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931920"/>
            <a:ext cx="1092708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85750" indent="-285750">
              <a:spcAft>
                <a:spcPts val="600"/>
              </a:spcAft>
              <a:buFont typeface="Arial"/>
              <a:buChar char="•"/>
            </a:pPr>
            <a:r>
              <a:rPr sz="1600" b="1">
                <a:solidFill>
                  <a:srgbClr val="0563C1"/>
                </a:solidFill>
              </a:rPr>
              <a:t>Polynomial, but the constants are enormous: </a:t>
            </a:r>
            <a:r>
              <a:rPr sz="1600">
                <a:solidFill>
                  <a:srgbClr val="0563C1"/>
                </a:solidFill>
              </a:rPr>
              <a:t>every logical qubit of the factoring circuit needs hundreds to thousands of physical qubits of error correction, and the modular-exponentiation circuit has ~10⁹ Toffoli gates.</a:t>
            </a:r>
          </a:p>
          <a:p>
            <a:pPr algn="l" marL="285750" indent="-285750">
              <a:spcAft>
                <a:spcPts val="600"/>
              </a:spcAft>
              <a:buFont typeface="Arial"/>
              <a:buChar char="•"/>
            </a:pPr>
            <a:r>
              <a:rPr sz="1600" b="1">
                <a:solidFill>
                  <a:srgbClr val="0563C1"/>
                </a:solidFill>
              </a:rPr>
              <a:t>Hence the gap: </a:t>
            </a:r>
            <a:r>
              <a:rPr sz="1600">
                <a:solidFill>
                  <a:srgbClr val="0563C1"/>
                </a:solidFill>
              </a:rPr>
              <a:t>our notebooks factor 15 and 21 with 12 qubits — several orders of magnitude from 2048-bit keys. No RSA key has ever been broken by a quantum computer.</a:t>
            </a:r>
          </a:p>
          <a:p>
            <a:pPr algn="l" marL="285750" indent="-285750">
              <a:spcAft>
                <a:spcPts val="600"/>
              </a:spcAft>
              <a:buFont typeface="Arial"/>
              <a:buChar char="•"/>
            </a:pPr>
            <a:r>
              <a:rPr sz="1600" b="1">
                <a:solidFill>
                  <a:srgbClr val="0563C1"/>
                </a:solidFill>
              </a:rPr>
              <a:t>Why worry now? </a:t>
            </a:r>
            <a:r>
              <a:rPr sz="1600">
                <a:solidFill>
                  <a:srgbClr val="C00000"/>
                </a:solidFill>
              </a:rPr>
              <a:t>‘Harvest now, decrypt later’: encrypted traffic recorded today can be decrypted once a large machine exists. Long-lived secrets need protection today.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Band"/>
          <p:cNvSpPr/>
          <p:nvPr/>
        </p:nvSpPr>
        <p:spPr>
          <a:xfrm>
            <a:off x="0" y="0"/>
            <a:ext cx="12192000" cy="1153391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5069"/>
            <a:ext cx="10515600" cy="603250"/>
          </a:xfrm>
          <a:solidFill>
            <a:srgbClr val="C00000"/>
          </a:solidFill>
          <a:ln w="9525">
            <a:solidFill>
              <a:srgbClr val="FFFFFF"/>
            </a:solidFill>
          </a:ln>
        </p:spPr>
        <p:txBody>
          <a:bodyPr>
            <a:normAutofit/>
          </a:bodyPr>
          <a:lstStyle/>
          <a:p>
            <a:pPr algn="ctr"/>
            <a:r>
              <a:rPr sz="3600">
                <a:solidFill>
                  <a:srgbClr val="FFFFFF"/>
                </a:solidFill>
              </a:rPr>
              <a:t>Post-quantum cryptography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27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>
                <a:solidFill>
                  <a:srgbClr val="0563C1"/>
                </a:solidFill>
              </a:rPr>
              <a:t>Shor breaks everything whose security reduces to </a:t>
            </a:r>
            <a:r>
              <a:rPr sz="1700" b="1">
                <a:solidFill>
                  <a:srgbClr val="C00000"/>
                </a:solidFill>
              </a:rPr>
              <a:t>factoring or discrete logarithms</a:t>
            </a:r>
            <a:r>
              <a:rPr sz="1700">
                <a:solidFill>
                  <a:srgbClr val="0563C1"/>
                </a:solidFill>
              </a:rPr>
              <a:t> — RSA, Diffie–Hellman, DSA, elliptic curves. The answer is not ‘more bits’: it is a different hard problem.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331720"/>
            <a:ext cx="3520440" cy="2651760"/>
          </a:xfrm>
          <a:prstGeom prst="roundRect">
            <a:avLst>
              <a:gd name="adj" fmla="val 6000"/>
            </a:avLst>
          </a:prstGeom>
          <a:solidFill>
            <a:srgbClr val="DEEBF7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49808" y="2404872"/>
            <a:ext cx="3300984" cy="2505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2060"/>
                </a:solidFill>
              </a:rPr>
              <a:t>FIPS 203 — ML-KEM (Kyber)</a:t>
            </a:r>
          </a:p>
          <a:p>
            <a:pPr algn="l">
              <a:spcAft>
                <a:spcPts val="600"/>
              </a:spcAft>
            </a:pPr>
            <a:r>
              <a:rPr sz="1400" i="1">
                <a:solidFill>
                  <a:srgbClr val="0563C1"/>
                </a:solidFill>
              </a:rPr>
              <a:t>key encapsulation</a:t>
            </a:r>
          </a:p>
          <a:p>
            <a:pPr algn="l">
              <a:spcAft>
                <a:spcPts val="0"/>
              </a:spcAft>
            </a:pPr>
            <a:r>
              <a:rPr sz="1400">
                <a:solidFill>
                  <a:srgbClr val="404040"/>
                </a:solidFill>
              </a:rPr>
              <a:t>Module lattices: Learning With Errors. Replaces RSA / ECDH key exchange in TLS 1.3 (hybrid X25519 + ML-KEM is already deployed by major browsers and CDNs).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2331720"/>
            <a:ext cx="3520440" cy="2651760"/>
          </a:xfrm>
          <a:prstGeom prst="roundRect">
            <a:avLst>
              <a:gd name="adj" fmla="val 6000"/>
            </a:avLst>
          </a:prstGeom>
          <a:solidFill>
            <a:srgbClr val="DEEBF7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453128" y="2404872"/>
            <a:ext cx="3300984" cy="2505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2060"/>
                </a:solidFill>
              </a:rPr>
              <a:t>FIPS 204 — ML-DSA (Dilithium)</a:t>
            </a:r>
          </a:p>
          <a:p>
            <a:pPr algn="l">
              <a:spcAft>
                <a:spcPts val="600"/>
              </a:spcAft>
            </a:pPr>
            <a:r>
              <a:rPr sz="1400" i="1">
                <a:solidFill>
                  <a:srgbClr val="0563C1"/>
                </a:solidFill>
              </a:rPr>
              <a:t>digital signatures</a:t>
            </a:r>
          </a:p>
          <a:p>
            <a:pPr algn="l">
              <a:spcAft>
                <a:spcPts val="0"/>
              </a:spcAft>
            </a:pPr>
            <a:r>
              <a:rPr sz="1400">
                <a:solidFill>
                  <a:srgbClr val="404040"/>
                </a:solidFill>
              </a:rPr>
              <a:t>Also lattice-based (Fiat–Shamir with aborts). Replaces RSA-PSS / ECDSA signatures in certificates and code signing.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19" y="2331720"/>
            <a:ext cx="3520440" cy="2651760"/>
          </a:xfrm>
          <a:prstGeom prst="roundRect">
            <a:avLst>
              <a:gd name="adj" fmla="val 6000"/>
            </a:avLst>
          </a:prstGeom>
          <a:solidFill>
            <a:srgbClr val="DEEBF7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156447" y="2404872"/>
            <a:ext cx="3300984" cy="2505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2060"/>
                </a:solidFill>
              </a:rPr>
              <a:t>FIPS 205 — SLH-DSA (SPHINCS+)</a:t>
            </a:r>
          </a:p>
          <a:p>
            <a:pPr algn="l">
              <a:spcAft>
                <a:spcPts val="600"/>
              </a:spcAft>
            </a:pPr>
            <a:r>
              <a:rPr sz="1400" i="1">
                <a:solidFill>
                  <a:srgbClr val="0563C1"/>
                </a:solidFill>
              </a:rPr>
              <a:t>hash-based signatures</a:t>
            </a:r>
          </a:p>
          <a:p>
            <a:pPr algn="l">
              <a:spcAft>
                <a:spcPts val="0"/>
              </a:spcAft>
            </a:pPr>
            <a:r>
              <a:rPr sz="1400">
                <a:solidFill>
                  <a:srgbClr val="404040"/>
                </a:solidFill>
              </a:rPr>
              <a:t>Security rests only on hash functions; larger signatures, but a conservative backup if lattices fall.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120640"/>
            <a:ext cx="10927080" cy="12344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49808" y="5193792"/>
            <a:ext cx="10707624" cy="10881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02060"/>
                </a:solidFill>
              </a:rPr>
              <a:t>What survives, what doesn’t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sz="1400" b="1">
                <a:solidFill>
                  <a:srgbClr val="404040"/>
                </a:solidFill>
              </a:rPr>
              <a:t>Symmetric crypto and hashes: </a:t>
            </a:r>
            <a:r>
              <a:rPr sz="1400">
                <a:solidFill>
                  <a:srgbClr val="404040"/>
                </a:solidFill>
              </a:rPr>
              <a:t>Grover gives only a quadratic speed-up → double the key length (AES-256, SHA-384) and you are fine.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sz="1400" b="1">
                <a:solidFill>
                  <a:srgbClr val="404040"/>
                </a:solidFill>
              </a:rPr>
              <a:t>Public-key crypto based on periodicity (RSA, DH, ECC): </a:t>
            </a:r>
            <a:r>
              <a:rPr sz="1400">
                <a:solidFill>
                  <a:srgbClr val="404040"/>
                </a:solidFill>
              </a:rPr>
              <a:t>broken in polynomial time → must be replaced, standards finalised by NIST in 2024.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Band"/>
          <p:cNvSpPr/>
          <p:nvPr/>
        </p:nvSpPr>
        <p:spPr>
          <a:xfrm>
            <a:off x="0" y="0"/>
            <a:ext cx="12192000" cy="1153391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5069"/>
            <a:ext cx="10515600" cy="603250"/>
          </a:xfrm>
          <a:solidFill>
            <a:srgbClr val="C00000"/>
          </a:solidFill>
          <a:ln w="9525">
            <a:solidFill>
              <a:srgbClr val="FFFFFF"/>
            </a:solidFill>
          </a:ln>
        </p:spPr>
        <p:txBody>
          <a:bodyPr>
            <a:normAutofit/>
          </a:bodyPr>
          <a:lstStyle/>
          <a:p>
            <a:pPr algn="ctr"/>
            <a:r>
              <a:rPr sz="3600">
                <a:solidFill>
                  <a:srgbClr val="FFFFFF"/>
                </a:solidFill>
              </a:rPr>
              <a:t>From the lesson to the notebook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417320"/>
          <a:ext cx="667512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3657600"/>
              </a:tblGrid>
              <a:tr h="50292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Lecture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shor.ipynb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04040"/>
                          </a:solidFill>
                        </a:rPr>
                        <a:t>Order → factors (Step 1)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2060"/>
                          </a:solidFill>
                          <a:latin typeface="Courier New"/>
                        </a:rPr>
                        <a:t>factors_from_order(a, r, N)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04040"/>
                          </a:solidFill>
                        </a:rPr>
                        <a:t>Operator U and QPE circuit (Step 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2060"/>
                          </a:solidFill>
                          <a:latin typeface="Courier New"/>
                        </a:rPr>
                        <a:t>c_amod15, qft_dagger, build_order_finding_circuit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04040"/>
                          </a:solidFill>
                        </a:rPr>
                        <a:t>Continued fractions (Step 3)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2060"/>
                          </a:solidFill>
                          <a:latin typeface="Courier New"/>
                        </a:rPr>
                        <a:t>best_rational / Fraction.limit_denominator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04040"/>
                          </a:solidFill>
                        </a:rPr>
                        <a:t>Recipe S1 — the full loop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2060"/>
                          </a:solidFill>
                          <a:latin typeface="Courier New"/>
                        </a:rPr>
                        <a:t>shor_factor(N)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04040"/>
                          </a:solidFill>
                        </a:rPr>
                        <a:t>RSA key, encryption, attack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2060"/>
                          </a:solidFill>
                          <a:latin typeface="Courier New"/>
                        </a:rPr>
                        <a:t>rsa_keygen, rsa_encrypt, ‘breaking RSA’ cell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DemoFrameOuter"/>
          <p:cNvSpPr/>
          <p:nvPr/>
        </p:nvSpPr>
        <p:spPr>
          <a:xfrm>
            <a:off x="7680960" y="1600200"/>
            <a:ext cx="3886200" cy="1188720"/>
          </a:xfrm>
          <a:prstGeom prst="rect">
            <a:avLst/>
          </a:prstGeom>
          <a:noFill/>
          <a:ln w="2857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DemoFrameInner"/>
          <p:cNvSpPr/>
          <p:nvPr/>
        </p:nvSpPr>
        <p:spPr>
          <a:xfrm>
            <a:off x="7790688" y="1709928"/>
            <a:ext cx="3666744" cy="969264"/>
          </a:xfrm>
          <a:prstGeom prst="rect">
            <a:avLst/>
          </a:prstGeom>
          <a:noFill/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DemoLink"/>
          <p:cNvSpPr txBox="1"/>
          <p:nvPr/>
        </p:nvSpPr>
        <p:spPr>
          <a:xfrm>
            <a:off x="7680960" y="1600200"/>
            <a:ext cx="388620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800" b="1" u="sng">
                <a:solidFill>
                  <a:srgbClr val="C00000"/>
                </a:solidFill>
                <a:hlinkClick r:id="rId3"/>
              </a:rPr>
              <a:t>Demo Shor (IBM Aer)</a:t>
            </a:r>
          </a:p>
        </p:txBody>
      </p:sp>
      <p:sp>
        <p:nvSpPr>
          <p:cNvPr id="8" name="DemoFrameOuter"/>
          <p:cNvSpPr/>
          <p:nvPr/>
        </p:nvSpPr>
        <p:spPr>
          <a:xfrm>
            <a:off x="7680960" y="3063240"/>
            <a:ext cx="3886200" cy="1188720"/>
          </a:xfrm>
          <a:prstGeom prst="rect">
            <a:avLst/>
          </a:prstGeom>
          <a:noFill/>
          <a:ln w="2857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DemoFrameInner"/>
          <p:cNvSpPr/>
          <p:nvPr/>
        </p:nvSpPr>
        <p:spPr>
          <a:xfrm>
            <a:off x="7790688" y="3172968"/>
            <a:ext cx="3666744" cy="969264"/>
          </a:xfrm>
          <a:prstGeom prst="rect">
            <a:avLst/>
          </a:prstGeom>
          <a:noFill/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DemoLink"/>
          <p:cNvSpPr txBox="1"/>
          <p:nvPr/>
        </p:nvSpPr>
        <p:spPr>
          <a:xfrm>
            <a:off x="7680960" y="3063240"/>
            <a:ext cx="388620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800" b="1" u="sng">
                <a:solidFill>
                  <a:srgbClr val="C00000"/>
                </a:solidFill>
                <a:hlinkClick r:id="rId4"/>
              </a:rPr>
              <a:t>Demo Shor (IQM)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663440"/>
            <a:ext cx="10927080" cy="1691640"/>
          </a:xfrm>
          <a:prstGeom prst="roundRect">
            <a:avLst>
              <a:gd name="adj" fmla="val 6000"/>
            </a:avLst>
          </a:prstGeom>
          <a:solidFill>
            <a:srgbClr val="DEEBF7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49808" y="4736592"/>
            <a:ext cx="10707624" cy="1545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02060"/>
                </a:solidFill>
              </a:rPr>
              <a:t>How to run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sz="1400" b="1">
                <a:solidFill>
                  <a:srgbClr val="404040"/>
                </a:solidFill>
              </a:rPr>
              <a:t>IBM/shor.ipynb: </a:t>
            </a:r>
            <a:r>
              <a:rPr sz="1400">
                <a:solidFill>
                  <a:srgbClr val="404040"/>
                </a:solidFill>
              </a:rPr>
              <a:t>pip install qiskit qiskit-aer matplotlib pandas — runs entirely on the Aer simulator.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sz="1400" b="1">
                <a:solidFill>
                  <a:srgbClr val="404040"/>
                </a:solidFill>
              </a:rPr>
              <a:t>IQM/shor.ipynb: </a:t>
            </a:r>
            <a:r>
              <a:rPr sz="1400">
                <a:solidFill>
                  <a:srgbClr val="404040"/>
                </a:solidFill>
              </a:rPr>
              <a:t>same notebook; the helper iqm_backend.py transpiles to PRX + CZ and runs on fake_apollo (offline) or, with an IQM Resonance token, on Garnet / Emerald. One TARGET line.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Band"/>
          <p:cNvSpPr/>
          <p:nvPr/>
        </p:nvSpPr>
        <p:spPr>
          <a:xfrm>
            <a:off x="0" y="0"/>
            <a:ext cx="12192000" cy="1153391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5069"/>
            <a:ext cx="10515600" cy="603250"/>
          </a:xfrm>
          <a:solidFill>
            <a:srgbClr val="C00000"/>
          </a:solidFill>
          <a:ln w="9525">
            <a:solidFill>
              <a:srgbClr val="FFFFFF"/>
            </a:solidFill>
          </a:ln>
        </p:spPr>
        <p:txBody>
          <a:bodyPr>
            <a:normAutofit/>
          </a:bodyPr>
          <a:lstStyle/>
          <a:p>
            <a:pPr algn="ctr"/>
            <a:r>
              <a:rPr sz="3600">
                <a:solidFill>
                  <a:srgbClr val="FFFFFF"/>
                </a:solidFill>
              </a:rPr>
              <a:t>Exercises</a:t>
            </a:r>
          </a:p>
        </p:txBody>
      </p:sp>
      <p:sp>
        <p:nvSpPr>
          <p:cNvPr id="4" name="Oval 3"/>
          <p:cNvSpPr/>
          <p:nvPr/>
        </p:nvSpPr>
        <p:spPr>
          <a:xfrm>
            <a:off x="731520" y="1490472"/>
            <a:ext cx="548640" cy="548640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31520" y="1490472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417320"/>
            <a:ext cx="1005840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404040"/>
                </a:solidFill>
              </a:rPr>
              <a:t>Compute φ(561) and verify that 561 = 3·11·17 is a Carmichael number: a⁵⁶⁰ ≡ 1 (mod 561) for all a coprime to 561, yet 561 is composite. (Why does this not contradict Euler?)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2478024"/>
            <a:ext cx="548640" cy="548640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31520" y="247802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404872"/>
            <a:ext cx="1005840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404040"/>
                </a:solidFill>
              </a:rPr>
              <a:t>For p = 7, q = 13 build an RSA key with e = 5; find d and encrypt/decrypt m = 9 by hand, using CRT for the decryption.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3465576"/>
            <a:ext cx="548640" cy="548640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31520" y="3465576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3392424"/>
            <a:ext cx="1005840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404040"/>
                </a:solidFill>
              </a:rPr>
              <a:t>Prove that if gcd(e, φ(N)) ≠ 1 then d need not exist, and explain why Recipe R1 step 3 forbids it. What happens if you try e = 65537 with p = 65537·2 + 1?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4453128"/>
            <a:ext cx="548640" cy="548640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31520" y="445312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4379976"/>
            <a:ext cx="1005840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404040"/>
                </a:solidFill>
              </a:rPr>
              <a:t>In the N = 15, a = 7 example, which measured phases φ fail to produce a factor, and why? Relate your answer to the three failure modes of Step 3. Check with the notebook histogram.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5440680"/>
            <a:ext cx="548640" cy="548640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31520" y="544068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5367528"/>
            <a:ext cx="1005840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404040"/>
                </a:solidFill>
              </a:rPr>
              <a:t>Factor N = 35 by hand using a = 3 (r = 12): show gcd(3⁶ ± 1, 35) = {5, 7}. Then modify shor_factor to handle N = 35 (hint: you need a different modular multiplier).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Band"/>
          <p:cNvSpPr/>
          <p:nvPr/>
        </p:nvSpPr>
        <p:spPr>
          <a:xfrm>
            <a:off x="0" y="0"/>
            <a:ext cx="12192000" cy="1153391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5069"/>
            <a:ext cx="10515600" cy="603250"/>
          </a:xfrm>
          <a:solidFill>
            <a:srgbClr val="C00000"/>
          </a:solidFill>
          <a:ln w="9525">
            <a:solidFill>
              <a:srgbClr val="FFFFFF"/>
            </a:solidFill>
          </a:ln>
        </p:spPr>
        <p:txBody>
          <a:bodyPr>
            <a:normAutofit/>
          </a:bodyPr>
          <a:lstStyle/>
          <a:p>
            <a:pPr algn="ctr"/>
            <a:r>
              <a:rPr sz="3600">
                <a:solidFill>
                  <a:srgbClr val="FFFFFF"/>
                </a:solidFill>
              </a:rPr>
              <a:t>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92708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85750" indent="-285750">
              <a:spcAft>
                <a:spcPts val="800"/>
              </a:spcAft>
              <a:buFont typeface="Arial"/>
              <a:buChar char="•"/>
            </a:pPr>
            <a:r>
              <a:rPr sz="1500" b="1">
                <a:solidFill>
                  <a:srgbClr val="0563C1"/>
                </a:solidFill>
              </a:rPr>
              <a:t>R. Rivest, A. Shamir, L. Adleman — </a:t>
            </a:r>
            <a:r>
              <a:rPr sz="1500" i="1">
                <a:solidFill>
                  <a:srgbClr val="0563C1"/>
                </a:solidFill>
              </a:rPr>
              <a:t>A Method for Obtaining Digital Signatures and Public-Key Cryptosystems</a:t>
            </a:r>
            <a:r>
              <a:rPr sz="1500">
                <a:solidFill>
                  <a:srgbClr val="404040"/>
                </a:solidFill>
              </a:rPr>
              <a:t>. Comm. ACM 21 (1978) 120–126</a:t>
            </a:r>
          </a:p>
          <a:p>
            <a:pPr algn="l" marL="285750" indent="-285750">
              <a:spcAft>
                <a:spcPts val="800"/>
              </a:spcAft>
              <a:buFont typeface="Arial"/>
              <a:buChar char="•"/>
            </a:pPr>
            <a:r>
              <a:rPr sz="1500" b="1">
                <a:solidFill>
                  <a:srgbClr val="0563C1"/>
                </a:solidFill>
              </a:rPr>
              <a:t>P. W. Shor — </a:t>
            </a:r>
            <a:r>
              <a:rPr sz="1500" i="1">
                <a:solidFill>
                  <a:srgbClr val="0563C1"/>
                </a:solidFill>
                <a:hlinkClick r:id="rId2"/>
              </a:rPr>
              <a:t>Polynomial-Time Algorithms for Prime Factorization and Discrete Logarithms on a Quantum Computer</a:t>
            </a:r>
            <a:r>
              <a:rPr sz="1500">
                <a:solidFill>
                  <a:srgbClr val="404040"/>
                </a:solidFill>
              </a:rPr>
              <a:t>. SIAM J. Comput. 26 (1997) 1484 — arXiv:quant-ph/9508027</a:t>
            </a:r>
          </a:p>
          <a:p>
            <a:pPr algn="l" marL="285750" indent="-285750">
              <a:spcAft>
                <a:spcPts val="800"/>
              </a:spcAft>
              <a:buFont typeface="Arial"/>
              <a:buChar char="•"/>
            </a:pPr>
            <a:r>
              <a:rPr sz="1500" b="1">
                <a:solidFill>
                  <a:srgbClr val="0563C1"/>
                </a:solidFill>
              </a:rPr>
              <a:t>M. A. Nielsen, I. L. Chuang — </a:t>
            </a:r>
            <a:r>
              <a:rPr sz="1500" i="1">
                <a:solidFill>
                  <a:srgbClr val="0563C1"/>
                </a:solidFill>
              </a:rPr>
              <a:t>Quantum Computation and Quantum Information</a:t>
            </a:r>
            <a:r>
              <a:rPr sz="1500">
                <a:solidFill>
                  <a:srgbClr val="404040"/>
                </a:solidFill>
              </a:rPr>
              <a:t>. Cambridge University Press (2000), Chapter 5</a:t>
            </a:r>
          </a:p>
          <a:p>
            <a:pPr algn="l" marL="285750" indent="-285750">
              <a:spcAft>
                <a:spcPts val="800"/>
              </a:spcAft>
              <a:buFont typeface="Arial"/>
              <a:buChar char="•"/>
            </a:pPr>
            <a:r>
              <a:rPr sz="1500" b="1">
                <a:solidFill>
                  <a:srgbClr val="0563C1"/>
                </a:solidFill>
              </a:rPr>
              <a:t>S. Beauregard — </a:t>
            </a:r>
            <a:r>
              <a:rPr sz="1500" i="1">
                <a:solidFill>
                  <a:srgbClr val="0563C1"/>
                </a:solidFill>
                <a:hlinkClick r:id="rId3"/>
              </a:rPr>
              <a:t>Circuit for Shor’s algorithm using 2n+3 qubits</a:t>
            </a:r>
            <a:r>
              <a:rPr sz="1500">
                <a:solidFill>
                  <a:srgbClr val="404040"/>
                </a:solidFill>
              </a:rPr>
              <a:t>. arXiv:quant-ph/0205095</a:t>
            </a:r>
          </a:p>
          <a:p>
            <a:pPr algn="l" marL="285750" indent="-285750">
              <a:spcAft>
                <a:spcPts val="800"/>
              </a:spcAft>
              <a:buFont typeface="Arial"/>
              <a:buChar char="•"/>
            </a:pPr>
            <a:r>
              <a:rPr sz="1500" b="1">
                <a:solidFill>
                  <a:srgbClr val="0563C1"/>
                </a:solidFill>
              </a:rPr>
              <a:t>C. Gidney, M. Ekerå — </a:t>
            </a:r>
            <a:r>
              <a:rPr sz="1500" i="1">
                <a:solidFill>
                  <a:srgbClr val="0563C1"/>
                </a:solidFill>
                <a:hlinkClick r:id="rId4"/>
              </a:rPr>
              <a:t>How to factor 2048 bit RSA integers in 8 hours using 20 million noisy qubits</a:t>
            </a:r>
            <a:r>
              <a:rPr sz="1500">
                <a:solidFill>
                  <a:srgbClr val="404040"/>
                </a:solidFill>
              </a:rPr>
              <a:t>. Quantum 5 (2021) 433 — arXiv:1905.09749</a:t>
            </a:r>
          </a:p>
          <a:p>
            <a:pPr algn="l" marL="285750" indent="-285750">
              <a:spcAft>
                <a:spcPts val="800"/>
              </a:spcAft>
              <a:buFont typeface="Arial"/>
              <a:buChar char="•"/>
            </a:pPr>
            <a:r>
              <a:rPr sz="1500" b="1">
                <a:solidFill>
                  <a:srgbClr val="0563C1"/>
                </a:solidFill>
              </a:rPr>
              <a:t>C. Gidney — </a:t>
            </a:r>
            <a:r>
              <a:rPr sz="1500" i="1">
                <a:solidFill>
                  <a:srgbClr val="0563C1"/>
                </a:solidFill>
                <a:hlinkClick r:id="rId5"/>
              </a:rPr>
              <a:t>How to factor 2048 bit RSA integers with less than a million noisy qubits</a:t>
            </a:r>
            <a:r>
              <a:rPr sz="1500">
                <a:solidFill>
                  <a:srgbClr val="404040"/>
                </a:solidFill>
              </a:rPr>
              <a:t>. arXiv:2505.15917 (2025)</a:t>
            </a:r>
          </a:p>
          <a:p>
            <a:pPr algn="l" marL="285750" indent="-285750">
              <a:spcAft>
                <a:spcPts val="800"/>
              </a:spcAft>
              <a:buFont typeface="Arial"/>
              <a:buChar char="•"/>
            </a:pPr>
            <a:r>
              <a:rPr sz="1500" b="1">
                <a:solidFill>
                  <a:srgbClr val="0563C1"/>
                </a:solidFill>
              </a:rPr>
              <a:t>NIST — </a:t>
            </a:r>
            <a:r>
              <a:rPr sz="1500" i="1">
                <a:solidFill>
                  <a:srgbClr val="0563C1"/>
                </a:solidFill>
                <a:hlinkClick r:id="rId6"/>
              </a:rPr>
              <a:t>FIPS 203 (ML-KEM), FIPS 204 (ML-DSA), FIPS 205 (SLH-DSA)</a:t>
            </a:r>
            <a:r>
              <a:rPr sz="1500">
                <a:solidFill>
                  <a:srgbClr val="404040"/>
                </a:solidFill>
              </a:rPr>
              <a:t>. Post-Quantum Cryptography Standards, August 2024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Band"/>
          <p:cNvSpPr/>
          <p:nvPr/>
        </p:nvSpPr>
        <p:spPr>
          <a:xfrm>
            <a:off x="0" y="0"/>
            <a:ext cx="12192000" cy="1153391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5069"/>
            <a:ext cx="10515600" cy="603250"/>
          </a:xfrm>
          <a:solidFill>
            <a:srgbClr val="C00000"/>
          </a:solidFill>
          <a:ln w="9525">
            <a:solidFill>
              <a:srgbClr val="FFFFFF"/>
            </a:solidFill>
          </a:ln>
        </p:spPr>
        <p:txBody>
          <a:bodyPr>
            <a:normAutofit/>
          </a:bodyPr>
          <a:lstStyle/>
          <a:p>
            <a:pPr algn="ctr"/>
            <a:r>
              <a:rPr sz="3600">
                <a:solidFill>
                  <a:srgbClr val="FFFFFF"/>
                </a:solidFill>
              </a:rPr>
              <a:t>Questions &amp; Answers</a:t>
            </a:r>
          </a:p>
        </p:txBody>
      </p:sp>
      <p:pic>
        <p:nvPicPr>
          <p:cNvPr id="4" name="EndPicture" descr="end_pi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289304"/>
            <a:ext cx="10515600" cy="5074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1248" y="6382512"/>
            <a:ext cx="10515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>
                <a:solidFill>
                  <a:srgbClr val="0563C1"/>
                </a:solidFill>
              </a:rPr>
              <a:t>Thanks for your attention!   ·   rsa_shor_lesson.pdf · IBM/shor.ipynb · IQM/shor.ipynb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21304</TotalTime>
  <Words>2120</Words>
  <Application>Microsoft Office PowerPoint</Application>
  <PresentationFormat>Widescreen</PresentationFormat>
  <Paragraphs>329</Paragraphs>
  <Slides>61</Slides>
  <Notes>25</Notes>
  <HiddenSlides>0</HiddenSlides>
  <MMClips>0</MMClips>
  <ScaleCrop>false</ScaleCrop>
  <HeadingPairs>
    <vt:vector size="8" baseType="variant">
      <vt:variant>
        <vt:lpstr>Caratteri utilizzati</vt:lpstr>
      </vt:variant>
      <vt:variant>
        <vt:i4>12</vt:i4>
      </vt:variant>
      <vt:variant>
        <vt:lpstr>Tema</vt:lpstr>
      </vt:variant>
      <vt:variant>
        <vt:i4>1</vt:i4>
      </vt:variant>
      <vt:variant>
        <vt:lpstr>Server OLE incorporati</vt:lpstr>
      </vt:variant>
      <vt:variant>
        <vt:i4>1</vt:i4>
      </vt:variant>
      <vt:variant>
        <vt:lpstr>Titoli diapositive</vt:lpstr>
      </vt:variant>
      <vt:variant>
        <vt:i4>61</vt:i4>
      </vt:variant>
    </vt:vector>
  </HeadingPairs>
  <TitlesOfParts>
    <vt:vector size="75" baseType="lpstr">
      <vt:lpstr>Arial</vt:lpstr>
      <vt:lpstr>Calibri</vt:lpstr>
      <vt:lpstr>Calibri Light</vt:lpstr>
      <vt:lpstr>Calibri Light (Titoli)</vt:lpstr>
      <vt:lpstr>CMMI10</vt:lpstr>
      <vt:lpstr>CMMI8</vt:lpstr>
      <vt:lpstr>CMR10</vt:lpstr>
      <vt:lpstr>CMR8</vt:lpstr>
      <vt:lpstr>IBM Plex Sans</vt:lpstr>
      <vt:lpstr>IBMPlexSans</vt:lpstr>
      <vt:lpstr>Quicksand</vt:lpstr>
      <vt:lpstr>Roboto</vt:lpstr>
      <vt:lpstr>Tema di Office</vt:lpstr>
      <vt:lpstr>Equation</vt:lpstr>
      <vt:lpstr>Quantum Computing  Industry Perspective</vt:lpstr>
      <vt:lpstr>Quantum Computer: what’s that?</vt:lpstr>
      <vt:lpstr>Quantum Computer: what’s that?</vt:lpstr>
      <vt:lpstr>Quantum Computer: what’s that?</vt:lpstr>
      <vt:lpstr>Quantum Computer: what’s that?</vt:lpstr>
      <vt:lpstr>IBM Resource Dashboard </vt:lpstr>
      <vt:lpstr>European Quantum Flagship</vt:lpstr>
      <vt:lpstr>Why Quantum?</vt:lpstr>
      <vt:lpstr>Why Quantum?</vt:lpstr>
      <vt:lpstr>Why Quantum Now?</vt:lpstr>
      <vt:lpstr>Why Quantum Now?</vt:lpstr>
      <vt:lpstr>What does Quantum Computing rely on?</vt:lpstr>
      <vt:lpstr>What does Quantum Computing rely on?</vt:lpstr>
      <vt:lpstr>Gates and  Circuits</vt:lpstr>
      <vt:lpstr>Important Qubit Gates</vt:lpstr>
      <vt:lpstr>Important Qubit Unitaries</vt:lpstr>
      <vt:lpstr>Quantum Circuit Elements</vt:lpstr>
      <vt:lpstr>Quantum Composer</vt:lpstr>
      <vt:lpstr>Qiskit Introduction</vt:lpstr>
      <vt:lpstr>Main Algorithms as «Lego Bricks»</vt:lpstr>
      <vt:lpstr>Quantum Teleportation</vt:lpstr>
      <vt:lpstr>Quantum Teleportation</vt:lpstr>
      <vt:lpstr>Quantum Teleportation</vt:lpstr>
      <vt:lpstr>Quantum Teleportation</vt:lpstr>
      <vt:lpstr>Quantum Teleportation</vt:lpstr>
      <vt:lpstr>More algorithms?</vt:lpstr>
      <vt:lpstr>Quantum Computing in the Real World</vt:lpstr>
      <vt:lpstr>Anche i Qubit sbagliano: errori T1 e T2</vt:lpstr>
      <vt:lpstr>Presentazione standard di PowerPoint</vt:lpstr>
      <vt:lpstr>Presentazione standard di PowerPoint</vt:lpstr>
      <vt:lpstr>Presentazione standard di PowerPoint</vt:lpstr>
      <vt:lpstr>QC Superconduttivo: come sarà</vt:lpstr>
      <vt:lpstr>Presentazione standard di PowerPoint</vt:lpstr>
      <vt:lpstr>Un passo indietro: le Reti Neurali classiche</vt:lpstr>
      <vt:lpstr>The Frontier: CNN vs Quantum Machine Learning</vt:lpstr>
      <vt:lpstr>CNN Schema</vt:lpstr>
      <vt:lpstr>CNN ON MNIST</vt:lpstr>
      <vt:lpstr>CNN AT WORK</vt:lpstr>
      <vt:lpstr>The Frontier: Quantum Machine Learning</vt:lpstr>
      <vt:lpstr>Pennylane Quanvolution</vt:lpstr>
      <vt:lpstr>Questions &amp; Answers</vt:lpstr>
      <vt:lpstr>Thanks for your attention!</vt:lpstr>
      <vt:lpstr>Appendix</vt:lpstr>
      <vt:lpstr>«Oracle» Problems: Deutsch Algorithm</vt:lpstr>
      <vt:lpstr>Quantum Deutsch </vt:lpstr>
      <vt:lpstr>Deutsch Algorithm</vt:lpstr>
      <vt:lpstr>Searching speed-up: Grover Algorithm</vt:lpstr>
      <vt:lpstr>Grover Iterate Block</vt:lpstr>
      <vt:lpstr>Grover Algorithm</vt:lpstr>
      <vt:lpstr>Quantum Phase Estimation Algorithm</vt:lpstr>
      <vt:lpstr>Quantum Phase Estimation Algorithm</vt:lpstr>
      <vt:lpstr>Quantum Phase Estimation Algorithm</vt:lpstr>
      <vt:lpstr>Quantum Phase Estimation Algorithm</vt:lpstr>
      <vt:lpstr>Shor’s Algorithm</vt:lpstr>
      <vt:lpstr>Shor’s Algorithm</vt:lpstr>
      <vt:lpstr>Quantum Cryptography: Threat or Opportunity?</vt:lpstr>
      <vt:lpstr>RSA Algorithm </vt:lpstr>
      <vt:lpstr>Breaking RSA</vt:lpstr>
      <vt:lpstr>Breaking RSA</vt:lpstr>
      <vt:lpstr>Basic References</vt:lpstr>
      <vt:lpstr>The Very End!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creator>Roberto Cappuccio</dc:creator>
  <cp:lastModifiedBy>Roberto Cappuccio</cp:lastModifiedBy>
  <cp:revision>293</cp:revision>
  <dcterms:created xsi:type="dcterms:W3CDTF">2019-03-01T08:27:46Z</dcterms:created>
  <dcterms:modified xsi:type="dcterms:W3CDTF">2026-01-06T23:38:30Z</dcterms:modified>
</cp:coreProperties>
</file>